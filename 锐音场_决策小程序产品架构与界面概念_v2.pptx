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b570e02cd3af4b79" /><Relationship Type="http://schemas.openxmlformats.org/officeDocument/2006/relationships/extended-properties" Target="/docProps/app.xml" Id="Rdb9c1e0c587e4130" /><Relationship Type="http://schemas.openxmlformats.org/officeDocument/2006/relationships/officeDocument" Target="/ppt/presentation.xml" Id="R6d2eb913163a43bf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285eda694fa141f7"/>
  </p:sldMasterIdLst>
  <p:notesMasterIdLst>
    <p:notesMasterId xmlns:r="http://schemas.openxmlformats.org/officeDocument/2006/relationships" r:id="R2f87f3b8386f499a"/>
  </p:notesMasterIdLst>
  <p:sldIdLst>
    <p:sldId xmlns:r="http://schemas.openxmlformats.org/officeDocument/2006/relationships" id="256" r:id="R4e46e2409c79416b"/>
    <p:sldId xmlns:r="http://schemas.openxmlformats.org/officeDocument/2006/relationships" id="257" r:id="R13463ff48d0d47ce"/>
    <p:sldId xmlns:r="http://schemas.openxmlformats.org/officeDocument/2006/relationships" id="258" r:id="R0e7c23b94e134fb5"/>
    <p:sldId xmlns:r="http://schemas.openxmlformats.org/officeDocument/2006/relationships" id="259" r:id="Rf621a40316874992"/>
    <p:sldId xmlns:r="http://schemas.openxmlformats.org/officeDocument/2006/relationships" id="260" r:id="R0ca7fa72e05e48cf"/>
    <p:sldId xmlns:r="http://schemas.openxmlformats.org/officeDocument/2006/relationships" id="261" r:id="R59a4ed04d1ad40ae"/>
    <p:sldId xmlns:r="http://schemas.openxmlformats.org/officeDocument/2006/relationships" id="262" r:id="R92372b7a561848ef"/>
    <p:sldId xmlns:r="http://schemas.openxmlformats.org/officeDocument/2006/relationships" id="263" r:id="R8b1efba802884f7f"/>
    <p:sldId xmlns:r="http://schemas.openxmlformats.org/officeDocument/2006/relationships" id="264" r:id="Re70601bb28b74d05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2ba5dfc4e5b14f84" /><Relationship Type="http://schemas.openxmlformats.org/officeDocument/2006/relationships/slideMaster" Target="/ppt/slideMasters/slideMaster1.xml" Id="R285eda694fa141f7" /><Relationship Type="http://schemas.openxmlformats.org/officeDocument/2006/relationships/notesMaster" Target="/ppt/notesMasters/notesMaster1.xml" Id="R2f87f3b8386f499a" /><Relationship Type="http://schemas.openxmlformats.org/officeDocument/2006/relationships/presProps" Target="/ppt/presProps.xml" Id="R29aa68e2c96544e8" /><Relationship Type="http://schemas.openxmlformats.org/officeDocument/2006/relationships/tableStyles" Target="/ppt/tableStyles.xml" Id="Re7cfbbac2e914284" /><Relationship Type="http://schemas.openxmlformats.org/officeDocument/2006/relationships/slide" Target="/ppt/slides/slide1.xml" Id="R4e46e2409c79416b" /><Relationship Type="http://schemas.openxmlformats.org/officeDocument/2006/relationships/slide" Target="/ppt/slides/slide2.xml" Id="R13463ff48d0d47ce" /><Relationship Type="http://schemas.openxmlformats.org/officeDocument/2006/relationships/slide" Target="/ppt/slides/slide3.xml" Id="R0e7c23b94e134fb5" /><Relationship Type="http://schemas.openxmlformats.org/officeDocument/2006/relationships/slide" Target="/ppt/slides/slide4.xml" Id="Rf621a40316874992" /><Relationship Type="http://schemas.openxmlformats.org/officeDocument/2006/relationships/slide" Target="/ppt/slides/slide5.xml" Id="R0ca7fa72e05e48cf" /><Relationship Type="http://schemas.openxmlformats.org/officeDocument/2006/relationships/slide" Target="/ppt/slides/slide6.xml" Id="R59a4ed04d1ad40ae" /><Relationship Type="http://schemas.openxmlformats.org/officeDocument/2006/relationships/slide" Target="/ppt/slides/slide7.xml" Id="R92372b7a561848ef" /><Relationship Type="http://schemas.openxmlformats.org/officeDocument/2006/relationships/slide" Target="/ppt/slides/slide8.xml" Id="R8b1efba802884f7f" /><Relationship Type="http://schemas.openxmlformats.org/officeDocument/2006/relationships/slide" Target="/ppt/slides/slide9.xml" Id="Re70601bb28b74d05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ef5d2c16ccaf4f03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7c2f33933d004204" /><Relationship Type="http://schemas.openxmlformats.org/officeDocument/2006/relationships/notesMaster" Target="/ppt/notesMasters/notesMaster1.xml" Id="R7ed0e0800a684c67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3ce3d9bed5634f87" /><Relationship Type="http://schemas.openxmlformats.org/officeDocument/2006/relationships/notesMaster" Target="/ppt/notesMasters/notesMaster1.xml" Id="R1f7035fe4f454076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928fffab679541c3" /><Relationship Type="http://schemas.openxmlformats.org/officeDocument/2006/relationships/notesMaster" Target="/ppt/notesMasters/notesMaster1.xml" Id="R29b425ae43da4d80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29a4e7cdc1144385" /><Relationship Type="http://schemas.openxmlformats.org/officeDocument/2006/relationships/notesMaster" Target="/ppt/notesMasters/notesMaster1.xml" Id="R401cf7dcac7440ac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13f42d7a930b4a2f" /><Relationship Type="http://schemas.openxmlformats.org/officeDocument/2006/relationships/notesMaster" Target="/ppt/notesMasters/notesMaster1.xml" Id="R52686f1dcd0d4b90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62da137fc5824c20" /><Relationship Type="http://schemas.openxmlformats.org/officeDocument/2006/relationships/notesMaster" Target="/ppt/notesMasters/notesMaster1.xml" Id="Ra473748a578c4f86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743bf259ecb94f1b" /><Relationship Type="http://schemas.openxmlformats.org/officeDocument/2006/relationships/notesMaster" Target="/ppt/notesMasters/notesMaster1.xml" Id="R3e95fb14c981457b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052226ef721b4851" /><Relationship Type="http://schemas.openxmlformats.org/officeDocument/2006/relationships/notesMaster" Target="/ppt/notesMasters/notesMaster1.xml" Id="Re0e44c4520a74948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037bbfdf8c504a33" /><Relationship Type="http://schemas.openxmlformats.org/officeDocument/2006/relationships/notesMaster" Target="/ppt/notesMasters/notesMaster1.xml" Id="R582b221ae6ad44b7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封面。视觉概念取自舞台灯光、票务曲线和项目控制轨迹。所有界面与金额均为产品概念示意。 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本页重新组织用户提出的四个核心价值。对外建议使用‘项目控制塔’或‘数字制片人’，避免使用‘AI 指挥人’作为销售语言。 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小程序首页概念图。所有金额与案例数据仅用于界面表达，不代表真实项目结果。案例正式上线前必须标记真实结果、历史回测或产品示意。 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决策驾驶舱概念图。金额、上座率和组合均为示意数据。财务结果应由确定性代码计算，大模型只负责提出候选、解释依据和识别资料缺口。 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专职 Agent 概念图。HumanTask 是异步、可拒绝、可超时、需要证据的任务，不是同步且必然成功的函数调用。 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产品价值架构。数据资产、决策引擎、小程序体验与客户专职 Agent 共同构成产品，不应把产品描述为单次大模型问答。 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系统架构概念图。小程序不保存密钥，不直连数据资产数据库，不直接调用爬虫或大模型。decision-app 通过受控 API 获取上下文，data-platform 负责数据接入、证据与权限。 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受控数据闭环。模型更新经过离线评估、版本化发布和回滚，不把‘自我进化’理解为生产环境中的自我修改。 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建议路线。合同、资金、票务、行政审批与安全事项长期保留人工门禁；只有稳定、低风险且可撤销的操作逐步开放自动执行。 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091684d610bd4064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ce5982b3af1f479e" /><Relationship Type="http://schemas.openxmlformats.org/officeDocument/2006/relationships/slideLayout" Target="/ppt/slideLayouts/slideLayout1.xml" Id="R91253b753d264a08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91253b753d264a08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f47edc79ac34033" /><Relationship Type="http://schemas.openxmlformats.org/officeDocument/2006/relationships/notesSlide" Target="/ppt/notesSlides/notesSlide1.xml" Id="Rd70884553f0442c2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f8dcba60c184c42" /><Relationship Type="http://schemas.openxmlformats.org/officeDocument/2006/relationships/notesSlide" Target="/ppt/notesSlides/notesSlide2.xml" Id="Rff32312e53144361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87d41063e2a4e37" /><Relationship Type="http://schemas.openxmlformats.org/officeDocument/2006/relationships/notesSlide" Target="/ppt/notesSlides/notesSlide3.xml" Id="R5aca4b35bc384a4b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dff818b971f4ed7" /><Relationship Type="http://schemas.openxmlformats.org/officeDocument/2006/relationships/notesSlide" Target="/ppt/notesSlides/notesSlide4.xml" Id="Ra79aa300e6bb4b6a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b4f090197a84d77" /><Relationship Type="http://schemas.openxmlformats.org/officeDocument/2006/relationships/notesSlide" Target="/ppt/notesSlides/notesSlide5.xml" Id="Ra0489bda14a74f04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ae4c8c7635c4567" /><Relationship Type="http://schemas.openxmlformats.org/officeDocument/2006/relationships/notesSlide" Target="/ppt/notesSlides/notesSlide6.xml" Id="R520c7e862ca54d6f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0f07cd2be5646cf" /><Relationship Type="http://schemas.openxmlformats.org/officeDocument/2006/relationships/notesSlide" Target="/ppt/notesSlides/notesSlide7.xml" Id="Rea60262345a34b76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9b2d5d6ffd341eb" /><Relationship Type="http://schemas.openxmlformats.org/officeDocument/2006/relationships/notesSlide" Target="/ppt/notesSlides/notesSlide8.xml" Id="R89e677b4b2c74ddb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1b4aa0aef964c0a" /><Relationship Type="http://schemas.openxmlformats.org/officeDocument/2006/relationships/notesSlide" Target="/ppt/notesSlides/notesSlide9.xml" Id="Rb33a50366da64fb6" /></Relationships>
</file>

<file path=ppt/slides/slide1.xml><?xml version="1.0" encoding="utf-8"?>
<p:sld xmlns:p="http://schemas.openxmlformats.org/presentationml/2006/main">
  <p:cSld>
    <p:bg>
      <p:bgPr>
        <a:gradFill xmlns:a="http://schemas.openxmlformats.org/drawingml/2006/main">
          <a:gsLst>
            <a:gs pos="0">
              <a:srgbClr val="0D0B14"/>
            </a:gs>
            <a:gs pos="54000">
              <a:srgbClr val="17101F"/>
            </a:gs>
            <a:gs pos="100000">
              <a:srgbClr val="2A183B"/>
            </a:gs>
          </a:gsLst>
          <a:lin ang="1080000"/>
        </a:gra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4A331187-84F0-44B9-B7D5-21029F1116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95300"/>
            <a:ext cx="3143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A38BFF"/>
                </a:solidFill>
                <a:latin typeface="PingFang SC"/>
                <a:ea typeface="PingFang SC"/>
                <a:cs typeface="PingFang SC"/>
              </a:defRPr>
            </a:pPr>
            <a:r>
              <a:rPr sz="975" b="1">
                <a:solidFill>
                  <a:srgbClr val="A38BFF"/>
                </a:solidFill>
                <a:latin typeface="PingFang SC"/>
                <a:ea typeface="PingFang SC"/>
                <a:cs typeface="PingFang SC"/>
              </a:rPr>
              <a:t>锐音场 / RUIYINCHANG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2BBF44D-773D-48AA-92BE-B95E23AE54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90650"/>
            <a:ext cx="6858000" cy="1714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4650" b="1">
                <a:solidFill>
                  <a:srgbClr val="FFFFFF"/>
                </a:solidFill>
                <a:latin typeface="Songti SC"/>
                <a:ea typeface="Songti SC"/>
                <a:cs typeface="Songti SC"/>
              </a:defRPr>
            </a:pPr>
            <a:r>
              <a:rPr sz="4650" b="1">
                <a:solidFill>
                  <a:srgbClr val="FFFFFF"/>
                </a:solidFill>
                <a:latin typeface="Songti SC"/>
                <a:ea typeface="Songti SC"/>
                <a:cs typeface="Songti SC"/>
              </a:rPr>
              <a:t>演出项目智能决策</a:t>
            </a:r>
          </a:p>
          <a:p xmlns:a="http://schemas.openxmlformats.org/drawingml/2006/main">
            <a:pPr algn="l">
              <a:defRPr sz="4650" b="1">
                <a:solidFill>
                  <a:srgbClr val="FFFFFF"/>
                </a:solidFill>
                <a:latin typeface="Songti SC"/>
                <a:ea typeface="Songti SC"/>
                <a:cs typeface="Songti SC"/>
              </a:defRPr>
            </a:pPr>
            <a:r>
              <a:rPr sz="4650" b="1">
                <a:solidFill>
                  <a:srgbClr val="FFFFFF"/>
                </a:solidFill>
                <a:latin typeface="Songti SC"/>
                <a:ea typeface="Songti SC"/>
                <a:cs typeface="Songti SC"/>
              </a:rPr>
              <a:t>与全程 Agent 系统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4DAD215-1BAE-4561-B33E-5A1688AC15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305175"/>
            <a:ext cx="63817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FFFFFF">
                    <a:alpha val="72157"/>
                  </a:srgbClr>
                </a:solidFill>
                <a:latin typeface="PingFang SC"/>
                <a:ea typeface="PingFang SC"/>
                <a:cs typeface="PingFang SC"/>
              </a:defRPr>
            </a:pPr>
            <a:r>
              <a:rPr sz="1650" b="0">
                <a:solidFill>
                  <a:srgbClr val="FFFFFF">
                    <a:alpha val="72157"/>
                  </a:srgbClr>
                </a:solidFill>
                <a:latin typeface="PingFang SC"/>
                <a:ea typeface="PingFang SC"/>
                <a:cs typeface="PingFang SC"/>
              </a:rPr>
              <a:t>面向演出主办方的利润决策、风险控制与项目推进平台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891D3CB-1ACC-4397-9057-39ACEDB1E9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723900" y="3971925"/>
            <a:ext cx="62293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FFFFFF">
                <a:alpha val="21961"/>
              </a:srgbClr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9F95E0D-115D-4496-8A7A-EEE62C1354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210050"/>
            <a:ext cx="11906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FFFFFF">
                    <a:alpha val="72157"/>
                  </a:srgbClr>
                </a:solidFill>
                <a:latin typeface="PingFang SC"/>
                <a:ea typeface="PingFang SC"/>
                <a:cs typeface="PingFang SC"/>
              </a:defRPr>
            </a:pPr>
            <a:r>
              <a:rPr sz="1125" b="0">
                <a:solidFill>
                  <a:srgbClr val="FFFFFF">
                    <a:alpha val="72157"/>
                  </a:srgbClr>
                </a:solidFill>
                <a:latin typeface="PingFang SC"/>
                <a:ea typeface="PingFang SC"/>
                <a:cs typeface="PingFang SC"/>
              </a:rPr>
              <a:t>高级界面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875BAB7-66F7-4E67-8927-DC6F9848B5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09800" y="4210050"/>
            <a:ext cx="1524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FFFFFF">
                    <a:alpha val="72157"/>
                  </a:srgbClr>
                </a:solidFill>
                <a:latin typeface="PingFang SC"/>
                <a:ea typeface="PingFang SC"/>
                <a:cs typeface="PingFang SC"/>
              </a:defRPr>
            </a:pPr>
            <a:r>
              <a:rPr sz="1125" b="0">
                <a:solidFill>
                  <a:srgbClr val="FFFFFF">
                    <a:alpha val="72157"/>
                  </a:srgbClr>
                </a:solidFill>
                <a:latin typeface="PingFang SC"/>
                <a:ea typeface="PingFang SC"/>
                <a:cs typeface="PingFang SC"/>
              </a:rPr>
              <a:t>有依据的决策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E6B2E25-EC2D-41F2-A370-2E5DB5F053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19550" y="4210050"/>
            <a:ext cx="1524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FFFFFF">
                    <a:alpha val="72157"/>
                  </a:srgbClr>
                </a:solidFill>
                <a:latin typeface="PingFang SC"/>
                <a:ea typeface="PingFang SC"/>
                <a:cs typeface="PingFang SC"/>
              </a:defRPr>
            </a:pPr>
            <a:r>
              <a:rPr sz="1125" b="0">
                <a:solidFill>
                  <a:srgbClr val="FFFFFF">
                    <a:alpha val="72157"/>
                  </a:srgbClr>
                </a:solidFill>
                <a:latin typeface="PingFang SC"/>
                <a:ea typeface="PingFang SC"/>
                <a:cs typeface="PingFang SC"/>
              </a:rPr>
              <a:t>利润组合优化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1CE75F9-9C48-4960-A96F-54472D977A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29300" y="4210050"/>
            <a:ext cx="1714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FFFFFF">
                    <a:alpha val="72157"/>
                  </a:srgbClr>
                </a:solidFill>
                <a:latin typeface="PingFang SC"/>
                <a:ea typeface="PingFang SC"/>
                <a:cs typeface="PingFang SC"/>
              </a:defRPr>
            </a:pPr>
            <a:r>
              <a:rPr sz="1125" b="0">
                <a:solidFill>
                  <a:srgbClr val="FFFFFF">
                    <a:alpha val="72157"/>
                  </a:srgbClr>
                </a:solidFill>
                <a:latin typeface="PingFang SC"/>
                <a:ea typeface="PingFang SC"/>
                <a:cs typeface="PingFang SC"/>
              </a:rPr>
              <a:t>客户专职 Agent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C25EA12-961F-4873-8686-6F4080C05D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915025"/>
            <a:ext cx="209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FFFFFF">
                    <a:alpha val="47843"/>
                  </a:srgbClr>
                </a:solidFill>
                <a:latin typeface="PingFang SC"/>
                <a:ea typeface="PingFang SC"/>
                <a:cs typeface="PingFang SC"/>
              </a:defRPr>
            </a:pPr>
            <a:r>
              <a:rPr sz="1050" b="0">
                <a:solidFill>
                  <a:srgbClr val="FFFFFF">
                    <a:alpha val="47843"/>
                  </a:srgbClr>
                </a:solidFill>
                <a:latin typeface="PingFang SC"/>
                <a:ea typeface="PingFang SC"/>
                <a:cs typeface="PingFang SC"/>
              </a:rPr>
              <a:t>产品概念提案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D84B177-211D-4898-A1A3-21AD6B2C98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6200775"/>
            <a:ext cx="1238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FFFFFF">
                    <a:alpha val="72157"/>
                  </a:srgbClr>
                </a:solidFill>
                <a:latin typeface="DIN Alternate"/>
                <a:ea typeface="DIN Alternate"/>
                <a:cs typeface="DIN Alternate"/>
              </a:defRPr>
            </a:pPr>
            <a:r>
              <a:rPr sz="1350" b="0">
                <a:solidFill>
                  <a:srgbClr val="FFFFFF">
                    <a:alpha val="72157"/>
                  </a:srgbClr>
                </a:solidFill>
                <a:latin typeface="DIN Alternate"/>
                <a:ea typeface="DIN Alternate"/>
                <a:cs typeface="DIN Alternate"/>
              </a:rPr>
              <a:t>2026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05C08A0-CCC6-4017-AE92-7A2C9ED56A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29550" y="990600"/>
            <a:ext cx="3429000" cy="3429000"/>
          </a:xfrm>
          <a:prstGeom xmlns:a="http://schemas.openxmlformats.org/drawingml/2006/main" prst="ellipse">
            <a:avLst/>
          </a:prstGeom>
          <a:noFill xmlns:a="http://schemas.openxmlformats.org/drawingml/2006/main"/>
          <a:ln xmlns:a="http://schemas.openxmlformats.org/drawingml/2006/main" w="11430">
            <a:solidFill>
              <a:srgbClr val="FFFFFF">
                <a:alpha val="21961"/>
              </a:srgbClr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F8EE621-1CE8-439D-863F-797DE2191D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1447800"/>
            <a:ext cx="2514600" cy="2514600"/>
          </a:xfrm>
          <a:prstGeom xmlns:a="http://schemas.openxmlformats.org/drawingml/2006/main" prst="ellipse">
            <a:avLst/>
          </a:prstGeom>
          <a:noFill xmlns:a="http://schemas.openxmlformats.org/drawingml/2006/main"/>
          <a:ln xmlns:a="http://schemas.openxmlformats.org/drawingml/2006/main" w="13335">
            <a:solidFill>
              <a:srgbClr val="A38BFF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171A8DD-7CB3-427E-8B82-A00F506824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1924050"/>
            <a:ext cx="1562100" cy="1562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A38BFF">
              <a:alpha val="7843"/>
            </a:srgbClr>
          </a:solidFill>
          <a:ln xmlns:a="http://schemas.openxmlformats.org/drawingml/2006/main" w="11430">
            <a:solidFill>
              <a:srgbClr val="A38BFF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0AEEC80-4F73-4DFD-8E73-EB751C6A02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0" y="2400300"/>
            <a:ext cx="609600" cy="6096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A38BFF"/>
          </a:solidFill>
          <a:ln xmlns:a="http://schemas.openxmlformats.org/drawingml/2006/main" w="9525">
            <a:solidFill>
              <a:srgbClr val="FFFFFF">
                <a:alpha val="47843"/>
              </a:srgbClr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BC0F676-F6D4-4997-B7E6-2589AAF99C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2533650"/>
            <a:ext cx="6286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FFFFFF">
                    <a:alpha val="72157"/>
                  </a:srgbClr>
                </a:solidFill>
                <a:latin typeface="PingFang SC"/>
                <a:ea typeface="PingFang SC"/>
                <a:cs typeface="PingFang SC"/>
              </a:defRPr>
            </a:pPr>
            <a:r>
              <a:rPr sz="1050" b="0">
                <a:solidFill>
                  <a:srgbClr val="FFFFFF">
                    <a:alpha val="72157"/>
                  </a:srgbClr>
                </a:solidFill>
                <a:latin typeface="PingFang SC"/>
                <a:ea typeface="PingFang SC"/>
                <a:cs typeface="PingFang SC"/>
              </a:rPr>
              <a:t>演出方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3C7A485-D87A-48BF-AFE7-ADFE76AA85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48800" y="2571750"/>
            <a:ext cx="190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92593"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F6B59"/>
                </a:solidFill>
                <a:latin typeface="PingFang SC"/>
                <a:ea typeface="PingFang SC"/>
                <a:cs typeface="PingFang SC"/>
              </a:defRPr>
            </a:pPr>
            <a:r>
              <a:rPr sz="1350" b="1">
                <a:solidFill>
                  <a:srgbClr val="FF6B59"/>
                </a:solidFill>
                <a:latin typeface="PingFang SC"/>
                <a:ea typeface="PingFang SC"/>
                <a:cs typeface="PingFang SC"/>
              </a:rPr>
              <a:t>×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3C3D3458-35CB-4DEA-BAFA-EC92070FFA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96450" y="2533650"/>
            <a:ext cx="6858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1050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Agent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ACC19964-DEA3-42FC-8C7E-ECF6A21D39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1">
            <a:off x="7524750" y="5019675"/>
            <a:ext cx="571500" cy="14287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73E0BD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1A44EC82-F883-48B9-AF11-B604A12C7C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8096250" y="5019675"/>
            <a:ext cx="581025" cy="762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73E0BD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01224AC2-84D5-482D-AC79-03159BBC51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1">
            <a:off x="8677275" y="4695825"/>
            <a:ext cx="590550" cy="4000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73E0BD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2590C0D4-3186-4DBB-B07F-A9C0C02219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1">
            <a:off x="9267825" y="4305300"/>
            <a:ext cx="619125" cy="390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73E0BD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F17164C9-3EEB-4B41-B770-7169379DA9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1">
            <a:off x="9886950" y="4010025"/>
            <a:ext cx="628650" cy="29527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73E0BD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948A987A-CCF5-4433-95CE-AF9C783C0E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1">
            <a:off x="10515600" y="3352800"/>
            <a:ext cx="704850" cy="6572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73E0BD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EF1DDD25-878F-4C98-9D27-966310E976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77125" y="5114925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73E0B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945B7E21-6F48-4A69-BD48-4A0B561EE3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9650" y="5048250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73E0B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915094C6-43C8-4642-945A-A5A99A8C17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20200" y="4648200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73E0B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7FCE88A9-F993-48D1-A9E8-05A56740F9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39325" y="4257675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73E0B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5A603B34-2397-4910-A632-31B84D901A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67975" y="3962400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73E0B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E0F731A9-11A9-4FEB-8B2F-70DFBF8BF6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72825" y="3305175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73E0B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077434C0-990B-4663-99B1-B338FEC065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81950" y="5381625"/>
            <a:ext cx="3238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FFFFFF">
                    <a:alpha val="47843"/>
                  </a:srgbClr>
                </a:solidFill>
                <a:latin typeface="PingFang SC"/>
                <a:ea typeface="PingFang SC"/>
                <a:cs typeface="PingFang SC"/>
              </a:defRPr>
            </a:pPr>
            <a:r>
              <a:rPr sz="975" b="0">
                <a:solidFill>
                  <a:srgbClr val="FFFFFF">
                    <a:alpha val="47843"/>
                  </a:srgbClr>
                </a:solidFill>
                <a:latin typeface="PingFang SC"/>
                <a:ea typeface="PingFang SC"/>
                <a:cs typeface="PingFang SC"/>
              </a:rPr>
              <a:t>利润与项目状态持续上升的控制曲线</a:t>
            </a:r>
          </a:p>
        </p:txBody>
      </p:sp>
    </p:spTree>
    <p:extLst>
      <p:ext uri="{BB962C8B-B14F-4D97-AF65-F5344CB8AC3E}">
        <p14:creationId xmlns:p14="http://schemas.microsoft.com/office/powerpoint/2010/main" val="791191809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5F2F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DF7F9588-8522-4F77-B43D-9F9C42C233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4000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2A183B"/>
                </a:solidFill>
                <a:latin typeface="PingFang SC"/>
                <a:ea typeface="PingFang SC"/>
                <a:cs typeface="PingFang SC"/>
              </a:defRPr>
            </a:pPr>
            <a:r>
              <a:rPr sz="900" b="1">
                <a:solidFill>
                  <a:srgbClr val="2A183B"/>
                </a:solidFill>
                <a:latin typeface="PingFang SC"/>
                <a:ea typeface="PingFang SC"/>
                <a:cs typeface="PingFang SC"/>
              </a:rPr>
              <a:t>产品定位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4ECF45E-FEE6-422B-A554-996C4C1D4A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19125"/>
            <a:ext cx="108585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211D27"/>
                </a:solidFill>
                <a:latin typeface="PingFang SC"/>
                <a:ea typeface="PingFang SC"/>
                <a:cs typeface="PingFang SC"/>
              </a:defRPr>
            </a:pPr>
            <a:r>
              <a:rPr sz="2550" b="1">
                <a:solidFill>
                  <a:srgbClr val="211D27"/>
                </a:solidFill>
                <a:latin typeface="PingFang SC"/>
                <a:ea typeface="PingFang SC"/>
                <a:cs typeface="PingFang SC"/>
              </a:rPr>
              <a:t>一套持续帮助主办方判断和推进项目的系统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E73586E-4B83-46FB-8DBC-51154AAF62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33475"/>
            <a:ext cx="10572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665F6B"/>
                </a:solidFill>
                <a:latin typeface="PingFang SC"/>
                <a:ea typeface="PingFang SC"/>
                <a:cs typeface="PingFang SC"/>
              </a:defRPr>
            </a:pPr>
            <a:r>
              <a:rPr sz="1200" b="0">
                <a:solidFill>
                  <a:srgbClr val="665F6B"/>
                </a:solidFill>
                <a:latin typeface="PingFang SC"/>
                <a:ea typeface="PingFang SC"/>
                <a:cs typeface="PingFang SC"/>
              </a:rPr>
              <a:t>从第一次评估开始，贯穿组合设计、项目执行和结果复盘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89A1EE2-B7EE-4EAF-9441-EFB64F5091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952625"/>
            <a:ext cx="8763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750" b="1">
                <a:solidFill>
                  <a:srgbClr val="A38BFF"/>
                </a:solidFill>
                <a:latin typeface="DIN Alternate"/>
                <a:ea typeface="DIN Alternate"/>
                <a:cs typeface="DIN Alternate"/>
              </a:defRPr>
            </a:pPr>
            <a:r>
              <a:rPr sz="3750" b="1">
                <a:solidFill>
                  <a:srgbClr val="A38BFF"/>
                </a:solidFill>
                <a:latin typeface="DIN Alternate"/>
                <a:ea typeface="DIN Alternate"/>
                <a:cs typeface="DIN Alternate"/>
              </a:rPr>
              <a:t>01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19A1C0B-BB4E-4C9B-850B-1D72FEA011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628650" y="2686050"/>
            <a:ext cx="26289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8D0D8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A60ED7F-91D3-48E5-8588-451E2AEF91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2905125"/>
            <a:ext cx="26289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211D27"/>
                </a:solidFill>
                <a:latin typeface="PingFang SC"/>
                <a:ea typeface="PingFang SC"/>
                <a:cs typeface="PingFang SC"/>
              </a:defRPr>
            </a:pPr>
            <a:r>
              <a:rPr sz="1575" b="1">
                <a:solidFill>
                  <a:srgbClr val="211D27"/>
                </a:solidFill>
                <a:latin typeface="PingFang SC"/>
                <a:ea typeface="PingFang SC"/>
                <a:cs typeface="PingFang SC"/>
              </a:rPr>
              <a:t>第一眼看见价值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9E7B479-BB82-48D6-AFF5-F94D68AD2B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3457575"/>
            <a:ext cx="25527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665F6B"/>
                </a:solidFill>
                <a:latin typeface="PingFang SC"/>
                <a:ea typeface="PingFang SC"/>
                <a:cs typeface="PingFang SC"/>
              </a:defRPr>
            </a:pPr>
            <a:r>
              <a:rPr sz="1200" b="0">
                <a:solidFill>
                  <a:srgbClr val="665F6B"/>
                </a:solidFill>
                <a:latin typeface="PingFang SC"/>
                <a:ea typeface="PingFang SC"/>
                <a:cs typeface="PingFang SC"/>
              </a:rPr>
              <a:t>首页用可核验案例和利润变化说明产品价值，而不是从项目列表开始。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2DA8387-3471-4CBF-BB59-EC7216093F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76625" y="1952625"/>
            <a:ext cx="8763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750" b="1">
                <a:solidFill>
                  <a:srgbClr val="A38BFF"/>
                </a:solidFill>
                <a:latin typeface="DIN Alternate"/>
                <a:ea typeface="DIN Alternate"/>
                <a:cs typeface="DIN Alternate"/>
              </a:defRPr>
            </a:pPr>
            <a:r>
              <a:rPr sz="3750" b="1">
                <a:solidFill>
                  <a:srgbClr val="A38BFF"/>
                </a:solidFill>
                <a:latin typeface="DIN Alternate"/>
                <a:ea typeface="DIN Alternate"/>
                <a:cs typeface="DIN Alternate"/>
              </a:rPr>
              <a:t>02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E085D09-2EDE-4853-A227-43D804B2D5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3476625" y="2686050"/>
            <a:ext cx="26289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8D0D8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4993C69-2E00-4425-AC48-E95A7FB7E5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76625" y="2905125"/>
            <a:ext cx="26289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211D27"/>
                </a:solidFill>
                <a:latin typeface="PingFang SC"/>
                <a:ea typeface="PingFang SC"/>
                <a:cs typeface="PingFang SC"/>
              </a:defRPr>
            </a:pPr>
            <a:r>
              <a:rPr sz="1575" b="1">
                <a:solidFill>
                  <a:srgbClr val="211D27"/>
                </a:solidFill>
                <a:latin typeface="PingFang SC"/>
                <a:ea typeface="PingFang SC"/>
                <a:cs typeface="PingFang SC"/>
              </a:rPr>
              <a:t>结论有依据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70357B1-21CA-4557-AB8E-2B07867775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76625" y="3457575"/>
            <a:ext cx="25527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665F6B"/>
                </a:solidFill>
                <a:latin typeface="PingFang SC"/>
                <a:ea typeface="PingFang SC"/>
                <a:cs typeface="PingFang SC"/>
              </a:defRPr>
            </a:pPr>
            <a:r>
              <a:rPr sz="1200" b="0">
                <a:solidFill>
                  <a:srgbClr val="665F6B"/>
                </a:solidFill>
                <a:latin typeface="PingFang SC"/>
                <a:ea typeface="PingFang SC"/>
                <a:cs typeface="PingFang SC"/>
              </a:rPr>
              <a:t>爬虫、授权数据、内部案例与客户私有资料共同进入证据链。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2DEBF41-7D4A-453B-B11A-C147AF82E1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1952625"/>
            <a:ext cx="8763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750" b="1">
                <a:solidFill>
                  <a:srgbClr val="A38BFF"/>
                </a:solidFill>
                <a:latin typeface="DIN Alternate"/>
                <a:ea typeface="DIN Alternate"/>
                <a:cs typeface="DIN Alternate"/>
              </a:defRPr>
            </a:pPr>
            <a:r>
              <a:rPr sz="3750" b="1">
                <a:solidFill>
                  <a:srgbClr val="A38BFF"/>
                </a:solidFill>
                <a:latin typeface="DIN Alternate"/>
                <a:ea typeface="DIN Alternate"/>
                <a:cs typeface="DIN Alternate"/>
              </a:rPr>
              <a:t>03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71CD3E8-B8FE-41C5-846C-46874D7080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6324600" y="2686050"/>
            <a:ext cx="26289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8D0D8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E88AC28-C796-424F-A639-6A2CB0BCED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2905125"/>
            <a:ext cx="26289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211D27"/>
                </a:solidFill>
                <a:latin typeface="PingFang SC"/>
                <a:ea typeface="PingFang SC"/>
                <a:cs typeface="PingFang SC"/>
              </a:defRPr>
            </a:pPr>
            <a:r>
              <a:rPr sz="1575" b="1">
                <a:solidFill>
                  <a:srgbClr val="211D27"/>
                </a:solidFill>
                <a:latin typeface="PingFang SC"/>
                <a:ea typeface="PingFang SC"/>
                <a:cs typeface="PingFang SC"/>
              </a:rPr>
              <a:t>决策落到利润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1CF2BB5-2D23-48B5-8189-7ACAE8724D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3457575"/>
            <a:ext cx="25527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665F6B"/>
                </a:solidFill>
                <a:latin typeface="PingFang SC"/>
                <a:ea typeface="PingFang SC"/>
                <a:cs typeface="PingFang SC"/>
              </a:defRPr>
            </a:pPr>
            <a:r>
              <a:rPr sz="1200" b="0">
                <a:solidFill>
                  <a:srgbClr val="665F6B"/>
                </a:solidFill>
                <a:latin typeface="PingFang SC"/>
                <a:ea typeface="PingFang SC"/>
                <a:cs typeface="PingFang SC"/>
              </a:rPr>
              <a:t>比较艺人、城市、日期、场馆和票档组合，直观看见收益与下行风险。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5C49236-267C-4EEA-90C1-A7B65050EC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72575" y="1952625"/>
            <a:ext cx="8763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750" b="1">
                <a:solidFill>
                  <a:srgbClr val="FF6B59"/>
                </a:solidFill>
                <a:latin typeface="DIN Alternate"/>
                <a:ea typeface="DIN Alternate"/>
                <a:cs typeface="DIN Alternate"/>
              </a:defRPr>
            </a:pPr>
            <a:r>
              <a:rPr sz="3750" b="1">
                <a:solidFill>
                  <a:srgbClr val="FF6B59"/>
                </a:solidFill>
                <a:latin typeface="DIN Alternate"/>
                <a:ea typeface="DIN Alternate"/>
                <a:cs typeface="DIN Alternate"/>
              </a:rPr>
              <a:t>04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3E9063DE-A62D-482B-94F4-2E762B4222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9172575" y="2686050"/>
            <a:ext cx="26289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3813">
            <a:solidFill>
              <a:srgbClr val="FF6B59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D491A6EA-AB37-4B25-8998-51D4BE234C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72575" y="2905125"/>
            <a:ext cx="26289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211D27"/>
                </a:solidFill>
                <a:latin typeface="PingFang SC"/>
                <a:ea typeface="PingFang SC"/>
                <a:cs typeface="PingFang SC"/>
              </a:defRPr>
            </a:pPr>
            <a:r>
              <a:rPr sz="1575" b="1">
                <a:solidFill>
                  <a:srgbClr val="211D27"/>
                </a:solidFill>
                <a:latin typeface="PingFang SC"/>
                <a:ea typeface="PingFang SC"/>
                <a:cs typeface="PingFang SC"/>
              </a:rPr>
              <a:t>专职 Agent 全程跟进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08239C53-D76C-429A-A31D-CE17293FB6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72575" y="3457575"/>
            <a:ext cx="25527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665F6B"/>
                </a:solidFill>
                <a:latin typeface="PingFang SC"/>
                <a:ea typeface="PingFang SC"/>
                <a:cs typeface="PingFang SC"/>
              </a:defRPr>
            </a:pPr>
            <a:r>
              <a:rPr sz="1200" b="0">
                <a:solidFill>
                  <a:srgbClr val="665F6B"/>
                </a:solidFill>
                <a:latin typeface="PingFang SC"/>
                <a:ea typeface="PingFang SC"/>
                <a:cs typeface="PingFang SC"/>
              </a:rPr>
              <a:t>每个客户拥有长期记忆和持续负责的 Agent，主动发现缺口并推动下一步。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0F56C6D5-DA2B-4584-AF41-804C08DF2D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5219700"/>
            <a:ext cx="10934700" cy="838200"/>
          </a:xfrm>
          <a:prstGeom xmlns:a="http://schemas.openxmlformats.org/drawingml/2006/main" prst="roundRect">
            <a:avLst>
              <a:gd name="adj" fmla="val 20455"/>
            </a:avLst>
          </a:prstGeom>
          <a:solidFill xmlns:a="http://schemas.openxmlformats.org/drawingml/2006/main">
            <a:srgbClr val="0D0B1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9D92FD9A-F97F-422B-BD9E-E9C36EFB30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5391150"/>
            <a:ext cx="2857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1350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主办方定义目标和授权边界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A53C1CD7-FF21-4897-81DC-68F3012250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5300" y="5391150"/>
            <a:ext cx="300037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D9CFFF"/>
                </a:solidFill>
                <a:latin typeface="PingFang SC"/>
                <a:ea typeface="PingFang SC"/>
                <a:cs typeface="PingFang SC"/>
              </a:defRPr>
            </a:pPr>
            <a:r>
              <a:rPr sz="1350" b="1">
                <a:solidFill>
                  <a:srgbClr val="D9CFFF"/>
                </a:solidFill>
                <a:latin typeface="PingFang SC"/>
                <a:ea typeface="PingFang SC"/>
                <a:cs typeface="PingFang SC"/>
              </a:rPr>
              <a:t>Agent 掌握日常流程主动权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10D7BB9E-3FDB-4995-BD38-250252D6B4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39075" y="5391150"/>
            <a:ext cx="3238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73E0BD"/>
                </a:solidFill>
                <a:latin typeface="PingFang SC"/>
                <a:ea typeface="PingFang SC"/>
                <a:cs typeface="PingFang SC"/>
              </a:defRPr>
            </a:pPr>
            <a:r>
              <a:rPr sz="1350" b="1">
                <a:solidFill>
                  <a:srgbClr val="73E0BD"/>
                </a:solidFill>
                <a:latin typeface="PingFang SC"/>
                <a:ea typeface="PingFang SC"/>
                <a:cs typeface="PingFang SC"/>
              </a:rPr>
              <a:t>具名负责人确认高风险动作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0E63FDA1-5196-4E65-BAC2-CB0EC325F3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5734050"/>
            <a:ext cx="10096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FFFFFF">
                    <a:alpha val="72157"/>
                  </a:srgbClr>
                </a:solidFill>
                <a:latin typeface="PingFang SC"/>
                <a:ea typeface="PingFang SC"/>
                <a:cs typeface="PingFang SC"/>
              </a:defRPr>
            </a:pPr>
            <a:r>
              <a:rPr sz="1050" b="0">
                <a:solidFill>
                  <a:srgbClr val="FFFFFF">
                    <a:alpha val="72157"/>
                  </a:srgbClr>
                </a:solidFill>
                <a:latin typeface="PingFang SC"/>
                <a:ea typeface="PingFang SC"/>
                <a:cs typeface="PingFang SC"/>
              </a:rPr>
              <a:t>业务主动权可以交给系统，法律责任与不可逆决策仍由人承担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191FD77E-060E-4C7B-84E3-D0C449B2FC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63325" y="6467475"/>
            <a:ext cx="4000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A39CA8"/>
                </a:solidFill>
                <a:latin typeface="DIN Alternate"/>
                <a:ea typeface="DIN Alternate"/>
                <a:cs typeface="DIN Alternate"/>
              </a:defRPr>
            </a:pPr>
            <a:r>
              <a:rPr sz="900" b="0">
                <a:solidFill>
                  <a:srgbClr val="A39CA8"/>
                </a:solidFill>
                <a:latin typeface="DIN Alternate"/>
                <a:ea typeface="DIN Alternate"/>
                <a:cs typeface="DIN Alternate"/>
              </a:rPr>
              <a:t>02</a:t>
            </a:r>
          </a:p>
        </p:txBody>
      </p:sp>
    </p:spTree>
    <p:extLst>
      <p:ext uri="{BB962C8B-B14F-4D97-AF65-F5344CB8AC3E}">
        <p14:creationId xmlns:p14="http://schemas.microsoft.com/office/powerpoint/2010/main" val="1942842880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0D0B14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C5A7B57D-7AE9-48F8-BE22-7F97312B03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4000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A38BFF"/>
                </a:solidFill>
                <a:latin typeface="PingFang SC"/>
                <a:ea typeface="PingFang SC"/>
                <a:cs typeface="PingFang SC"/>
              </a:defRPr>
            </a:pPr>
            <a:r>
              <a:rPr sz="900" b="1">
                <a:solidFill>
                  <a:srgbClr val="A38BFF"/>
                </a:solidFill>
                <a:latin typeface="PingFang SC"/>
                <a:ea typeface="PingFang SC"/>
                <a:cs typeface="PingFang SC"/>
              </a:rPr>
              <a:t>小程序示意 / 首页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3AFA3D7-515A-40DF-A47F-408746D3ED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19125"/>
            <a:ext cx="108585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2550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先证明它能帮助主办方赚钱和止损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A176CFE-32E6-4E62-A36C-373ADF4390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33475"/>
            <a:ext cx="10572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FFFFFF">
                    <a:alpha val="72157"/>
                  </a:srgbClr>
                </a:solidFill>
                <a:latin typeface="PingFang SC"/>
                <a:ea typeface="PingFang SC"/>
                <a:cs typeface="PingFang SC"/>
              </a:defRPr>
            </a:pPr>
            <a:r>
              <a:rPr sz="1200" b="0">
                <a:solidFill>
                  <a:srgbClr val="FFFFFF">
                    <a:alpha val="72157"/>
                  </a:srgbClr>
                </a:solidFill>
                <a:latin typeface="PingFang SC"/>
                <a:ea typeface="PingFang SC"/>
                <a:cs typeface="PingFang SC"/>
              </a:rPr>
              <a:t>新用户看到成功案例，老用户直接进入正在推进的项目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062BE06-EDCD-4385-BB2A-1D570F6262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914525"/>
            <a:ext cx="3524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1800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首页的信息顺序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DA77B30-F6AE-46ED-88C6-68857AF98C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447925"/>
            <a:ext cx="323850" cy="3238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6B59"/>
          </a:solidFill>
          <a:ln xmlns:a="http://schemas.openxmlformats.org/drawingml/2006/main" w="9525">
            <a:solidFill>
              <a:srgbClr val="FFFFFF">
                <a:alpha val="21961"/>
              </a:srgbClr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9253118-1735-4D29-B00D-4450A2BDB9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" y="2505075"/>
            <a:ext cx="2286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FFFFFF"/>
                </a:solidFill>
                <a:latin typeface="DIN Alternate"/>
                <a:ea typeface="DIN Alternate"/>
                <a:cs typeface="DIN Alternate"/>
              </a:defRPr>
            </a:pPr>
            <a:r>
              <a:rPr sz="975" b="1">
                <a:solidFill>
                  <a:srgbClr val="FFFFFF"/>
                </a:solidFill>
                <a:latin typeface="DIN Alternate"/>
                <a:ea typeface="DIN Alternate"/>
                <a:cs typeface="DIN Alternate"/>
              </a:rPr>
              <a:t>A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B22FB08-36E0-4803-B224-D0CC30DC1B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2447925"/>
            <a:ext cx="2381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1425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价值证据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D6AC279-6A4E-405D-B7F0-B3F92BAEE2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2771775"/>
            <a:ext cx="3190875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FFFFFF">
                    <a:alpha val="72157"/>
                  </a:srgbClr>
                </a:solidFill>
                <a:latin typeface="PingFang SC"/>
                <a:ea typeface="PingFang SC"/>
                <a:cs typeface="PingFang SC"/>
              </a:defRPr>
            </a:pPr>
            <a:r>
              <a:rPr sz="1125" b="0">
                <a:solidFill>
                  <a:srgbClr val="FFFFFF">
                    <a:alpha val="72157"/>
                  </a:srgbClr>
                </a:solidFill>
                <a:latin typeface="PingFang SC"/>
                <a:ea typeface="PingFang SC"/>
                <a:cs typeface="PingFang SC"/>
              </a:rPr>
              <a:t>用历史回测或已核验案例说明利润变化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5EE3BC3-E7AF-4747-BCE7-981BF163E4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457575"/>
            <a:ext cx="323850" cy="3238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A183B"/>
          </a:solidFill>
          <a:ln xmlns:a="http://schemas.openxmlformats.org/drawingml/2006/main" w="9525">
            <a:solidFill>
              <a:srgbClr val="FFFFFF">
                <a:alpha val="21961"/>
              </a:srgbClr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AAA7E88-63B5-4E6E-ACF5-BFD98DE30C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" y="3514725"/>
            <a:ext cx="2286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FFFFFF"/>
                </a:solidFill>
                <a:latin typeface="DIN Alternate"/>
                <a:ea typeface="DIN Alternate"/>
                <a:cs typeface="DIN Alternate"/>
              </a:defRPr>
            </a:pPr>
            <a:r>
              <a:rPr sz="975" b="1">
                <a:solidFill>
                  <a:srgbClr val="FFFFFF"/>
                </a:solidFill>
                <a:latin typeface="DIN Alternate"/>
                <a:ea typeface="DIN Alternate"/>
                <a:cs typeface="DIN Alternate"/>
              </a:rPr>
              <a:t>B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C51CF44-DB4C-49E6-BF64-C3C584AFB0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3457575"/>
            <a:ext cx="2381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1425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当前机会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F518B4E-6F26-429D-962E-94F8C11658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3781425"/>
            <a:ext cx="3190875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FFFFFF">
                    <a:alpha val="72157"/>
                  </a:srgbClr>
                </a:solidFill>
                <a:latin typeface="PingFang SC"/>
                <a:ea typeface="PingFang SC"/>
                <a:cs typeface="PingFang SC"/>
              </a:defRPr>
            </a:pPr>
            <a:r>
              <a:rPr sz="1125" b="0">
                <a:solidFill>
                  <a:srgbClr val="FFFFFF">
                    <a:alpha val="72157"/>
                  </a:srgbClr>
                </a:solidFill>
                <a:latin typeface="PingFang SC"/>
                <a:ea typeface="PingFang SC"/>
                <a:cs typeface="PingFang SC"/>
              </a:rPr>
              <a:t>展示值得关注的艺人、城市和档期组合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2B8AE38-8C4E-490C-9950-1497C26AEC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467225"/>
            <a:ext cx="323850" cy="3238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A183B"/>
          </a:solidFill>
          <a:ln xmlns:a="http://schemas.openxmlformats.org/drawingml/2006/main" w="9525">
            <a:solidFill>
              <a:srgbClr val="FFFFFF">
                <a:alpha val="21961"/>
              </a:srgbClr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3F7E113-C38E-4688-9F21-75486AB207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" y="4524375"/>
            <a:ext cx="2286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FFFFFF"/>
                </a:solidFill>
                <a:latin typeface="DIN Alternate"/>
                <a:ea typeface="DIN Alternate"/>
                <a:cs typeface="DIN Alternate"/>
              </a:defRPr>
            </a:pPr>
            <a:r>
              <a:rPr sz="975" b="1">
                <a:solidFill>
                  <a:srgbClr val="FFFFFF"/>
                </a:solidFill>
                <a:latin typeface="DIN Alternate"/>
                <a:ea typeface="DIN Alternate"/>
                <a:cs typeface="DIN Alternate"/>
              </a:rPr>
              <a:t>C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478F571-1F53-4303-93C3-E9436DF7B3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4467225"/>
            <a:ext cx="2381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1425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快速开始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26C1494-67F6-496E-9961-EA464EBD1C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4791075"/>
            <a:ext cx="3190875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FFFFFF">
                    <a:alpha val="72157"/>
                  </a:srgbClr>
                </a:solidFill>
                <a:latin typeface="PingFang SC"/>
                <a:ea typeface="PingFang SC"/>
                <a:cs typeface="PingFang SC"/>
              </a:defRPr>
            </a:pPr>
            <a:r>
              <a:rPr sz="1125" b="0">
                <a:solidFill>
                  <a:srgbClr val="FFFFFF">
                    <a:alpha val="72157"/>
                  </a:srgbClr>
                </a:solidFill>
                <a:latin typeface="PingFang SC"/>
                <a:ea typeface="PingFang SC"/>
                <a:cs typeface="PingFang SC"/>
              </a:rPr>
              <a:t>输入最少信息，先得到可行动的判断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6B24FF16-CE80-47C3-86E7-5EA06E63AD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610225"/>
            <a:ext cx="3695700" cy="514350"/>
          </a:xfrm>
          <a:prstGeom xmlns:a="http://schemas.openxmlformats.org/drawingml/2006/main" prst="roundRect">
            <a:avLst>
              <a:gd name="adj" fmla="val 27778"/>
            </a:avLst>
          </a:prstGeom>
          <a:solidFill xmlns:a="http://schemas.openxmlformats.org/drawingml/2006/main">
            <a:srgbClr val="FFFFFF">
              <a:alpha val="5098"/>
            </a:srgbClr>
          </a:solidFill>
          <a:ln xmlns:a="http://schemas.openxmlformats.org/drawingml/2006/main" w="9525">
            <a:solidFill>
              <a:srgbClr val="FFFFFF">
                <a:alpha val="21961"/>
              </a:srgbClr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208CD810-2A21-4160-A851-6333009DFF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" y="5743575"/>
            <a:ext cx="33147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FFFFFF">
                    <a:alpha val="72157"/>
                  </a:srgbClr>
                </a:solidFill>
                <a:latin typeface="PingFang SC"/>
                <a:ea typeface="PingFang SC"/>
                <a:cs typeface="PingFang SC"/>
              </a:defRPr>
            </a:pPr>
            <a:r>
              <a:rPr sz="975" b="1">
                <a:solidFill>
                  <a:srgbClr val="FFFFFF">
                    <a:alpha val="72157"/>
                  </a:srgbClr>
                </a:solidFill>
                <a:latin typeface="PingFang SC"/>
                <a:ea typeface="PingFang SC"/>
                <a:cs typeface="PingFang SC"/>
              </a:rPr>
              <a:t>界面中的案例必须标明：真实结果 / 历史回测 / 产品示意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4EE188DB-984A-4AF3-83BD-76EC8A4520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24650" y="1438275"/>
            <a:ext cx="3390900" cy="4933950"/>
          </a:xfrm>
          <a:prstGeom xmlns:a="http://schemas.openxmlformats.org/drawingml/2006/main" prst="roundRect">
            <a:avLst>
              <a:gd name="adj" fmla="val 9551"/>
            </a:avLst>
          </a:prstGeom>
          <a:solidFill xmlns:a="http://schemas.openxmlformats.org/drawingml/2006/main">
            <a:srgbClr val="211D27"/>
          </a:solidFill>
          <a:ln xmlns:a="http://schemas.openxmlformats.org/drawingml/2006/main" w="11430">
            <a:solidFill>
              <a:srgbClr val="FFFFFF">
                <a:alpha val="21961"/>
              </a:srgbClr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7"/>
          <a:fontRef xmlns:a="http://schemas.openxmlformats.org/drawingml/2006/main" idx="major"/>
        </p:style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2F4D9E2B-5AFF-457D-9085-31947B5664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10375" y="1524000"/>
            <a:ext cx="3219450" cy="4762500"/>
          </a:xfrm>
          <a:prstGeom xmlns:a="http://schemas.openxmlformats.org/drawingml/2006/main" prst="roundRect">
            <a:avLst>
              <a:gd name="adj" fmla="val 7988"/>
            </a:avLst>
          </a:prstGeom>
          <a:solidFill xmlns:a="http://schemas.openxmlformats.org/drawingml/2006/main">
            <a:srgbClr val="17101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BFF28941-973B-4DF9-A916-C06D14239F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86725" y="1600200"/>
            <a:ext cx="666750" cy="1714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0D0B1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FCAE07D4-8AB4-4405-BB2D-F5EFE94C4D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58350" y="1647825"/>
            <a:ext cx="57150" cy="571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>
              <a:alpha val="47843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C5A1FB42-78B0-4800-B3F3-D36B559C66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96100" y="1885950"/>
            <a:ext cx="857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FFFFFF">
                    <a:alpha val="47843"/>
                  </a:srgbClr>
                </a:solidFill>
                <a:latin typeface="PingFang SC"/>
                <a:ea typeface="PingFang SC"/>
                <a:cs typeface="PingFang SC"/>
              </a:defRPr>
            </a:pPr>
            <a:r>
              <a:rPr sz="1050" b="1">
                <a:solidFill>
                  <a:srgbClr val="FFFFFF">
                    <a:alpha val="47843"/>
                  </a:srgbClr>
                </a:solidFill>
                <a:latin typeface="PingFang SC"/>
                <a:ea typeface="PingFang SC"/>
                <a:cs typeface="PingFang SC"/>
              </a:rPr>
              <a:t>锐音场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6AC30705-215F-4A1E-B140-6AA54D82A6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91650" y="1876425"/>
            <a:ext cx="552450" cy="21907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FFFFF">
              <a:alpha val="6275"/>
            </a:srgbClr>
          </a:solidFill>
          <a:ln xmlns:a="http://schemas.openxmlformats.org/drawingml/2006/main" w="9525">
            <a:solidFill>
              <a:srgbClr val="FFFFFF">
                <a:alpha val="21961"/>
              </a:srgbClr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2C7C06D6-2DF8-4FA9-8251-E834C887C2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91650" y="1866900"/>
            <a:ext cx="55245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FFFFFF">
                    <a:alpha val="72157"/>
                  </a:srgbClr>
                </a:solidFill>
                <a:latin typeface="PingFang SC"/>
                <a:ea typeface="PingFang SC"/>
                <a:cs typeface="PingFang SC"/>
              </a:defRPr>
            </a:pPr>
            <a:r>
              <a:rPr sz="1050" b="0">
                <a:solidFill>
                  <a:srgbClr val="FFFFFF">
                    <a:alpha val="72157"/>
                  </a:srgbClr>
                </a:solidFill>
                <a:latin typeface="PingFang SC"/>
                <a:ea typeface="PingFang SC"/>
                <a:cs typeface="PingFang SC"/>
              </a:rPr>
              <a:t>···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2371DC04-48CC-4EF2-B243-4EF622C159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96100" y="2266950"/>
            <a:ext cx="30480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86021"/>
          </a:bodyPr>
          <a:lstStyle xmlns:a="http://schemas.openxmlformats.org/drawingml/2006/main"/>
          <a:p xmlns:a="http://schemas.openxmlformats.org/drawingml/2006/main">
            <a:pPr algn="l">
              <a:defRPr sz="2325" b="1">
                <a:solidFill>
                  <a:srgbClr val="FFFFFF"/>
                </a:solidFill>
                <a:latin typeface="Songti SC"/>
                <a:ea typeface="Songti SC"/>
                <a:cs typeface="Songti SC"/>
              </a:defRPr>
            </a:pPr>
            <a:r>
              <a:rPr sz="2325" b="1">
                <a:solidFill>
                  <a:srgbClr val="FFFFFF"/>
                </a:solidFill>
                <a:latin typeface="Songti SC"/>
                <a:ea typeface="Songti SC"/>
                <a:cs typeface="Songti SC"/>
              </a:rPr>
              <a:t>这场演出，</a:t>
            </a:r>
          </a:p>
          <a:p xmlns:a="http://schemas.openxmlformats.org/drawingml/2006/main">
            <a:pPr algn="l">
              <a:defRPr sz="2325" b="1">
                <a:solidFill>
                  <a:srgbClr val="FFFFFF"/>
                </a:solidFill>
                <a:latin typeface="Songti SC"/>
                <a:ea typeface="Songti SC"/>
                <a:cs typeface="Songti SC"/>
              </a:defRPr>
            </a:pPr>
            <a:r>
              <a:rPr sz="2325" b="1">
                <a:solidFill>
                  <a:srgbClr val="FFFFFF"/>
                </a:solidFill>
                <a:latin typeface="Songti SC"/>
                <a:ea typeface="Songti SC"/>
                <a:cs typeface="Songti SC"/>
              </a:rPr>
              <a:t>值得做吗？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2D71DDC8-B6B2-4E6C-97AC-AF21F79059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96100" y="2905125"/>
            <a:ext cx="3048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FFFFFF">
                    <a:alpha val="47843"/>
                  </a:srgbClr>
                </a:solidFill>
                <a:latin typeface="PingFang SC"/>
                <a:ea typeface="PingFang SC"/>
                <a:cs typeface="PingFang SC"/>
              </a:defRPr>
            </a:pPr>
            <a:r>
              <a:rPr sz="975" b="0">
                <a:solidFill>
                  <a:srgbClr val="FFFFFF">
                    <a:alpha val="47843"/>
                  </a:srgbClr>
                </a:solidFill>
                <a:latin typeface="PingFang SC"/>
                <a:ea typeface="PingFang SC"/>
                <a:cs typeface="PingFang SC"/>
              </a:rPr>
              <a:t>投入前先看清赚钱空间和止损边界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5B37939D-AFC4-40D4-B6DF-32A35741C6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96100" y="3286125"/>
            <a:ext cx="3048000" cy="1152525"/>
          </a:xfrm>
          <a:prstGeom xmlns:a="http://schemas.openxmlformats.org/drawingml/2006/main" prst="roundRect">
            <a:avLst>
              <a:gd name="adj" fmla="val 14876"/>
            </a:avLst>
          </a:prstGeom>
          <a:solidFill xmlns:a="http://schemas.openxmlformats.org/drawingml/2006/main">
            <a:srgbClr val="2A183B">
              <a:alpha val="80000"/>
            </a:srgbClr>
          </a:solidFill>
          <a:ln xmlns:a="http://schemas.openxmlformats.org/drawingml/2006/main" w="9525">
            <a:solidFill>
              <a:srgbClr val="A38BFF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2ADD87FB-623B-4B32-8534-74446080E6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0" y="3409950"/>
            <a:ext cx="971550" cy="2857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A38BFF">
              <a:alpha val="13333"/>
            </a:srgbClr>
          </a:solidFill>
          <a:ln xmlns:a="http://schemas.openxmlformats.org/drawingml/2006/main" w="9525">
            <a:solidFill>
              <a:srgbClr val="A38BFF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5CC69101-A739-4816-BD4C-10E12E8140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0" y="3409950"/>
            <a:ext cx="7810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D9CFFF"/>
                </a:solidFill>
                <a:latin typeface="PingFang SC"/>
                <a:ea typeface="PingFang SC"/>
                <a:cs typeface="PingFang SC"/>
              </a:defRPr>
            </a:pPr>
            <a:r>
              <a:rPr sz="900" b="1">
                <a:solidFill>
                  <a:srgbClr val="D9CFFF"/>
                </a:solidFill>
                <a:latin typeface="PingFang SC"/>
                <a:ea typeface="PingFang SC"/>
                <a:cs typeface="PingFang SC"/>
              </a:rPr>
              <a:t>历史回测示例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B38D27D3-28A2-43D5-A952-2175FFE1FC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0" y="3771900"/>
            <a:ext cx="11811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FFFFFF">
                    <a:alpha val="72157"/>
                  </a:srgbClr>
                </a:solidFill>
                <a:latin typeface="PingFang SC"/>
                <a:ea typeface="PingFang SC"/>
                <a:cs typeface="PingFang SC"/>
              </a:defRPr>
            </a:pPr>
            <a:r>
              <a:rPr sz="1050" b="0">
                <a:solidFill>
                  <a:srgbClr val="FFFFFF">
                    <a:alpha val="72157"/>
                  </a:srgbClr>
                </a:solidFill>
                <a:latin typeface="PingFang SC"/>
                <a:ea typeface="PingFang SC"/>
                <a:cs typeface="PingFang SC"/>
              </a:rPr>
              <a:t>调整场馆后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65DDB341-DC96-4046-A4E3-62899357A8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38975" y="3981450"/>
            <a:ext cx="5905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FF6B59"/>
                </a:solidFill>
                <a:latin typeface="DIN Alternate"/>
                <a:ea typeface="DIN Alternate"/>
                <a:cs typeface="DIN Alternate"/>
              </a:defRPr>
            </a:pPr>
            <a:r>
              <a:rPr sz="1875" b="1">
                <a:solidFill>
                  <a:srgbClr val="FF6B59"/>
                </a:solidFill>
                <a:latin typeface="DIN Alternate"/>
                <a:ea typeface="DIN Alternate"/>
                <a:cs typeface="DIN Alternate"/>
              </a:rPr>
              <a:t>82%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D0D673D2-6775-4794-9877-6D193F93B8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9525" y="4000500"/>
            <a:ext cx="2476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50" b="0">
                <a:solidFill>
                  <a:srgbClr val="FFFFFF">
                    <a:alpha val="47843"/>
                  </a:srgbClr>
                </a:solidFill>
                <a:latin typeface="PingFang SC"/>
                <a:ea typeface="PingFang SC"/>
                <a:cs typeface="PingFang SC"/>
              </a:defRPr>
            </a:pPr>
            <a:r>
              <a:rPr sz="1350" b="0">
                <a:solidFill>
                  <a:srgbClr val="FFFFFF">
                    <a:alpha val="47843"/>
                  </a:srgbClr>
                </a:solidFill>
                <a:latin typeface="PingFang SC"/>
                <a:ea typeface="PingFang SC"/>
                <a:cs typeface="PingFang SC"/>
              </a:rPr>
              <a:t>→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823DD5CB-B195-4F51-AF3C-7FE59FB83C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3981450"/>
            <a:ext cx="6477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73E0BD"/>
                </a:solidFill>
                <a:latin typeface="DIN Alternate"/>
                <a:ea typeface="DIN Alternate"/>
                <a:cs typeface="DIN Alternate"/>
              </a:defRPr>
            </a:pPr>
            <a:r>
              <a:rPr sz="1875" b="1">
                <a:solidFill>
                  <a:srgbClr val="73E0BD"/>
                </a:solidFill>
                <a:latin typeface="DIN Alternate"/>
                <a:ea typeface="DIN Alternate"/>
                <a:cs typeface="DIN Alternate"/>
              </a:rPr>
              <a:t>64%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6BDEA824-9786-4315-BB55-AFF914D01B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77275" y="4029075"/>
            <a:ext cx="10096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FFFFFF">
                    <a:alpha val="47843"/>
                  </a:srgbClr>
                </a:solidFill>
                <a:latin typeface="PingFang SC"/>
                <a:ea typeface="PingFang SC"/>
                <a:cs typeface="PingFang SC"/>
              </a:defRPr>
            </a:pPr>
            <a:r>
              <a:rPr sz="900" b="0">
                <a:solidFill>
                  <a:srgbClr val="FFFFFF">
                    <a:alpha val="47843"/>
                  </a:srgbClr>
                </a:solidFill>
                <a:latin typeface="PingFang SC"/>
                <a:ea typeface="PingFang SC"/>
                <a:cs typeface="PingFang SC"/>
              </a:rPr>
              <a:t>保本上座率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52DD5C15-F9C1-4E37-AD13-887AE3A7D5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96100" y="4676775"/>
            <a:ext cx="3048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1200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值得研究的组合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D700624F-E1C6-4A3A-A0E5-BE966624E5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96100" y="5000625"/>
            <a:ext cx="3048000" cy="476250"/>
          </a:xfrm>
          <a:prstGeom xmlns:a="http://schemas.openxmlformats.org/drawingml/2006/main" prst="roundRect">
            <a:avLst>
              <a:gd name="adj" fmla="val 26000"/>
            </a:avLst>
          </a:prstGeom>
          <a:solidFill xmlns:a="http://schemas.openxmlformats.org/drawingml/2006/main">
            <a:srgbClr val="FFFFFF">
              <a:alpha val="4314"/>
            </a:srgbClr>
          </a:solidFill>
          <a:ln xmlns:a="http://schemas.openxmlformats.org/drawingml/2006/main" w="9525">
            <a:solidFill>
              <a:srgbClr val="FFFFFF">
                <a:alpha val="21961"/>
              </a:srgbClr>
            </a:solidFill>
            <a:prstDash val="solid"/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C8C3F78F-41C3-4BC8-A66F-0120B4413A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29450" y="5067300"/>
            <a:ext cx="1095375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975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艺人组合 B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6AEBC2D0-0ABA-4A57-83FC-1933D8D740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29450" y="5248275"/>
            <a:ext cx="1333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FFFFFF">
                    <a:alpha val="47843"/>
                  </a:srgbClr>
                </a:solidFill>
                <a:latin typeface="PingFang SC"/>
                <a:ea typeface="PingFang SC"/>
                <a:cs typeface="PingFang SC"/>
              </a:defRPr>
            </a:pPr>
            <a:r>
              <a:rPr sz="825" b="0">
                <a:solidFill>
                  <a:srgbClr val="FFFFFF">
                    <a:alpha val="47843"/>
                  </a:srgbClr>
                </a:solidFill>
                <a:latin typeface="PingFang SC"/>
                <a:ea typeface="PingFang SC"/>
                <a:cs typeface="PingFang SC"/>
              </a:rPr>
              <a:t>南京 · 10 月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53C4DAE3-838F-4869-B601-2D34AF7350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91600" y="5105400"/>
            <a:ext cx="8001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275" b="1">
                <a:solidFill>
                  <a:srgbClr val="73E0BD"/>
                </a:solidFill>
                <a:latin typeface="DIN Alternate"/>
                <a:ea typeface="DIN Alternate"/>
                <a:cs typeface="DIN Alternate"/>
              </a:defRPr>
            </a:pPr>
            <a:r>
              <a:rPr sz="1275" b="1">
                <a:solidFill>
                  <a:srgbClr val="73E0BD"/>
                </a:solidFill>
                <a:latin typeface="DIN Alternate"/>
                <a:ea typeface="DIN Alternate"/>
                <a:cs typeface="DIN Alternate"/>
              </a:rPr>
              <a:t>+286 万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6DE059B1-C0D1-4098-BA2E-3A80BC3E23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96100" y="5581650"/>
            <a:ext cx="3048000" cy="476250"/>
          </a:xfrm>
          <a:prstGeom xmlns:a="http://schemas.openxmlformats.org/drawingml/2006/main" prst="roundRect">
            <a:avLst>
              <a:gd name="adj" fmla="val 26000"/>
            </a:avLst>
          </a:prstGeom>
          <a:solidFill xmlns:a="http://schemas.openxmlformats.org/drawingml/2006/main">
            <a:srgbClr val="FFFFFF">
              <a:alpha val="4314"/>
            </a:srgbClr>
          </a:solidFill>
          <a:ln xmlns:a="http://schemas.openxmlformats.org/drawingml/2006/main" w="9525">
            <a:solidFill>
              <a:srgbClr val="FFFFFF">
                <a:alpha val="21961"/>
              </a:srgbClr>
            </a:solidFill>
            <a:prstDash val="solid"/>
          </a:ln>
        </p:spPr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AC9B879D-E53C-442B-B7F7-0DD4C1E5D4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29450" y="5648325"/>
            <a:ext cx="1095375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975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艺人组合 A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25CCD8F5-E898-461F-A0F1-0EC70429E1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29450" y="5829300"/>
            <a:ext cx="1333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FFFFFF">
                    <a:alpha val="47843"/>
                  </a:srgbClr>
                </a:solidFill>
                <a:latin typeface="PingFang SC"/>
                <a:ea typeface="PingFang SC"/>
                <a:cs typeface="PingFang SC"/>
              </a:defRPr>
            </a:pPr>
            <a:r>
              <a:rPr sz="825" b="0">
                <a:solidFill>
                  <a:srgbClr val="FFFFFF">
                    <a:alpha val="47843"/>
                  </a:srgbClr>
                </a:solidFill>
                <a:latin typeface="PingFang SC"/>
                <a:ea typeface="PingFang SC"/>
                <a:cs typeface="PingFang SC"/>
              </a:rPr>
              <a:t>成都 · 9 月</a:t>
            </a:r>
          </a:p>
        </p:txBody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573E6A75-8E50-4206-A144-8FF6FCBDDC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91600" y="5686425"/>
            <a:ext cx="8001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275" b="1">
                <a:solidFill>
                  <a:srgbClr val="73E0BD"/>
                </a:solidFill>
                <a:latin typeface="DIN Alternate"/>
                <a:ea typeface="DIN Alternate"/>
                <a:cs typeface="DIN Alternate"/>
              </a:defRPr>
            </a:pPr>
            <a:r>
              <a:rPr sz="1275" b="1">
                <a:solidFill>
                  <a:srgbClr val="73E0BD"/>
                </a:solidFill>
                <a:latin typeface="DIN Alternate"/>
                <a:ea typeface="DIN Alternate"/>
                <a:cs typeface="DIN Alternate"/>
              </a:rPr>
              <a:t>+194 万</a:t>
            </a:r>
          </a:p>
        </p:txBody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4467519E-F3CF-4C59-9B79-18D0FC0E08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96100" y="6219825"/>
            <a:ext cx="3048000" cy="4000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F6B5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04958888-5323-4598-8EBA-92CD34C20E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96100" y="6219825"/>
            <a:ext cx="3048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1050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开始判断一个项目</a:t>
            </a:r>
          </a:p>
        </p:txBody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59BB9BBA-7ED8-41E4-A8D9-1B5AC5F415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24650" y="6486525"/>
            <a:ext cx="33909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825" b="0">
                <a:solidFill>
                  <a:srgbClr val="FFFFFF">
                    <a:alpha val="47843"/>
                  </a:srgbClr>
                </a:solidFill>
                <a:latin typeface="PingFang SC"/>
                <a:ea typeface="PingFang SC"/>
                <a:cs typeface="PingFang SC"/>
              </a:defRPr>
            </a:pPr>
            <a:r>
              <a:rPr sz="825" b="0">
                <a:solidFill>
                  <a:srgbClr val="FFFFFF">
                    <a:alpha val="47843"/>
                  </a:srgbClr>
                </a:solidFill>
                <a:latin typeface="PingFang SC"/>
                <a:ea typeface="PingFang SC"/>
                <a:cs typeface="PingFang SC"/>
              </a:rPr>
              <a:t>产品概念示意，金额非真实经营结果</a:t>
            </a:r>
          </a:p>
        </p:txBody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95A0F2CA-0B74-49E7-ADA3-514E04D123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63325" y="6467475"/>
            <a:ext cx="4000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FFFFFF">
                    <a:alpha val="47843"/>
                  </a:srgbClr>
                </a:solidFill>
                <a:latin typeface="DIN Alternate"/>
                <a:ea typeface="DIN Alternate"/>
                <a:cs typeface="DIN Alternate"/>
              </a:defRPr>
            </a:pPr>
            <a:r>
              <a:rPr sz="900" b="0">
                <a:solidFill>
                  <a:srgbClr val="FFFFFF">
                    <a:alpha val="47843"/>
                  </a:srgbClr>
                </a:solidFill>
                <a:latin typeface="DIN Alternate"/>
                <a:ea typeface="DIN Alternate"/>
                <a:cs typeface="DIN Alternate"/>
              </a:rPr>
              <a:t>03</a:t>
            </a:r>
          </a:p>
        </p:txBody>
      </p:sp>
    </p:spTree>
    <p:extLst>
      <p:ext uri="{BB962C8B-B14F-4D97-AF65-F5344CB8AC3E}">
        <p14:creationId xmlns:p14="http://schemas.microsoft.com/office/powerpoint/2010/main" val="909237205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5F2F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0" name="">
            <a:extLst xmlns:a="http://schemas.openxmlformats.org/drawingml/2006/main">
              <a:ext uri="{FF2B5EF4-FFF2-40B4-BE49-F238E27FC236}">
                <a16:creationId xmlns:a16="http://schemas.microsoft.com/office/drawing/2014/main" id="{62CCA35F-AA23-455A-A350-3604F85D14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4000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2A183B"/>
                </a:solidFill>
                <a:latin typeface="PingFang SC"/>
                <a:ea typeface="PingFang SC"/>
                <a:cs typeface="PingFang SC"/>
              </a:defRPr>
            </a:pPr>
            <a:r>
              <a:rPr sz="900" b="1">
                <a:solidFill>
                  <a:srgbClr val="2A183B"/>
                </a:solidFill>
                <a:latin typeface="PingFang SC"/>
                <a:ea typeface="PingFang SC"/>
                <a:cs typeface="PingFang SC"/>
              </a:rPr>
              <a:t>小程序示意 / 决策驾驶舱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A6C6ACA-082A-4325-B212-0E12DA16C9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19125"/>
            <a:ext cx="108585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211D27"/>
                </a:solidFill>
                <a:latin typeface="PingFang SC"/>
                <a:ea typeface="PingFang SC"/>
                <a:cs typeface="PingFang SC"/>
              </a:defRPr>
            </a:pPr>
            <a:r>
              <a:rPr sz="2550" b="1">
                <a:solidFill>
                  <a:srgbClr val="211D27"/>
                </a:solidFill>
                <a:latin typeface="PingFang SC"/>
                <a:ea typeface="PingFang SC"/>
                <a:cs typeface="PingFang SC"/>
              </a:rPr>
              <a:t>每个选择都立即反映到收益、保本线和风险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4522526-DD14-44F1-AF76-CB202F757D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33475"/>
            <a:ext cx="10572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665F6B"/>
                </a:solidFill>
                <a:latin typeface="PingFang SC"/>
                <a:ea typeface="PingFang SC"/>
                <a:cs typeface="PingFang SC"/>
              </a:defRPr>
            </a:pPr>
            <a:r>
              <a:rPr sz="1200" b="0">
                <a:solidFill>
                  <a:srgbClr val="665F6B"/>
                </a:solidFill>
                <a:latin typeface="PingFang SC"/>
                <a:ea typeface="PingFang SC"/>
                <a:cs typeface="PingFang SC"/>
              </a:rPr>
              <a:t>Agent 推荐候选组合，确定性代码完成财务重算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133C59B-322C-4670-988E-4E1BDC11A8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457325"/>
            <a:ext cx="3371850" cy="4933950"/>
          </a:xfrm>
          <a:prstGeom xmlns:a="http://schemas.openxmlformats.org/drawingml/2006/main" prst="roundRect">
            <a:avLst>
              <a:gd name="adj" fmla="val 9605"/>
            </a:avLst>
          </a:prstGeom>
          <a:solidFill xmlns:a="http://schemas.openxmlformats.org/drawingml/2006/main">
            <a:srgbClr val="211D27"/>
          </a:solidFill>
          <a:ln xmlns:a="http://schemas.openxmlformats.org/drawingml/2006/main" w="11430">
            <a:solidFill>
              <a:srgbClr val="FFFFFF">
                <a:alpha val="21961"/>
              </a:srgbClr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7"/>
          <a:fontRef xmlns:a="http://schemas.openxmlformats.org/drawingml/2006/main" idx="major"/>
        </p:style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B01E977-D1E0-4CA5-96A6-A1E4B21E60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" y="1543050"/>
            <a:ext cx="3200400" cy="4762500"/>
          </a:xfrm>
          <a:prstGeom xmlns:a="http://schemas.openxmlformats.org/drawingml/2006/main" prst="roundRect">
            <a:avLst>
              <a:gd name="adj" fmla="val 8036"/>
            </a:avLst>
          </a:prstGeom>
          <a:solidFill xmlns:a="http://schemas.openxmlformats.org/drawingml/2006/main">
            <a:srgbClr val="F5F2F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505BC27-CC90-4836-874F-045B19D71A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38350" y="1619250"/>
            <a:ext cx="666750" cy="1714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0D0B1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E483AAD-C278-40B3-A55E-3F87F157D3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00450" y="1666875"/>
            <a:ext cx="57150" cy="571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>
              <a:alpha val="47843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952BD6B-5D04-4C5E-9821-A901864CCD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1905000"/>
            <a:ext cx="1047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211D27"/>
                </a:solidFill>
                <a:latin typeface="PingFang SC"/>
                <a:ea typeface="PingFang SC"/>
                <a:cs typeface="PingFang SC"/>
              </a:defRPr>
            </a:pPr>
            <a:r>
              <a:rPr sz="1125" b="1">
                <a:solidFill>
                  <a:srgbClr val="211D27"/>
                </a:solidFill>
                <a:latin typeface="PingFang SC"/>
                <a:ea typeface="PingFang SC"/>
                <a:cs typeface="PingFang SC"/>
              </a:rPr>
              <a:t>项目判断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87531B6-E66C-4D71-AAFB-2C4AFFFB10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38375" y="1885950"/>
            <a:ext cx="1495425" cy="2857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73E0BD">
              <a:alpha val="12549"/>
            </a:srgbClr>
          </a:solidFill>
          <a:ln xmlns:a="http://schemas.openxmlformats.org/drawingml/2006/main" w="9525">
            <a:solidFill>
              <a:srgbClr val="73E0BD">
                <a:alpha val="50196"/>
              </a:srgbClr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49D5865-F47C-4B0C-AA7E-F94F7A294F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33625" y="1885950"/>
            <a:ext cx="13049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147356"/>
                </a:solidFill>
                <a:latin typeface="PingFang SC"/>
                <a:ea typeface="PingFang SC"/>
                <a:cs typeface="PingFang SC"/>
              </a:defRPr>
            </a:pPr>
            <a:r>
              <a:rPr sz="900" b="1">
                <a:solidFill>
                  <a:srgbClr val="147356"/>
                </a:solidFill>
                <a:latin typeface="PingFang SC"/>
                <a:ea typeface="PingFang SC"/>
                <a:cs typeface="PingFang SC"/>
              </a:rPr>
              <a:t>条件满足后推进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67887A4-9B45-441C-8F7A-C78373F931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314575"/>
            <a:ext cx="1143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665F6B"/>
                </a:solidFill>
                <a:latin typeface="PingFang SC"/>
                <a:ea typeface="PingFang SC"/>
                <a:cs typeface="PingFang SC"/>
              </a:defRPr>
            </a:pPr>
            <a:r>
              <a:rPr sz="900" b="0">
                <a:solidFill>
                  <a:srgbClr val="665F6B"/>
                </a:solidFill>
                <a:latin typeface="PingFang SC"/>
                <a:ea typeface="PingFang SC"/>
                <a:cs typeface="PingFang SC"/>
              </a:rPr>
              <a:t>中性利润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3414F58-7D3B-4B86-81F5-9C6C39B94C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514600"/>
            <a:ext cx="1619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167A59"/>
                </a:solidFill>
                <a:latin typeface="DIN Alternate"/>
                <a:ea typeface="DIN Alternate"/>
                <a:cs typeface="DIN Alternate"/>
              </a:defRPr>
            </a:pPr>
            <a:r>
              <a:rPr sz="2250" b="1">
                <a:solidFill>
                  <a:srgbClr val="167A59"/>
                </a:solidFill>
                <a:latin typeface="DIN Alternate"/>
                <a:ea typeface="DIN Alternate"/>
                <a:cs typeface="DIN Alternate"/>
              </a:rPr>
              <a:t>+286 万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116CE68-CB52-419B-AB6D-8AE543EB17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14600" y="2600325"/>
            <a:ext cx="12192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211D27"/>
                </a:solidFill>
                <a:latin typeface="DIN Alternate"/>
                <a:ea typeface="DIN Alternate"/>
                <a:cs typeface="DIN Alternate"/>
              </a:defRPr>
            </a:pPr>
            <a:r>
              <a:rPr sz="1050" b="1">
                <a:solidFill>
                  <a:srgbClr val="211D27"/>
                </a:solidFill>
                <a:latin typeface="DIN Alternate"/>
                <a:ea typeface="DIN Alternate"/>
                <a:cs typeface="DIN Alternate"/>
              </a:rPr>
              <a:t>保本上座率 67%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C9ADAA7-BC92-47A3-9587-D16791A99F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009900"/>
            <a:ext cx="3028950" cy="1743075"/>
          </a:xfrm>
          <a:prstGeom xmlns:a="http://schemas.openxmlformats.org/drawingml/2006/main" prst="roundRect">
            <a:avLst>
              <a:gd name="adj" fmla="val 874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0D8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9734B57-8CF8-408A-8456-150C1E171E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3133725"/>
            <a:ext cx="1714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211D27"/>
                </a:solidFill>
                <a:latin typeface="PingFang SC"/>
                <a:ea typeface="PingFang SC"/>
                <a:cs typeface="PingFang SC"/>
              </a:defRPr>
            </a:pPr>
            <a:r>
              <a:rPr sz="1050" b="1">
                <a:solidFill>
                  <a:srgbClr val="211D27"/>
                </a:solidFill>
                <a:latin typeface="PingFang SC"/>
                <a:ea typeface="PingFang SC"/>
                <a:cs typeface="PingFang SC"/>
              </a:rPr>
              <a:t>三种情景利润曲线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0917627-4E11-437F-9450-C4F2D3A0A4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1028700" y="3514725"/>
            <a:ext cx="26860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8D0D8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ADAE72AE-8BE7-4967-B02F-25CC7769F3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1028700" y="3810000"/>
            <a:ext cx="26860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8D0D8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FC3AD331-71F0-42CB-B855-A22D350FFE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1028700" y="4105275"/>
            <a:ext cx="26860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8D0D8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5175EEF5-5B3E-43F5-A151-7E332B7C6B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1028700" y="4400550"/>
            <a:ext cx="26860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8D0D8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3C1043C5-9DF4-4683-84D0-53BA7D1C9F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1171575" y="3429000"/>
            <a:ext cx="0" cy="113347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8D0D8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95AAC8EA-D257-4224-ABAA-F9794973EE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1">
            <a:off x="1181100" y="4305300"/>
            <a:ext cx="533400" cy="1905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5718">
            <a:solidFill>
              <a:srgbClr val="73E0BD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6081FFE4-E0EA-48BE-88AF-22F6986971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1">
            <a:off x="1714500" y="4105275"/>
            <a:ext cx="581025" cy="2000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5718">
            <a:solidFill>
              <a:srgbClr val="73E0BD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C53C68BC-E2E7-4FA6-9FCA-184C2E45DA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1">
            <a:off x="2295525" y="3857625"/>
            <a:ext cx="561975" cy="2476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5718">
            <a:solidFill>
              <a:srgbClr val="73E0BD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2B0A7E9C-53C2-417E-8BD1-F89A73B1E5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1">
            <a:off x="2857500" y="3581400"/>
            <a:ext cx="704850" cy="2762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5718">
            <a:solidFill>
              <a:srgbClr val="73E0BD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1618B68E-FBF6-48D9-ABEA-665B647911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1">
            <a:off x="1181100" y="4486275"/>
            <a:ext cx="533400" cy="952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5718">
            <a:solidFill>
              <a:srgbClr val="A38BFF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4CA967EA-A9A9-40B4-A423-D0167BA436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1">
            <a:off x="1714500" y="4286250"/>
            <a:ext cx="581025" cy="2000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5718">
            <a:solidFill>
              <a:srgbClr val="A38BFF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79ED32C7-4E59-455E-A6F9-F3E40CC9BF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1">
            <a:off x="2295525" y="4086225"/>
            <a:ext cx="561975" cy="2000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5718">
            <a:solidFill>
              <a:srgbClr val="A38BFF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49C4E774-3BE2-4914-84A5-2ACB6B1784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1">
            <a:off x="2857500" y="3829050"/>
            <a:ext cx="704850" cy="25717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5718">
            <a:solidFill>
              <a:srgbClr val="A38BFF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8D129223-C813-4AD4-8F42-B0F328A9B2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1">
            <a:off x="1181100" y="4638675"/>
            <a:ext cx="533400" cy="381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5718">
            <a:solidFill>
              <a:srgbClr val="FF6B59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1C19E63E-6F4E-419E-AFE6-6067A5DB84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1">
            <a:off x="1714500" y="4562475"/>
            <a:ext cx="581025" cy="762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5718">
            <a:solidFill>
              <a:srgbClr val="FF6B59"/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FEE83FCB-4CE1-4AA2-8453-C734F8FFC4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1">
            <a:off x="2295525" y="4438650"/>
            <a:ext cx="561975" cy="1238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5718">
            <a:solidFill>
              <a:srgbClr val="FF6B59"/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80AEF773-64D2-46C2-AFF5-66801CAC36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1">
            <a:off x="2857500" y="4257675"/>
            <a:ext cx="704850" cy="18097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5718">
            <a:solidFill>
              <a:srgbClr val="FF6B59"/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B7C54F78-2CCA-46AE-9CB8-675F0CA83B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2724150" y="3448050"/>
            <a:ext cx="0" cy="12287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1430">
            <a:solidFill>
              <a:srgbClr val="211D27"/>
            </a:solidFill>
            <a:prstDash val="dash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52494429-B029-4995-B351-DBD866FF4E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71775" y="4533900"/>
            <a:ext cx="68580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665F6B"/>
                </a:solidFill>
                <a:latin typeface="PingFang SC"/>
                <a:ea typeface="PingFang SC"/>
                <a:cs typeface="PingFang SC"/>
              </a:defRPr>
            </a:pPr>
            <a:r>
              <a:rPr sz="750" b="0">
                <a:solidFill>
                  <a:srgbClr val="665F6B"/>
                </a:solidFill>
                <a:latin typeface="PingFang SC"/>
                <a:ea typeface="PingFang SC"/>
                <a:cs typeface="PingFang SC"/>
              </a:rPr>
              <a:t>67% 保本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E30841EC-4380-4B11-BECD-9C370BC0A2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4972050"/>
            <a:ext cx="3028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211D27"/>
                </a:solidFill>
                <a:latin typeface="PingFang SC"/>
                <a:ea typeface="PingFang SC"/>
                <a:cs typeface="PingFang SC"/>
              </a:defRPr>
            </a:pPr>
            <a:r>
              <a:rPr sz="1125" b="1">
                <a:solidFill>
                  <a:srgbClr val="211D27"/>
                </a:solidFill>
                <a:latin typeface="PingFang SC"/>
                <a:ea typeface="PingFang SC"/>
                <a:cs typeface="PingFang SC"/>
              </a:rPr>
              <a:t>当前组合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A98B16FF-02BC-4ECD-BACE-254C7AF7A5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5295900"/>
            <a:ext cx="1028700" cy="2857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A38BFF">
              <a:alpha val="14118"/>
            </a:srgbClr>
          </a:solidFill>
          <a:ln xmlns:a="http://schemas.openxmlformats.org/drawingml/2006/main" w="9525">
            <a:solidFill>
              <a:srgbClr val="A38BFF"/>
            </a:solidFill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25730668-E808-4678-A139-00C4F01A35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5295900"/>
            <a:ext cx="8382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2A183B"/>
                </a:solidFill>
                <a:latin typeface="PingFang SC"/>
                <a:ea typeface="PingFang SC"/>
                <a:cs typeface="PingFang SC"/>
              </a:defRPr>
            </a:pPr>
            <a:r>
              <a:rPr sz="900" b="1">
                <a:solidFill>
                  <a:srgbClr val="2A183B"/>
                </a:solidFill>
                <a:latin typeface="PingFang SC"/>
                <a:ea typeface="PingFang SC"/>
                <a:cs typeface="PingFang SC"/>
              </a:rPr>
              <a:t>艺人组合 B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14F7A69D-EC6C-47BA-BB27-F1C53E59E9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62150" y="5295900"/>
            <a:ext cx="590550" cy="2857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0D8"/>
            </a:solidFill>
            <a:prstDash val="solid"/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EA3A1A7A-9683-43C1-BF50-7A838386D6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57400" y="5295900"/>
            <a:ext cx="4000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211D27"/>
                </a:solidFill>
                <a:latin typeface="PingFang SC"/>
                <a:ea typeface="PingFang SC"/>
                <a:cs typeface="PingFang SC"/>
              </a:defRPr>
            </a:pPr>
            <a:r>
              <a:rPr sz="900" b="1">
                <a:solidFill>
                  <a:srgbClr val="211D27"/>
                </a:solidFill>
                <a:latin typeface="PingFang SC"/>
                <a:ea typeface="PingFang SC"/>
                <a:cs typeface="PingFang SC"/>
              </a:rPr>
              <a:t>南京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0A5CBBC9-3332-4AA5-8104-F5A3F1BE7F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28900" y="5295900"/>
            <a:ext cx="590550" cy="2857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0D8"/>
            </a:solidFill>
            <a:prstDash val="solid"/>
          </a:ln>
        </p:spPr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DC9268DC-67B5-468D-8A9B-4C05D1167B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24150" y="5295900"/>
            <a:ext cx="4000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211D27"/>
                </a:solidFill>
                <a:latin typeface="PingFang SC"/>
                <a:ea typeface="PingFang SC"/>
                <a:cs typeface="PingFang SC"/>
              </a:defRPr>
            </a:pPr>
            <a:r>
              <a:rPr sz="900" b="1">
                <a:solidFill>
                  <a:srgbClr val="211D27"/>
                </a:solidFill>
                <a:latin typeface="PingFang SC"/>
                <a:ea typeface="PingFang SC"/>
                <a:cs typeface="PingFang SC"/>
              </a:rPr>
              <a:t>10 月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79F3174B-6C2B-4BB2-BBEC-6BA8ADBFAE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95650" y="5295900"/>
            <a:ext cx="762000" cy="2857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0D8"/>
            </a:solidFill>
            <a:prstDash val="solid"/>
          </a:ln>
        </p:spPr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2BC19685-9F47-450F-9A2F-2817AF23B8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90900" y="5295900"/>
            <a:ext cx="571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211D27"/>
                </a:solidFill>
                <a:latin typeface="PingFang SC"/>
                <a:ea typeface="PingFang SC"/>
                <a:cs typeface="PingFang SC"/>
              </a:defRPr>
            </a:pPr>
            <a:r>
              <a:rPr sz="900" b="1">
                <a:solidFill>
                  <a:srgbClr val="211D27"/>
                </a:solidFill>
                <a:latin typeface="PingFang SC"/>
                <a:ea typeface="PingFang SC"/>
                <a:cs typeface="PingFang SC"/>
              </a:rPr>
              <a:t>12,000 席</a:t>
            </a:r>
          </a:p>
        </p:txBody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78155870-5534-4E5F-89B4-49A5337658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5724525"/>
            <a:ext cx="3028950" cy="628650"/>
          </a:xfrm>
          <a:prstGeom xmlns:a="http://schemas.openxmlformats.org/drawingml/2006/main" prst="roundRect">
            <a:avLst>
              <a:gd name="adj" fmla="val 19697"/>
            </a:avLst>
          </a:prstGeom>
          <a:solidFill xmlns:a="http://schemas.openxmlformats.org/drawingml/2006/main">
            <a:srgbClr val="2A183B">
              <a:alpha val="5490"/>
            </a:srgbClr>
          </a:solidFill>
          <a:ln xmlns:a="http://schemas.openxmlformats.org/drawingml/2006/main" w="9525">
            <a:solidFill>
              <a:srgbClr val="A38BFF">
                <a:alpha val="33333"/>
              </a:srgbClr>
            </a:solidFill>
            <a:prstDash val="solid"/>
          </a:ln>
        </p:spPr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C9602FB7-A766-478C-8ACB-3F4895A600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5810250"/>
            <a:ext cx="8763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2A183B"/>
                </a:solidFill>
                <a:latin typeface="PingFang SC"/>
                <a:ea typeface="PingFang SC"/>
                <a:cs typeface="PingFang SC"/>
              </a:defRPr>
            </a:pPr>
            <a:r>
              <a:rPr sz="900" b="1">
                <a:solidFill>
                  <a:srgbClr val="2A183B"/>
                </a:solidFill>
                <a:latin typeface="PingFang SC"/>
                <a:ea typeface="PingFang SC"/>
                <a:cs typeface="PingFang SC"/>
              </a:rPr>
              <a:t>为什么推荐</a:t>
            </a:r>
          </a:p>
        </p:txBody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8E652378-C299-4104-8A0B-8E5BB23277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6029325"/>
            <a:ext cx="2762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665F6B"/>
                </a:solidFill>
                <a:latin typeface="PingFang SC"/>
                <a:ea typeface="PingFang SC"/>
                <a:cs typeface="PingFang SC"/>
              </a:defRPr>
            </a:pPr>
            <a:r>
              <a:rPr sz="900" b="0">
                <a:solidFill>
                  <a:srgbClr val="665F6B"/>
                </a:solidFill>
                <a:latin typeface="PingFang SC"/>
                <a:ea typeface="PingFang SC"/>
                <a:cs typeface="PingFang SC"/>
              </a:rPr>
              <a:t>8 个相似案例支持；仍需核验场馆报价与艺人授权。</a:t>
            </a:r>
          </a:p>
        </p:txBody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298971C4-22F7-42ED-85FF-B35EEC4FEB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81575" y="1771650"/>
            <a:ext cx="3238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211D27"/>
                </a:solidFill>
                <a:latin typeface="PingFang SC"/>
                <a:ea typeface="PingFang SC"/>
                <a:cs typeface="PingFang SC"/>
              </a:defRPr>
            </a:pPr>
            <a:r>
              <a:rPr sz="1875" b="1">
                <a:solidFill>
                  <a:srgbClr val="211D27"/>
                </a:solidFill>
                <a:latin typeface="PingFang SC"/>
                <a:ea typeface="PingFang SC"/>
                <a:cs typeface="PingFang SC"/>
              </a:rPr>
              <a:t>组合优化面板</a:t>
            </a:r>
          </a:p>
        </p:txBody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4FC56B9C-022D-44D9-853E-B24065F4BA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81575" y="2190750"/>
            <a:ext cx="528637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665F6B"/>
                </a:solidFill>
                <a:latin typeface="PingFang SC"/>
                <a:ea typeface="PingFang SC"/>
                <a:cs typeface="PingFang SC"/>
              </a:defRPr>
            </a:pPr>
            <a:r>
              <a:rPr sz="1200" b="0">
                <a:solidFill>
                  <a:srgbClr val="665F6B"/>
                </a:solidFill>
                <a:latin typeface="PingFang SC"/>
                <a:ea typeface="PingFang SC"/>
                <a:cs typeface="PingFang SC"/>
              </a:rPr>
              <a:t>用户更换一个条件，系统立即重算所有情景。</a:t>
            </a:r>
          </a:p>
        </p:txBody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D7C37C87-8DF2-4E66-84B7-20995C6800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81575" y="2724150"/>
            <a:ext cx="666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665F6B"/>
                </a:solidFill>
                <a:latin typeface="PingFang SC"/>
                <a:ea typeface="PingFang SC"/>
                <a:cs typeface="PingFang SC"/>
              </a:defRPr>
            </a:pPr>
            <a:r>
              <a:rPr sz="1050" b="1">
                <a:solidFill>
                  <a:srgbClr val="665F6B"/>
                </a:solidFill>
                <a:latin typeface="PingFang SC"/>
                <a:ea typeface="PingFang SC"/>
                <a:cs typeface="PingFang SC"/>
              </a:rPr>
              <a:t>艺人</a:t>
            </a:r>
          </a:p>
        </p:txBody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A21A7C1E-3A63-4261-80C1-3A50E6F711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62625" y="2724150"/>
            <a:ext cx="2381250" cy="323850"/>
          </a:xfrm>
          <a:prstGeom xmlns:a="http://schemas.openxmlformats.org/drawingml/2006/main" prst="roundRect">
            <a:avLst>
              <a:gd name="adj" fmla="val 3235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0D8"/>
            </a:solidFill>
            <a:prstDash val="solid"/>
          </a:ln>
        </p:spPr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029DDE0C-7ABB-4714-AEFB-C1137A58D9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0" y="2724150"/>
            <a:ext cx="2095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211D27"/>
                </a:solidFill>
                <a:latin typeface="PingFang SC"/>
                <a:ea typeface="PingFang SC"/>
                <a:cs typeface="PingFang SC"/>
              </a:defRPr>
            </a:pPr>
            <a:r>
              <a:rPr sz="1125" b="1">
                <a:solidFill>
                  <a:srgbClr val="211D27"/>
                </a:solidFill>
                <a:latin typeface="PingFang SC"/>
                <a:ea typeface="PingFang SC"/>
                <a:cs typeface="PingFang SC"/>
              </a:rPr>
              <a:t>组合 B</a:t>
            </a:r>
          </a:p>
        </p:txBody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64905A4B-750D-4F1B-9E0E-814F5CE5F6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53425" y="2724150"/>
            <a:ext cx="2076450" cy="323850"/>
          </a:xfrm>
          <a:prstGeom xmlns:a="http://schemas.openxmlformats.org/drawingml/2006/main" prst="roundRect">
            <a:avLst>
              <a:gd name="adj" fmla="val 32353"/>
            </a:avLst>
          </a:prstGeom>
          <a:solidFill xmlns:a="http://schemas.openxmlformats.org/drawingml/2006/main">
            <a:srgbClr val="A38BFF">
              <a:alpha val="9412"/>
            </a:srgbClr>
          </a:solidFill>
          <a:ln xmlns:a="http://schemas.openxmlformats.org/drawingml/2006/main" w="9525">
            <a:solidFill>
              <a:srgbClr val="A38BFF">
                <a:alpha val="43922"/>
              </a:srgbClr>
            </a:solidFill>
            <a:prstDash val="solid"/>
          </a:ln>
        </p:spPr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ABAD9D69-25CF-4CA2-A11C-B1E6C43973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86775" y="2724150"/>
            <a:ext cx="1809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A38BFF"/>
                </a:solidFill>
                <a:latin typeface="PingFang SC"/>
                <a:ea typeface="PingFang SC"/>
                <a:cs typeface="PingFang SC"/>
              </a:defRPr>
            </a:pPr>
            <a:r>
              <a:rPr sz="975" b="1">
                <a:solidFill>
                  <a:srgbClr val="A38BFF"/>
                </a:solidFill>
                <a:latin typeface="PingFang SC"/>
                <a:ea typeface="PingFang SC"/>
                <a:cs typeface="PingFang SC"/>
              </a:rPr>
              <a:t>预计收益最高</a:t>
            </a:r>
          </a:p>
        </p:txBody>
      </p: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68D33B45-C433-45B3-8790-A9C121295F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81575" y="3267075"/>
            <a:ext cx="666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665F6B"/>
                </a:solidFill>
                <a:latin typeface="PingFang SC"/>
                <a:ea typeface="PingFang SC"/>
                <a:cs typeface="PingFang SC"/>
              </a:defRPr>
            </a:pPr>
            <a:r>
              <a:rPr sz="1050" b="1">
                <a:solidFill>
                  <a:srgbClr val="665F6B"/>
                </a:solidFill>
                <a:latin typeface="PingFang SC"/>
                <a:ea typeface="PingFang SC"/>
                <a:cs typeface="PingFang SC"/>
              </a:rPr>
              <a:t>城市</a:t>
            </a:r>
          </a:p>
        </p:txBody>
      </p:sp>
      <p:sp>
        <p:nv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AADA5417-86AD-43BA-8ACF-F2FBA3FD70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62625" y="3267075"/>
            <a:ext cx="2381250" cy="323850"/>
          </a:xfrm>
          <a:prstGeom xmlns:a="http://schemas.openxmlformats.org/drawingml/2006/main" prst="roundRect">
            <a:avLst>
              <a:gd name="adj" fmla="val 3235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0D8"/>
            </a:solidFill>
            <a:prstDash val="solid"/>
          </a:ln>
        </p:spPr>
      </p:sp>
      <p:sp>
        <p:nvSpPr>
          <p:cNvPr id="56" name="">
            <a:extLst xmlns:a="http://schemas.openxmlformats.org/drawingml/2006/main">
              <a:ext uri="{FF2B5EF4-FFF2-40B4-BE49-F238E27FC236}">
                <a16:creationId xmlns:a16="http://schemas.microsoft.com/office/drawing/2014/main" id="{1ABE55A5-91D1-48F8-B3D8-AA37ED451D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0" y="3267075"/>
            <a:ext cx="2095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211D27"/>
                </a:solidFill>
                <a:latin typeface="PingFang SC"/>
                <a:ea typeface="PingFang SC"/>
                <a:cs typeface="PingFang SC"/>
              </a:defRPr>
            </a:pPr>
            <a:r>
              <a:rPr sz="1125" b="1">
                <a:solidFill>
                  <a:srgbClr val="211D27"/>
                </a:solidFill>
                <a:latin typeface="PingFang SC"/>
                <a:ea typeface="PingFang SC"/>
                <a:cs typeface="PingFang SC"/>
              </a:rPr>
              <a:t>南京</a:t>
            </a:r>
          </a:p>
        </p:txBody>
      </p:sp>
      <p:sp>
        <p:nvSpPr>
          <p:cNvPr id="57" name="">
            <a:extLst xmlns:a="http://schemas.openxmlformats.org/drawingml/2006/main">
              <a:ext uri="{FF2B5EF4-FFF2-40B4-BE49-F238E27FC236}">
                <a16:creationId xmlns:a16="http://schemas.microsoft.com/office/drawing/2014/main" id="{21D0CF8C-28F3-4324-9D30-F3E30BCD2F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53425" y="3267075"/>
            <a:ext cx="2076450" cy="323850"/>
          </a:xfrm>
          <a:prstGeom xmlns:a="http://schemas.openxmlformats.org/drawingml/2006/main" prst="roundRect">
            <a:avLst>
              <a:gd name="adj" fmla="val 32353"/>
            </a:avLst>
          </a:prstGeom>
          <a:solidFill xmlns:a="http://schemas.openxmlformats.org/drawingml/2006/main">
            <a:srgbClr val="6DD7F5">
              <a:alpha val="9412"/>
            </a:srgbClr>
          </a:solidFill>
          <a:ln xmlns:a="http://schemas.openxmlformats.org/drawingml/2006/main" w="9525">
            <a:solidFill>
              <a:srgbClr val="6DD7F5">
                <a:alpha val="43922"/>
              </a:srgbClr>
            </a:solidFill>
            <a:prstDash val="solid"/>
          </a:ln>
        </p:spPr>
      </p:sp>
      <p:sp>
        <p:nvSpPr>
          <p:cNvPr id="58" name="">
            <a:extLst xmlns:a="http://schemas.openxmlformats.org/drawingml/2006/main">
              <a:ext uri="{FF2B5EF4-FFF2-40B4-BE49-F238E27FC236}">
                <a16:creationId xmlns:a16="http://schemas.microsoft.com/office/drawing/2014/main" id="{66BD43FF-D8D0-4DC5-9D50-DAC1E5DF8B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86775" y="3267075"/>
            <a:ext cx="1809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6DD7F5"/>
                </a:solidFill>
                <a:latin typeface="PingFang SC"/>
                <a:ea typeface="PingFang SC"/>
                <a:cs typeface="PingFang SC"/>
              </a:defRPr>
            </a:pPr>
            <a:r>
              <a:rPr sz="975" b="1">
                <a:solidFill>
                  <a:srgbClr val="6DD7F5"/>
                </a:solidFill>
                <a:latin typeface="PingFang SC"/>
                <a:ea typeface="PingFang SC"/>
                <a:cs typeface="PingFang SC"/>
              </a:rPr>
              <a:t>已纳入重算</a:t>
            </a:r>
          </a:p>
        </p:txBody>
      </p:sp>
      <p:sp>
        <p:nvSpPr>
          <p:cNvPr id="59" name="">
            <a:extLst xmlns:a="http://schemas.openxmlformats.org/drawingml/2006/main">
              <a:ext uri="{FF2B5EF4-FFF2-40B4-BE49-F238E27FC236}">
                <a16:creationId xmlns:a16="http://schemas.microsoft.com/office/drawing/2014/main" id="{BE6BFD5B-2EAC-4D3C-8874-E99ED06971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81575" y="3810000"/>
            <a:ext cx="666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665F6B"/>
                </a:solidFill>
                <a:latin typeface="PingFang SC"/>
                <a:ea typeface="PingFang SC"/>
                <a:cs typeface="PingFang SC"/>
              </a:defRPr>
            </a:pPr>
            <a:r>
              <a:rPr sz="1050" b="1">
                <a:solidFill>
                  <a:srgbClr val="665F6B"/>
                </a:solidFill>
                <a:latin typeface="PingFang SC"/>
                <a:ea typeface="PingFang SC"/>
                <a:cs typeface="PingFang SC"/>
              </a:rPr>
              <a:t>日期</a:t>
            </a:r>
          </a:p>
        </p:txBody>
      </p:sp>
      <p:sp>
        <p:nvSpPr>
          <p:cNvPr id="60" name="">
            <a:extLst xmlns:a="http://schemas.openxmlformats.org/drawingml/2006/main">
              <a:ext uri="{FF2B5EF4-FFF2-40B4-BE49-F238E27FC236}">
                <a16:creationId xmlns:a16="http://schemas.microsoft.com/office/drawing/2014/main" id="{D0047183-B08C-4224-814D-0B0BD5EAD0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62625" y="3810000"/>
            <a:ext cx="2381250" cy="323850"/>
          </a:xfrm>
          <a:prstGeom xmlns:a="http://schemas.openxmlformats.org/drawingml/2006/main" prst="roundRect">
            <a:avLst>
              <a:gd name="adj" fmla="val 3235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0D8"/>
            </a:solidFill>
            <a:prstDash val="solid"/>
          </a:ln>
        </p:spPr>
      </p:sp>
      <p:sp>
        <p:nvSpPr>
          <p:cNvPr id="61" name="">
            <a:extLst xmlns:a="http://schemas.openxmlformats.org/drawingml/2006/main">
              <a:ext uri="{FF2B5EF4-FFF2-40B4-BE49-F238E27FC236}">
                <a16:creationId xmlns:a16="http://schemas.microsoft.com/office/drawing/2014/main" id="{45959F32-3E18-4C71-AFE0-9E9ACCB069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0" y="3810000"/>
            <a:ext cx="2095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211D27"/>
                </a:solidFill>
                <a:latin typeface="PingFang SC"/>
                <a:ea typeface="PingFang SC"/>
                <a:cs typeface="PingFang SC"/>
              </a:defRPr>
            </a:pPr>
            <a:r>
              <a:rPr sz="1125" b="1">
                <a:solidFill>
                  <a:srgbClr val="211D27"/>
                </a:solidFill>
                <a:latin typeface="PingFang SC"/>
                <a:ea typeface="PingFang SC"/>
                <a:cs typeface="PingFang SC"/>
              </a:rPr>
              <a:t>10 月 3 日</a:t>
            </a:r>
          </a:p>
        </p:txBody>
      </p:sp>
      <p:sp>
        <p:nvSpPr>
          <p:cNvPr id="62" name="">
            <a:extLst xmlns:a="http://schemas.openxmlformats.org/drawingml/2006/main">
              <a:ext uri="{FF2B5EF4-FFF2-40B4-BE49-F238E27FC236}">
                <a16:creationId xmlns:a16="http://schemas.microsoft.com/office/drawing/2014/main" id="{3EA5F9E7-9493-4D06-9102-760BCF70D4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53425" y="3810000"/>
            <a:ext cx="2076450" cy="323850"/>
          </a:xfrm>
          <a:prstGeom xmlns:a="http://schemas.openxmlformats.org/drawingml/2006/main" prst="roundRect">
            <a:avLst>
              <a:gd name="adj" fmla="val 32353"/>
            </a:avLst>
          </a:prstGeom>
          <a:solidFill xmlns:a="http://schemas.openxmlformats.org/drawingml/2006/main">
            <a:srgbClr val="FF6B59">
              <a:alpha val="9412"/>
            </a:srgbClr>
          </a:solidFill>
          <a:ln xmlns:a="http://schemas.openxmlformats.org/drawingml/2006/main" w="9525">
            <a:solidFill>
              <a:srgbClr val="FF6B59">
                <a:alpha val="43922"/>
              </a:srgbClr>
            </a:solidFill>
            <a:prstDash val="solid"/>
          </a:ln>
        </p:spPr>
      </p:sp>
      <p:sp>
        <p:nvSpPr>
          <p:cNvPr id="63" name="">
            <a:extLst xmlns:a="http://schemas.openxmlformats.org/drawingml/2006/main">
              <a:ext uri="{FF2B5EF4-FFF2-40B4-BE49-F238E27FC236}">
                <a16:creationId xmlns:a16="http://schemas.microsoft.com/office/drawing/2014/main" id="{3834342B-650B-416E-92C3-A91BA8128B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86775" y="3810000"/>
            <a:ext cx="1809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FF6B59"/>
                </a:solidFill>
                <a:latin typeface="PingFang SC"/>
                <a:ea typeface="PingFang SC"/>
                <a:cs typeface="PingFang SC"/>
              </a:defRPr>
            </a:pPr>
            <a:r>
              <a:rPr sz="975" b="1">
                <a:solidFill>
                  <a:srgbClr val="FF6B59"/>
                </a:solidFill>
                <a:latin typeface="PingFang SC"/>
                <a:ea typeface="PingFang SC"/>
                <a:cs typeface="PingFang SC"/>
              </a:rPr>
              <a:t>已纳入重算</a:t>
            </a:r>
          </a:p>
        </p:txBody>
      </p:sp>
      <p:sp>
        <p:nvSpPr>
          <p:cNvPr id="64" name="">
            <a:extLst xmlns:a="http://schemas.openxmlformats.org/drawingml/2006/main">
              <a:ext uri="{FF2B5EF4-FFF2-40B4-BE49-F238E27FC236}">
                <a16:creationId xmlns:a16="http://schemas.microsoft.com/office/drawing/2014/main" id="{45DE841E-D76D-4F65-A63F-7AC74CD40C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81575" y="4352925"/>
            <a:ext cx="666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665F6B"/>
                </a:solidFill>
                <a:latin typeface="PingFang SC"/>
                <a:ea typeface="PingFang SC"/>
                <a:cs typeface="PingFang SC"/>
              </a:defRPr>
            </a:pPr>
            <a:r>
              <a:rPr sz="1050" b="1">
                <a:solidFill>
                  <a:srgbClr val="665F6B"/>
                </a:solidFill>
                <a:latin typeface="PingFang SC"/>
                <a:ea typeface="PingFang SC"/>
                <a:cs typeface="PingFang SC"/>
              </a:rPr>
              <a:t>场馆</a:t>
            </a:r>
          </a:p>
        </p:txBody>
      </p:sp>
      <p:sp>
        <p:nvSpPr>
          <p:cNvPr id="65" name="">
            <a:extLst xmlns:a="http://schemas.openxmlformats.org/drawingml/2006/main">
              <a:ext uri="{FF2B5EF4-FFF2-40B4-BE49-F238E27FC236}">
                <a16:creationId xmlns:a16="http://schemas.microsoft.com/office/drawing/2014/main" id="{E0458370-A10F-438C-AF91-D56D3363B3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62625" y="4352925"/>
            <a:ext cx="2381250" cy="323850"/>
          </a:xfrm>
          <a:prstGeom xmlns:a="http://schemas.openxmlformats.org/drawingml/2006/main" prst="roundRect">
            <a:avLst>
              <a:gd name="adj" fmla="val 3235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0D8"/>
            </a:solidFill>
            <a:prstDash val="solid"/>
          </a:ln>
        </p:spPr>
      </p:sp>
      <p:sp>
        <p:nvSpPr>
          <p:cNvPr id="66" name="">
            <a:extLst xmlns:a="http://schemas.openxmlformats.org/drawingml/2006/main">
              <a:ext uri="{FF2B5EF4-FFF2-40B4-BE49-F238E27FC236}">
                <a16:creationId xmlns:a16="http://schemas.microsoft.com/office/drawing/2014/main" id="{13FD9725-50A1-44B9-9DA9-F6AFD31B6F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0" y="4352925"/>
            <a:ext cx="2095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211D27"/>
                </a:solidFill>
                <a:latin typeface="PingFang SC"/>
                <a:ea typeface="PingFang SC"/>
                <a:cs typeface="PingFang SC"/>
              </a:defRPr>
            </a:pPr>
            <a:r>
              <a:rPr sz="1125" b="1">
                <a:solidFill>
                  <a:srgbClr val="211D27"/>
                </a:solidFill>
                <a:latin typeface="PingFang SC"/>
                <a:ea typeface="PingFang SC"/>
                <a:cs typeface="PingFang SC"/>
              </a:rPr>
              <a:t>12,000 席</a:t>
            </a:r>
          </a:p>
        </p:txBody>
      </p:sp>
      <p:sp>
        <p:nvSpPr>
          <p:cNvPr id="67" name="">
            <a:extLst xmlns:a="http://schemas.openxmlformats.org/drawingml/2006/main">
              <a:ext uri="{FF2B5EF4-FFF2-40B4-BE49-F238E27FC236}">
                <a16:creationId xmlns:a16="http://schemas.microsoft.com/office/drawing/2014/main" id="{F887BAE6-8EBE-4296-BC0E-42A4BB0726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53425" y="4352925"/>
            <a:ext cx="2076450" cy="323850"/>
          </a:xfrm>
          <a:prstGeom xmlns:a="http://schemas.openxmlformats.org/drawingml/2006/main" prst="roundRect">
            <a:avLst>
              <a:gd name="adj" fmla="val 32353"/>
            </a:avLst>
          </a:prstGeom>
          <a:solidFill xmlns:a="http://schemas.openxmlformats.org/drawingml/2006/main">
            <a:srgbClr val="73E0BD">
              <a:alpha val="9412"/>
            </a:srgbClr>
          </a:solidFill>
          <a:ln xmlns:a="http://schemas.openxmlformats.org/drawingml/2006/main" w="9525">
            <a:solidFill>
              <a:srgbClr val="73E0BD">
                <a:alpha val="43922"/>
              </a:srgbClr>
            </a:solidFill>
            <a:prstDash val="solid"/>
          </a:ln>
        </p:spPr>
      </p:sp>
      <p:sp>
        <p:nvSpPr>
          <p:cNvPr id="68" name="">
            <a:extLst xmlns:a="http://schemas.openxmlformats.org/drawingml/2006/main">
              <a:ext uri="{FF2B5EF4-FFF2-40B4-BE49-F238E27FC236}">
                <a16:creationId xmlns:a16="http://schemas.microsoft.com/office/drawing/2014/main" id="{7BEC7803-9C51-4FE9-990C-CFBF716F9F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86775" y="4352925"/>
            <a:ext cx="1809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73E0BD"/>
                </a:solidFill>
                <a:latin typeface="PingFang SC"/>
                <a:ea typeface="PingFang SC"/>
                <a:cs typeface="PingFang SC"/>
              </a:defRPr>
            </a:pPr>
            <a:r>
              <a:rPr sz="975" b="1">
                <a:solidFill>
                  <a:srgbClr val="73E0BD"/>
                </a:solidFill>
                <a:latin typeface="PingFang SC"/>
                <a:ea typeface="PingFang SC"/>
                <a:cs typeface="PingFang SC"/>
              </a:rPr>
              <a:t>保本线下降</a:t>
            </a:r>
          </a:p>
        </p:txBody>
      </p:sp>
      <p:sp>
        <p:nvSpPr>
          <p:cNvPr id="69" name="">
            <a:extLst xmlns:a="http://schemas.openxmlformats.org/drawingml/2006/main">
              <a:ext uri="{FF2B5EF4-FFF2-40B4-BE49-F238E27FC236}">
                <a16:creationId xmlns:a16="http://schemas.microsoft.com/office/drawing/2014/main" id="{BF596F6A-D34B-47AD-BE84-B06C04A6FC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81575" y="4895850"/>
            <a:ext cx="666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665F6B"/>
                </a:solidFill>
                <a:latin typeface="PingFang SC"/>
                <a:ea typeface="PingFang SC"/>
                <a:cs typeface="PingFang SC"/>
              </a:defRPr>
            </a:pPr>
            <a:r>
              <a:rPr sz="1050" b="1">
                <a:solidFill>
                  <a:srgbClr val="665F6B"/>
                </a:solidFill>
                <a:latin typeface="PingFang SC"/>
                <a:ea typeface="PingFang SC"/>
                <a:cs typeface="PingFang SC"/>
              </a:rPr>
              <a:t>票档</a:t>
            </a:r>
          </a:p>
        </p:txBody>
      </p:sp>
      <p:sp>
        <p:nvSpPr>
          <p:cNvPr id="70" name="">
            <a:extLst xmlns:a="http://schemas.openxmlformats.org/drawingml/2006/main">
              <a:ext uri="{FF2B5EF4-FFF2-40B4-BE49-F238E27FC236}">
                <a16:creationId xmlns:a16="http://schemas.microsoft.com/office/drawing/2014/main" id="{C6C8A794-95DB-496C-890A-617618138E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62625" y="4895850"/>
            <a:ext cx="2381250" cy="323850"/>
          </a:xfrm>
          <a:prstGeom xmlns:a="http://schemas.openxmlformats.org/drawingml/2006/main" prst="roundRect">
            <a:avLst>
              <a:gd name="adj" fmla="val 3235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0D8"/>
            </a:solidFill>
            <a:prstDash val="solid"/>
          </a:ln>
        </p:spPr>
      </p:sp>
      <p:sp>
        <p:nvSpPr>
          <p:cNvPr id="71" name="">
            <a:extLst xmlns:a="http://schemas.openxmlformats.org/drawingml/2006/main">
              <a:ext uri="{FF2B5EF4-FFF2-40B4-BE49-F238E27FC236}">
                <a16:creationId xmlns:a16="http://schemas.microsoft.com/office/drawing/2014/main" id="{6C2195A3-ADAF-494C-ABE6-FF824B8DAB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0" y="4895850"/>
            <a:ext cx="2095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211D27"/>
                </a:solidFill>
                <a:latin typeface="PingFang SC"/>
                <a:ea typeface="PingFang SC"/>
                <a:cs typeface="PingFang SC"/>
              </a:defRPr>
            </a:pPr>
            <a:r>
              <a:rPr sz="1125" b="1">
                <a:solidFill>
                  <a:srgbClr val="211D27"/>
                </a:solidFill>
                <a:latin typeface="PingFang SC"/>
                <a:ea typeface="PingFang SC"/>
                <a:cs typeface="PingFang SC"/>
              </a:rPr>
              <a:t>580 / 780 / 980</a:t>
            </a:r>
          </a:p>
        </p:txBody>
      </p:sp>
      <p:sp>
        <p:nvSpPr>
          <p:cNvPr id="72" name="">
            <a:extLst xmlns:a="http://schemas.openxmlformats.org/drawingml/2006/main">
              <a:ext uri="{FF2B5EF4-FFF2-40B4-BE49-F238E27FC236}">
                <a16:creationId xmlns:a16="http://schemas.microsoft.com/office/drawing/2014/main" id="{DA9A2BB5-DAED-48A5-A27E-4BFBB28211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53425" y="4895850"/>
            <a:ext cx="2076450" cy="323850"/>
          </a:xfrm>
          <a:prstGeom xmlns:a="http://schemas.openxmlformats.org/drawingml/2006/main" prst="roundRect">
            <a:avLst>
              <a:gd name="adj" fmla="val 32353"/>
            </a:avLst>
          </a:prstGeom>
          <a:solidFill xmlns:a="http://schemas.openxmlformats.org/drawingml/2006/main">
            <a:srgbClr val="F5B84B">
              <a:alpha val="9412"/>
            </a:srgbClr>
          </a:solidFill>
          <a:ln xmlns:a="http://schemas.openxmlformats.org/drawingml/2006/main" w="9525">
            <a:solidFill>
              <a:srgbClr val="F5B84B">
                <a:alpha val="43922"/>
              </a:srgbClr>
            </a:solidFill>
            <a:prstDash val="solid"/>
          </a:ln>
        </p:spPr>
      </p:sp>
      <p:sp>
        <p:nvSpPr>
          <p:cNvPr id="73" name="">
            <a:extLst xmlns:a="http://schemas.openxmlformats.org/drawingml/2006/main">
              <a:ext uri="{FF2B5EF4-FFF2-40B4-BE49-F238E27FC236}">
                <a16:creationId xmlns:a16="http://schemas.microsoft.com/office/drawing/2014/main" id="{9C55C9A7-0201-4144-9B1B-2FEFAC78D3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86775" y="4895850"/>
            <a:ext cx="1809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F5B84B"/>
                </a:solidFill>
                <a:latin typeface="PingFang SC"/>
                <a:ea typeface="PingFang SC"/>
                <a:cs typeface="PingFang SC"/>
              </a:defRPr>
            </a:pPr>
            <a:r>
              <a:rPr sz="975" b="1">
                <a:solidFill>
                  <a:srgbClr val="F5B84B"/>
                </a:solidFill>
                <a:latin typeface="PingFang SC"/>
                <a:ea typeface="PingFang SC"/>
                <a:cs typeface="PingFang SC"/>
              </a:rPr>
              <a:t>已纳入重算</a:t>
            </a:r>
          </a:p>
        </p:txBody>
      </p:sp>
      <p:sp>
        <p:nvSpPr>
          <p:cNvPr id="74" name="">
            <a:extLst xmlns:a="http://schemas.openxmlformats.org/drawingml/2006/main">
              <a:ext uri="{FF2B5EF4-FFF2-40B4-BE49-F238E27FC236}">
                <a16:creationId xmlns:a16="http://schemas.microsoft.com/office/drawing/2014/main" id="{1356FB2D-6A7E-4925-AF22-1E3D182933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81575" y="5619750"/>
            <a:ext cx="5448300" cy="476250"/>
          </a:xfrm>
          <a:prstGeom xmlns:a="http://schemas.openxmlformats.org/drawingml/2006/main" prst="roundRect">
            <a:avLst>
              <a:gd name="adj" fmla="val 30000"/>
            </a:avLst>
          </a:prstGeom>
          <a:solidFill xmlns:a="http://schemas.openxmlformats.org/drawingml/2006/main">
            <a:srgbClr val="0D0B1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5" name="">
            <a:extLst xmlns:a="http://schemas.openxmlformats.org/drawingml/2006/main">
              <a:ext uri="{FF2B5EF4-FFF2-40B4-BE49-F238E27FC236}">
                <a16:creationId xmlns:a16="http://schemas.microsoft.com/office/drawing/2014/main" id="{DA0ED6CC-B481-438D-BDB3-693776C909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5724525"/>
            <a:ext cx="1428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FFFFFF"/>
                </a:solidFill>
                <a:latin typeface="DIN Alternate"/>
                <a:ea typeface="DIN Alternate"/>
                <a:cs typeface="DIN Alternate"/>
              </a:defRPr>
            </a:pPr>
            <a:r>
              <a:rPr sz="1125" b="1">
                <a:solidFill>
                  <a:srgbClr val="FFFFFF"/>
                </a:solidFill>
                <a:latin typeface="DIN Alternate"/>
                <a:ea typeface="DIN Alternate"/>
                <a:cs typeface="DIN Alternate"/>
              </a:rPr>
              <a:t>预算 1,200 万</a:t>
            </a:r>
          </a:p>
        </p:txBody>
      </p:sp>
      <p:sp>
        <p:nvSpPr>
          <p:cNvPr id="76" name="">
            <a:extLst xmlns:a="http://schemas.openxmlformats.org/drawingml/2006/main">
              <a:ext uri="{FF2B5EF4-FFF2-40B4-BE49-F238E27FC236}">
                <a16:creationId xmlns:a16="http://schemas.microsoft.com/office/drawing/2014/main" id="{98532F29-904E-4B5F-A7E7-8B67F28404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86575" y="5724525"/>
            <a:ext cx="1809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73E0BD"/>
                </a:solidFill>
                <a:latin typeface="DIN Alternate"/>
                <a:ea typeface="DIN Alternate"/>
                <a:cs typeface="DIN Alternate"/>
              </a:defRPr>
            </a:pPr>
            <a:r>
              <a:rPr sz="1125" b="1">
                <a:solidFill>
                  <a:srgbClr val="73E0BD"/>
                </a:solidFill>
                <a:latin typeface="DIN Alternate"/>
                <a:ea typeface="DIN Alternate"/>
                <a:cs typeface="DIN Alternate"/>
              </a:rPr>
              <a:t>预期收入 1,540 万</a:t>
            </a:r>
          </a:p>
        </p:txBody>
      </p:sp>
      <p:sp>
        <p:nvSpPr>
          <p:cNvPr id="77" name="">
            <a:extLst xmlns:a="http://schemas.openxmlformats.org/drawingml/2006/main">
              <a:ext uri="{FF2B5EF4-FFF2-40B4-BE49-F238E27FC236}">
                <a16:creationId xmlns:a16="http://schemas.microsoft.com/office/drawing/2014/main" id="{B01BA870-3B4C-4D30-8874-6587D69EE6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10625" y="5724525"/>
            <a:ext cx="1447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FF6B59"/>
                </a:solidFill>
                <a:latin typeface="DIN Alternate"/>
                <a:ea typeface="DIN Alternate"/>
                <a:cs typeface="DIN Alternate"/>
              </a:defRPr>
            </a:pPr>
            <a:r>
              <a:rPr sz="1050" b="1">
                <a:solidFill>
                  <a:srgbClr val="FF6B59"/>
                </a:solidFill>
                <a:latin typeface="DIN Alternate"/>
                <a:ea typeface="DIN Alternate"/>
                <a:cs typeface="DIN Alternate"/>
              </a:rPr>
              <a:t>最大资金缺口 480 万</a:t>
            </a:r>
          </a:p>
        </p:txBody>
      </p:sp>
      <p:sp>
        <p:nvSpPr>
          <p:cNvPr id="78" name="">
            <a:extLst xmlns:a="http://schemas.openxmlformats.org/drawingml/2006/main">
              <a:ext uri="{FF2B5EF4-FFF2-40B4-BE49-F238E27FC236}">
                <a16:creationId xmlns:a16="http://schemas.microsoft.com/office/drawing/2014/main" id="{CB6E2874-E2D0-4756-865C-5E4942DCFB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63250" y="6438900"/>
            <a:ext cx="666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A39CA8"/>
                </a:solidFill>
                <a:latin typeface="PingFang SC"/>
                <a:ea typeface="PingFang SC"/>
                <a:cs typeface="PingFang SC"/>
              </a:defRPr>
            </a:pPr>
            <a:r>
              <a:rPr sz="825" b="0">
                <a:solidFill>
                  <a:srgbClr val="A39CA8"/>
                </a:solidFill>
                <a:latin typeface="PingFang SC"/>
                <a:ea typeface="PingFang SC"/>
                <a:cs typeface="PingFang SC"/>
              </a:rPr>
              <a:t>示意数据</a:t>
            </a:r>
          </a:p>
        </p:txBody>
      </p:sp>
      <p:sp>
        <p:nvSpPr>
          <p:cNvPr id="79" name="">
            <a:extLst xmlns:a="http://schemas.openxmlformats.org/drawingml/2006/main">
              <a:ext uri="{FF2B5EF4-FFF2-40B4-BE49-F238E27FC236}">
                <a16:creationId xmlns:a16="http://schemas.microsoft.com/office/drawing/2014/main" id="{A3EFBA5F-5E0B-4E84-9AE9-1DD8A4463A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63325" y="6467475"/>
            <a:ext cx="4000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A39CA8"/>
                </a:solidFill>
                <a:latin typeface="DIN Alternate"/>
                <a:ea typeface="DIN Alternate"/>
                <a:cs typeface="DIN Alternate"/>
              </a:defRPr>
            </a:pPr>
            <a:r>
              <a:rPr sz="900" b="0">
                <a:solidFill>
                  <a:srgbClr val="A39CA8"/>
                </a:solidFill>
                <a:latin typeface="DIN Alternate"/>
                <a:ea typeface="DIN Alternate"/>
                <a:cs typeface="DIN Alternate"/>
              </a:rPr>
              <a:t>04</a:t>
            </a:r>
          </a:p>
        </p:txBody>
      </p:sp>
    </p:spTree>
    <p:extLst>
      <p:ext uri="{BB962C8B-B14F-4D97-AF65-F5344CB8AC3E}">
        <p14:creationId xmlns:p14="http://schemas.microsoft.com/office/powerpoint/2010/main" val="1286524178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0D0B14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2" name="">
            <a:extLst xmlns:a="http://schemas.openxmlformats.org/drawingml/2006/main">
              <a:ext uri="{FF2B5EF4-FFF2-40B4-BE49-F238E27FC236}">
                <a16:creationId xmlns:a16="http://schemas.microsoft.com/office/drawing/2014/main" id="{DA9BD53A-7713-40AF-99D9-09B583D66C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4000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A38BFF"/>
                </a:solidFill>
                <a:latin typeface="PingFang SC"/>
                <a:ea typeface="PingFang SC"/>
                <a:cs typeface="PingFang SC"/>
              </a:defRPr>
            </a:pPr>
            <a:r>
              <a:rPr sz="900" b="1">
                <a:solidFill>
                  <a:srgbClr val="A38BFF"/>
                </a:solidFill>
                <a:latin typeface="PingFang SC"/>
                <a:ea typeface="PingFang SC"/>
                <a:cs typeface="PingFang SC"/>
              </a:rPr>
              <a:t>小程序示意 / 客户专职 Agent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EA085EE-1044-4596-8B0C-EA9DCB2A11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19125"/>
            <a:ext cx="108585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2550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一个客户拥有一位持续负责的项目 Agent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A95E0AF-6078-4848-B72A-A0D54D3023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33475"/>
            <a:ext cx="10572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FFFFFF">
                    <a:alpha val="72157"/>
                  </a:srgbClr>
                </a:solidFill>
                <a:latin typeface="PingFang SC"/>
                <a:ea typeface="PingFang SC"/>
                <a:cs typeface="PingFang SC"/>
              </a:defRPr>
            </a:pPr>
            <a:r>
              <a:rPr sz="1200" b="0">
                <a:solidFill>
                  <a:srgbClr val="FFFFFF">
                    <a:alpha val="72157"/>
                  </a:srgbClr>
                </a:solidFill>
                <a:latin typeface="PingFang SC"/>
                <a:ea typeface="PingFang SC"/>
                <a:cs typeface="PingFang SC"/>
              </a:rPr>
              <a:t>Agent 主动发现变化、派发任务并等待证据，负责人只处理关键例外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B4BD194-A3CA-488D-A52C-40B3B2B8F3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457325"/>
            <a:ext cx="3390900" cy="4943475"/>
          </a:xfrm>
          <a:prstGeom xmlns:a="http://schemas.openxmlformats.org/drawingml/2006/main" prst="roundRect">
            <a:avLst>
              <a:gd name="adj" fmla="val 9551"/>
            </a:avLst>
          </a:prstGeom>
          <a:solidFill xmlns:a="http://schemas.openxmlformats.org/drawingml/2006/main">
            <a:srgbClr val="211D27"/>
          </a:solidFill>
          <a:ln xmlns:a="http://schemas.openxmlformats.org/drawingml/2006/main" w="11430">
            <a:solidFill>
              <a:srgbClr val="FFFFFF">
                <a:alpha val="21961"/>
              </a:srgbClr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7"/>
          <a:fontRef xmlns:a="http://schemas.openxmlformats.org/drawingml/2006/main" idx="major"/>
        </p:style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5C5C2BF-E0C1-439B-908F-9ECF281714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" y="1543050"/>
            <a:ext cx="3219450" cy="4772025"/>
          </a:xfrm>
          <a:prstGeom xmlns:a="http://schemas.openxmlformats.org/drawingml/2006/main" prst="roundRect">
            <a:avLst>
              <a:gd name="adj" fmla="val 7988"/>
            </a:avLst>
          </a:prstGeom>
          <a:solidFill xmlns:a="http://schemas.openxmlformats.org/drawingml/2006/main">
            <a:srgbClr val="17101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CF3A549-9A2D-4BDC-97F2-DF16C579CF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24075" y="1619250"/>
            <a:ext cx="666750" cy="1714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0D0B1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EF4EAD9-57A0-48D4-AD0E-7A21771882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95700" y="1666875"/>
            <a:ext cx="57150" cy="571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>
              <a:alpha val="47843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57A7F0E-AE99-408C-83E0-41CA72668F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1905000"/>
            <a:ext cx="12573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1125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巡演 Agent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C7C360A-797E-44D5-82B7-FB270A074D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00300" y="1885950"/>
            <a:ext cx="1409700" cy="2857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F6B59">
              <a:alpha val="10196"/>
            </a:srgbClr>
          </a:solidFill>
          <a:ln xmlns:a="http://schemas.openxmlformats.org/drawingml/2006/main" w="9525">
            <a:solidFill>
              <a:srgbClr val="FF6B59">
                <a:alpha val="43922"/>
              </a:srgbClr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0B18187-F386-4DE0-97D5-77371B3C41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95550" y="1885950"/>
            <a:ext cx="12192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FF6B59"/>
                </a:solidFill>
                <a:latin typeface="PingFang SC"/>
                <a:ea typeface="PingFang SC"/>
                <a:cs typeface="PingFang SC"/>
              </a:defRPr>
            </a:pPr>
            <a:r>
              <a:rPr sz="900" b="1">
                <a:solidFill>
                  <a:srgbClr val="FF6B59"/>
                </a:solidFill>
                <a:latin typeface="PingFang SC"/>
                <a:ea typeface="PingFang SC"/>
                <a:cs typeface="PingFang SC"/>
              </a:rPr>
              <a:t>今日有 3 项变化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B18E60F-8FD1-4984-89D0-9A25750B39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286000"/>
            <a:ext cx="3048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1575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林峯 2027 全国巡演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CA5567B-6CC3-4A0C-8020-A59F5C5A67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590800"/>
            <a:ext cx="3048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FFFFFF">
                    <a:alpha val="47843"/>
                  </a:srgbClr>
                </a:solidFill>
                <a:latin typeface="PingFang SC"/>
                <a:ea typeface="PingFang SC"/>
                <a:cs typeface="PingFang SC"/>
              </a:defRPr>
            </a:pPr>
            <a:r>
              <a:rPr sz="900" b="0">
                <a:solidFill>
                  <a:srgbClr val="FFFFFF">
                    <a:alpha val="47843"/>
                  </a:srgbClr>
                </a:solidFill>
                <a:latin typeface="PingFang SC"/>
                <a:ea typeface="PingFang SC"/>
                <a:cs typeface="PingFang SC"/>
              </a:rPr>
              <a:t>12 个候选城市 · 5 个待确认场馆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8B93C4E-E87F-4A84-AEBB-36E9AC4C6E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952750"/>
            <a:ext cx="3048000" cy="9144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A38BFF">
              <a:alpha val="7059"/>
            </a:srgbClr>
          </a:solidFill>
          <a:ln xmlns:a="http://schemas.openxmlformats.org/drawingml/2006/main" w="9525">
            <a:solidFill>
              <a:srgbClr val="A38BFF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E789810-1728-4D22-BDDB-29F4A18386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6325" y="3076575"/>
            <a:ext cx="1333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D9CFFF"/>
                </a:solidFill>
                <a:latin typeface="PingFang SC"/>
                <a:ea typeface="PingFang SC"/>
                <a:cs typeface="PingFang SC"/>
              </a:defRPr>
            </a:pPr>
            <a:r>
              <a:rPr sz="900" b="1">
                <a:solidFill>
                  <a:srgbClr val="D9CFFF"/>
                </a:solidFill>
                <a:latin typeface="PingFang SC"/>
                <a:ea typeface="PingFang SC"/>
                <a:cs typeface="PingFang SC"/>
              </a:rPr>
              <a:t>Agent 今日判断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21DA8A2-0EDC-4A9F-BFD6-4390F985C9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6325" y="3333750"/>
            <a:ext cx="276225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1125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南京场馆报价上涨 12%，</a:t>
            </a:r>
          </a:p>
          <a:p xmlns:a="http://schemas.openxmlformats.org/drawingml/2006/main">
            <a:pPr algn="l">
              <a:defRPr sz="11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1125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巡演中性利润预计减少 74 万。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1A989BE-00D0-48A3-9D3F-6585940449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4086225"/>
            <a:ext cx="3048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1125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现在最重要的事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45CE49CF-4135-4939-806C-8CED628684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4419600"/>
            <a:ext cx="3048000" cy="542925"/>
          </a:xfrm>
          <a:prstGeom xmlns:a="http://schemas.openxmlformats.org/drawingml/2006/main" prst="roundRect">
            <a:avLst>
              <a:gd name="adj" fmla="val 22807"/>
            </a:avLst>
          </a:prstGeom>
          <a:solidFill xmlns:a="http://schemas.openxmlformats.org/drawingml/2006/main">
            <a:srgbClr val="FFFFFF">
              <a:alpha val="3529"/>
            </a:srgbClr>
          </a:solidFill>
          <a:ln xmlns:a="http://schemas.openxmlformats.org/drawingml/2006/main" w="9525">
            <a:solidFill>
              <a:srgbClr val="FFFFFF">
                <a:alpha val="21961"/>
              </a:srgbClr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A0374CFA-C65C-4D00-9A5F-556AC9908A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4533900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6B5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8448EB3B-EB47-4B2A-A661-23CBFE1E03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28725" y="4486275"/>
            <a:ext cx="1809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975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确认南京备选场馆报价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5D7D5DC6-99C2-4AC4-8B93-6C5650C9E2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28725" y="4695825"/>
            <a:ext cx="1952625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FFFFFF">
                    <a:alpha val="47843"/>
                  </a:srgbClr>
                </a:solidFill>
                <a:latin typeface="PingFang SC"/>
                <a:ea typeface="PingFang SC"/>
                <a:cs typeface="PingFang SC"/>
              </a:defRPr>
            </a:pPr>
            <a:r>
              <a:rPr sz="750" b="0">
                <a:solidFill>
                  <a:srgbClr val="FFFFFF">
                    <a:alpha val="47843"/>
                  </a:srgbClr>
                </a:solidFill>
                <a:latin typeface="PingFang SC"/>
                <a:ea typeface="PingFang SC"/>
                <a:cs typeface="PingFang SC"/>
              </a:rPr>
              <a:t>地方执行 · 明天 18:00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70E08F1E-9AA9-4756-AB1F-36739505AA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4572000"/>
            <a:ext cx="5334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750" b="1">
                <a:solidFill>
                  <a:srgbClr val="FF6B59"/>
                </a:solidFill>
                <a:latin typeface="PingFang SC"/>
                <a:ea typeface="PingFang SC"/>
                <a:cs typeface="PingFang SC"/>
              </a:defRPr>
            </a:pPr>
            <a:r>
              <a:rPr sz="750" b="1">
                <a:solidFill>
                  <a:srgbClr val="FF6B59"/>
                </a:solidFill>
                <a:latin typeface="PingFang SC"/>
                <a:ea typeface="PingFang SC"/>
                <a:cs typeface="PingFang SC"/>
              </a:rPr>
              <a:t>待处理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48347D90-57B6-4476-82AE-56A920CF8C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5067300"/>
            <a:ext cx="3048000" cy="542925"/>
          </a:xfrm>
          <a:prstGeom xmlns:a="http://schemas.openxmlformats.org/drawingml/2006/main" prst="roundRect">
            <a:avLst>
              <a:gd name="adj" fmla="val 22807"/>
            </a:avLst>
          </a:prstGeom>
          <a:solidFill xmlns:a="http://schemas.openxmlformats.org/drawingml/2006/main">
            <a:srgbClr val="FFFFFF">
              <a:alpha val="3529"/>
            </a:srgbClr>
          </a:solidFill>
          <a:ln xmlns:a="http://schemas.openxmlformats.org/drawingml/2006/main" w="9525">
            <a:solidFill>
              <a:srgbClr val="FFFFFF">
                <a:alpha val="21961"/>
              </a:srgbClr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2ECB5155-7BAB-4A34-AF63-F077F288A1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5181600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5B84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34112DC7-A2EC-4864-834D-A605D8215F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28725" y="5133975"/>
            <a:ext cx="1809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975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补充艺人授权范围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CC6A1ECB-7C0F-41B5-A0D6-431968F254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28725" y="5343525"/>
            <a:ext cx="1952625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FFFFFF">
                    <a:alpha val="47843"/>
                  </a:srgbClr>
                </a:solidFill>
                <a:latin typeface="PingFang SC"/>
                <a:ea typeface="PingFang SC"/>
                <a:cs typeface="PingFang SC"/>
              </a:defRPr>
            </a:pPr>
            <a:r>
              <a:rPr sz="750" b="0">
                <a:solidFill>
                  <a:srgbClr val="FFFFFF">
                    <a:alpha val="47843"/>
                  </a:srgbClr>
                </a:solidFill>
                <a:latin typeface="PingFang SC"/>
                <a:ea typeface="PingFang SC"/>
                <a:cs typeface="PingFang SC"/>
              </a:rPr>
              <a:t>商务负责人 · 周五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F021FF8D-4CEC-4A54-90FF-D1A3BCB6B3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5219700"/>
            <a:ext cx="5334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750" b="1">
                <a:solidFill>
                  <a:srgbClr val="F5B84B"/>
                </a:solidFill>
                <a:latin typeface="PingFang SC"/>
                <a:ea typeface="PingFang SC"/>
                <a:cs typeface="PingFang SC"/>
              </a:defRPr>
            </a:pPr>
            <a:r>
              <a:rPr sz="750" b="1">
                <a:solidFill>
                  <a:srgbClr val="F5B84B"/>
                </a:solidFill>
                <a:latin typeface="PingFang SC"/>
                <a:ea typeface="PingFang SC"/>
                <a:cs typeface="PingFang SC"/>
              </a:rPr>
              <a:t>缺证据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685D1B20-F4AD-4B83-BFD8-A2D1CB1851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5715000"/>
            <a:ext cx="3048000" cy="542925"/>
          </a:xfrm>
          <a:prstGeom xmlns:a="http://schemas.openxmlformats.org/drawingml/2006/main" prst="roundRect">
            <a:avLst>
              <a:gd name="adj" fmla="val 22807"/>
            </a:avLst>
          </a:prstGeom>
          <a:solidFill xmlns:a="http://schemas.openxmlformats.org/drawingml/2006/main">
            <a:srgbClr val="FFFFFF">
              <a:alpha val="3529"/>
            </a:srgbClr>
          </a:solidFill>
          <a:ln xmlns:a="http://schemas.openxmlformats.org/drawingml/2006/main" w="9525">
            <a:solidFill>
              <a:srgbClr val="FFFFFF">
                <a:alpha val="21961"/>
              </a:srgbClr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B80A1280-DEAB-4751-9195-F9BFAD465B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5829300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73E0B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DB969B84-0C93-4315-A1B9-F0EEB5EA02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28725" y="5781675"/>
            <a:ext cx="1809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975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复核全国巡演现金流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82039516-7F9A-4E64-B67D-1E3BED1721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28725" y="5991225"/>
            <a:ext cx="1952625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FFFFFF">
                    <a:alpha val="47843"/>
                  </a:srgbClr>
                </a:solidFill>
                <a:latin typeface="PingFang SC"/>
                <a:ea typeface="PingFang SC"/>
                <a:cs typeface="PingFang SC"/>
              </a:defRPr>
            </a:pPr>
            <a:r>
              <a:rPr sz="750" b="0">
                <a:solidFill>
                  <a:srgbClr val="FFFFFF">
                    <a:alpha val="47843"/>
                  </a:srgbClr>
                </a:solidFill>
                <a:latin typeface="PingFang SC"/>
                <a:ea typeface="PingFang SC"/>
                <a:cs typeface="PingFang SC"/>
              </a:rPr>
              <a:t>财务负责人 · 下周一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BAE860A8-595F-4413-8EC2-011CA2E177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5867400"/>
            <a:ext cx="5334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750" b="1">
                <a:solidFill>
                  <a:srgbClr val="73E0BD"/>
                </a:solidFill>
                <a:latin typeface="PingFang SC"/>
                <a:ea typeface="PingFang SC"/>
                <a:cs typeface="PingFang SC"/>
              </a:defRPr>
            </a:pPr>
            <a:r>
              <a:rPr sz="750" b="1">
                <a:solidFill>
                  <a:srgbClr val="73E0BD"/>
                </a:solidFill>
                <a:latin typeface="PingFang SC"/>
                <a:ea typeface="PingFang SC"/>
                <a:cs typeface="PingFang SC"/>
              </a:rPr>
              <a:t>已派发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CA7EC084-89B5-4FD0-9694-71F511A0C8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10150" y="1809750"/>
            <a:ext cx="3619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1875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Agent 的工作方式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72023EC9-45B2-42AB-AD79-DC7A723DB4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10150" y="2228850"/>
            <a:ext cx="5905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FFFFFF">
                    <a:alpha val="72157"/>
                  </a:srgbClr>
                </a:solidFill>
                <a:latin typeface="PingFang SC"/>
                <a:ea typeface="PingFang SC"/>
                <a:cs typeface="PingFang SC"/>
              </a:defRPr>
            </a:pPr>
            <a:r>
              <a:rPr sz="1200" b="0">
                <a:solidFill>
                  <a:srgbClr val="FFFFFF">
                    <a:alpha val="72157"/>
                  </a:srgbClr>
                </a:solidFill>
                <a:latin typeface="PingFang SC"/>
                <a:ea typeface="PingFang SC"/>
                <a:cs typeface="PingFang SC"/>
              </a:rPr>
              <a:t>权力来自客户授权，正式状态变化仍受规则和审批控制。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70887B5A-ED79-41CE-80A2-D792E7471D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67300" y="2800350"/>
            <a:ext cx="304800" cy="3048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A183B"/>
          </a:solidFill>
          <a:ln xmlns:a="http://schemas.openxmlformats.org/drawingml/2006/main" w="9525">
            <a:solidFill>
              <a:srgbClr val="FFFFFF">
                <a:alpha val="21961"/>
              </a:srgbClr>
            </a:solidFill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6792924B-30FD-4D01-9295-7DA63F9471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14925" y="2847975"/>
            <a:ext cx="2095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FFFFFF"/>
                </a:solidFill>
                <a:latin typeface="DIN Alternate"/>
                <a:ea typeface="DIN Alternate"/>
                <a:cs typeface="DIN Alternate"/>
              </a:defRPr>
            </a:pPr>
            <a:r>
              <a:rPr sz="900" b="1">
                <a:solidFill>
                  <a:srgbClr val="FFFFFF"/>
                </a:solidFill>
                <a:latin typeface="DIN Alternate"/>
                <a:ea typeface="DIN Alternate"/>
                <a:cs typeface="DIN Alternate"/>
              </a:rPr>
              <a:t>1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44596528-28E9-43C6-8518-7BB32F28C6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5219700" y="3114675"/>
            <a:ext cx="0" cy="3143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352C40"/>
            </a:solidFill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705BADF7-A181-459D-B4E7-A24AE13610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62600" y="2800350"/>
            <a:ext cx="223837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1275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读取项目快照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AFB17F23-18D8-4F03-BEBE-F76EC4D4F4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62600" y="3067050"/>
            <a:ext cx="376237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FFFFFF">
                    <a:alpha val="47843"/>
                  </a:srgbClr>
                </a:solidFill>
                <a:latin typeface="PingFang SC"/>
                <a:ea typeface="PingFang SC"/>
                <a:cs typeface="PingFang SC"/>
              </a:defRPr>
            </a:pPr>
            <a:r>
              <a:rPr sz="975" b="0">
                <a:solidFill>
                  <a:srgbClr val="FFFFFF">
                    <a:alpha val="47843"/>
                  </a:srgbClr>
                </a:solidFill>
                <a:latin typeface="PingFang SC"/>
                <a:ea typeface="PingFang SC"/>
                <a:cs typeface="PingFang SC"/>
              </a:rPr>
              <a:t>事实、资金、档期、任务状态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AD33B7E1-8351-4E8C-B842-BA701F8901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67300" y="3429000"/>
            <a:ext cx="304800" cy="3048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A183B"/>
          </a:solidFill>
          <a:ln xmlns:a="http://schemas.openxmlformats.org/drawingml/2006/main" w="9525">
            <a:solidFill>
              <a:srgbClr val="FFFFFF">
                <a:alpha val="21961"/>
              </a:srgbClr>
            </a:solidFill>
            <a:prstDash val="solid"/>
          </a:ln>
        </p:spPr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3242C97A-5805-44AC-BD6F-496003E511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14925" y="3476625"/>
            <a:ext cx="2095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FFFFFF"/>
                </a:solidFill>
                <a:latin typeface="DIN Alternate"/>
                <a:ea typeface="DIN Alternate"/>
                <a:cs typeface="DIN Alternate"/>
              </a:defRPr>
            </a:pPr>
            <a:r>
              <a:rPr sz="900" b="1">
                <a:solidFill>
                  <a:srgbClr val="FFFFFF"/>
                </a:solidFill>
                <a:latin typeface="DIN Alternate"/>
                <a:ea typeface="DIN Alternate"/>
                <a:cs typeface="DIN Alternate"/>
              </a:rPr>
              <a:t>2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C23DFA76-04C7-4F6C-B389-35E225DCA3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5219700" y="3743325"/>
            <a:ext cx="0" cy="3143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352C40"/>
            </a:solidFill>
            <a:prstDash val="solid"/>
          </a:ln>
        </p:spPr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BB23F915-9416-4288-8833-49FFC4F446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62600" y="3429000"/>
            <a:ext cx="223837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1275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生成下一步计划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5694239B-FADE-44BF-9361-8AF85B49C4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62600" y="3695700"/>
            <a:ext cx="376237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FFFFFF">
                    <a:alpha val="47843"/>
                  </a:srgbClr>
                </a:solidFill>
                <a:latin typeface="PingFang SC"/>
                <a:ea typeface="PingFang SC"/>
                <a:cs typeface="PingFang SC"/>
              </a:defRPr>
            </a:pPr>
            <a:r>
              <a:rPr sz="975" b="0">
                <a:solidFill>
                  <a:srgbClr val="FFFFFF">
                    <a:alpha val="47843"/>
                  </a:srgbClr>
                </a:solidFill>
                <a:latin typeface="PingFang SC"/>
                <a:ea typeface="PingFang SC"/>
                <a:cs typeface="PingFang SC"/>
              </a:rPr>
              <a:t>只使用预定义任务类型</a:t>
            </a:r>
          </a:p>
        </p:txBody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5566ECC4-1AD0-4B29-8A7B-141B7EA984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67300" y="4057650"/>
            <a:ext cx="304800" cy="3048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6B59"/>
          </a:solidFill>
          <a:ln xmlns:a="http://schemas.openxmlformats.org/drawingml/2006/main" w="9525">
            <a:solidFill>
              <a:srgbClr val="FFFFFF">
                <a:alpha val="21961"/>
              </a:srgbClr>
            </a:solidFill>
            <a:prstDash val="solid"/>
          </a:ln>
        </p:spPr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49E7C754-5CE7-4157-9886-9923C6A3EB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14925" y="4105275"/>
            <a:ext cx="2095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FFFFFF"/>
                </a:solidFill>
                <a:latin typeface="DIN Alternate"/>
                <a:ea typeface="DIN Alternate"/>
                <a:cs typeface="DIN Alternate"/>
              </a:defRPr>
            </a:pPr>
            <a:r>
              <a:rPr sz="900" b="1">
                <a:solidFill>
                  <a:srgbClr val="FFFFFF"/>
                </a:solidFill>
                <a:latin typeface="DIN Alternate"/>
                <a:ea typeface="DIN Alternate"/>
                <a:cs typeface="DIN Alternate"/>
              </a:rPr>
              <a:t>3</a:t>
            </a:r>
          </a:p>
        </p:txBody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8D86734B-7EAA-4888-812A-8530E18F31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5219700" y="4371975"/>
            <a:ext cx="0" cy="3143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352C40"/>
            </a:solidFill>
            <a:prstDash val="solid"/>
          </a:ln>
        </p:spPr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29061C5E-9DBF-4375-9C3C-0CB0963FB2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62600" y="4057650"/>
            <a:ext cx="223837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1275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调用人和系统</a:t>
            </a:r>
          </a:p>
        </p:txBody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9815B819-EC18-4415-A167-F881D8C9F2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62600" y="4324350"/>
            <a:ext cx="376237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FFFFFF">
                    <a:alpha val="47843"/>
                  </a:srgbClr>
                </a:solidFill>
                <a:latin typeface="PingFang SC"/>
                <a:ea typeface="PingFang SC"/>
                <a:cs typeface="PingFang SC"/>
              </a:defRPr>
            </a:pPr>
            <a:r>
              <a:rPr sz="975" b="0">
                <a:solidFill>
                  <a:srgbClr val="FFFFFF">
                    <a:alpha val="47843"/>
                  </a:srgbClr>
                </a:solidFill>
                <a:latin typeface="PingFang SC"/>
                <a:ea typeface="PingFang SC"/>
                <a:cs typeface="PingFang SC"/>
              </a:rPr>
              <a:t>异步任务、API 和人工审批</a:t>
            </a:r>
          </a:p>
        </p:txBody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D6915A43-DD73-4FFC-B611-9090E44516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67300" y="4686300"/>
            <a:ext cx="304800" cy="3048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A183B"/>
          </a:solidFill>
          <a:ln xmlns:a="http://schemas.openxmlformats.org/drawingml/2006/main" w="9525">
            <a:solidFill>
              <a:srgbClr val="FFFFFF">
                <a:alpha val="21961"/>
              </a:srgbClr>
            </a:solidFill>
            <a:prstDash val="solid"/>
          </a:ln>
        </p:spPr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70214DBF-2343-43E0-9A1A-CE213BEF2D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14925" y="4733925"/>
            <a:ext cx="2095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FFFFFF"/>
                </a:solidFill>
                <a:latin typeface="DIN Alternate"/>
                <a:ea typeface="DIN Alternate"/>
                <a:cs typeface="DIN Alternate"/>
              </a:defRPr>
            </a:pPr>
            <a:r>
              <a:rPr sz="900" b="1">
                <a:solidFill>
                  <a:srgbClr val="FFFFFF"/>
                </a:solidFill>
                <a:latin typeface="DIN Alternate"/>
                <a:ea typeface="DIN Alternate"/>
                <a:cs typeface="DIN Alternate"/>
              </a:rPr>
              <a:t>4</a:t>
            </a:r>
          </a:p>
        </p:txBody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46B891A6-9411-4D4A-92D2-A53E7B1B7F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5219700" y="5000625"/>
            <a:ext cx="0" cy="3143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352C40"/>
            </a:solidFill>
            <a:prstDash val="solid"/>
          </a:ln>
        </p:spPr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35023B64-FC01-4138-AA46-CB48B9E111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62600" y="4686300"/>
            <a:ext cx="223837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1275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接收证据并重算</a:t>
            </a:r>
          </a:p>
        </p:txBody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8F205EEF-2209-43D6-A3C4-A20EC053BC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62600" y="4953000"/>
            <a:ext cx="376237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FFFFFF">
                    <a:alpha val="47843"/>
                  </a:srgbClr>
                </a:solidFill>
                <a:latin typeface="PingFang SC"/>
                <a:ea typeface="PingFang SC"/>
                <a:cs typeface="PingFang SC"/>
              </a:defRPr>
            </a:pPr>
            <a:r>
              <a:rPr sz="975" b="0">
                <a:solidFill>
                  <a:srgbClr val="FFFFFF">
                    <a:alpha val="47843"/>
                  </a:srgbClr>
                </a:solidFill>
                <a:latin typeface="PingFang SC"/>
                <a:ea typeface="PingFang SC"/>
                <a:cs typeface="PingFang SC"/>
              </a:rPr>
              <a:t>结果可能完成、受阻或被拒绝</a:t>
            </a:r>
          </a:p>
        </p:txBody>
      </p: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D429D3BB-84B1-48F2-B90E-563EBC12C2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67300" y="5314950"/>
            <a:ext cx="304800" cy="3048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A183B"/>
          </a:solidFill>
          <a:ln xmlns:a="http://schemas.openxmlformats.org/drawingml/2006/main" w="9525">
            <a:solidFill>
              <a:srgbClr val="FFFFFF">
                <a:alpha val="21961"/>
              </a:srgbClr>
            </a:solidFill>
            <a:prstDash val="solid"/>
          </a:ln>
        </p:spPr>
      </p:sp>
      <p:sp>
        <p:nv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F5332014-1267-49CA-B876-92EC6C6058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14925" y="5362575"/>
            <a:ext cx="2095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FFFFFF"/>
                </a:solidFill>
                <a:latin typeface="DIN Alternate"/>
                <a:ea typeface="DIN Alternate"/>
                <a:cs typeface="DIN Alternate"/>
              </a:defRPr>
            </a:pPr>
            <a:r>
              <a:rPr sz="900" b="1">
                <a:solidFill>
                  <a:srgbClr val="FFFFFF"/>
                </a:solidFill>
                <a:latin typeface="DIN Alternate"/>
                <a:ea typeface="DIN Alternate"/>
                <a:cs typeface="DIN Alternate"/>
              </a:rPr>
              <a:t>5</a:t>
            </a:r>
          </a:p>
        </p:txBody>
      </p:sp>
      <p:sp>
        <p:nvSpPr>
          <p:cNvPr id="56" name="">
            <a:extLst xmlns:a="http://schemas.openxmlformats.org/drawingml/2006/main">
              <a:ext uri="{FF2B5EF4-FFF2-40B4-BE49-F238E27FC236}">
                <a16:creationId xmlns:a16="http://schemas.microsoft.com/office/drawing/2014/main" id="{C454FCE7-F03E-4C8E-8EFD-5CB596E72A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62600" y="5314950"/>
            <a:ext cx="223837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1275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更新计划</a:t>
            </a:r>
          </a:p>
        </p:txBody>
      </p:sp>
      <p:sp>
        <p:nvSpPr>
          <p:cNvPr id="57" name="">
            <a:extLst xmlns:a="http://schemas.openxmlformats.org/drawingml/2006/main">
              <a:ext uri="{FF2B5EF4-FFF2-40B4-BE49-F238E27FC236}">
                <a16:creationId xmlns:a16="http://schemas.microsoft.com/office/drawing/2014/main" id="{002CD7AB-BD27-4943-AAFF-BA4659F582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62600" y="5581650"/>
            <a:ext cx="376237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FFFFFF">
                    <a:alpha val="47843"/>
                  </a:srgbClr>
                </a:solidFill>
                <a:latin typeface="PingFang SC"/>
                <a:ea typeface="PingFang SC"/>
                <a:cs typeface="PingFang SC"/>
              </a:defRPr>
            </a:pPr>
            <a:r>
              <a:rPr sz="975" b="0">
                <a:solidFill>
                  <a:srgbClr val="FFFFFF">
                    <a:alpha val="47843"/>
                  </a:srgbClr>
                </a:solidFill>
                <a:latin typeface="PingFang SC"/>
                <a:ea typeface="PingFang SC"/>
                <a:cs typeface="PingFang SC"/>
              </a:rPr>
              <a:t>只发布实质变化，避免任务风暴</a:t>
            </a:r>
          </a:p>
        </p:txBody>
      </p:sp>
      <p:sp>
        <p:nvSpPr>
          <p:cNvPr id="58" name="">
            <a:extLst xmlns:a="http://schemas.openxmlformats.org/drawingml/2006/main">
              <a:ext uri="{FF2B5EF4-FFF2-40B4-BE49-F238E27FC236}">
                <a16:creationId xmlns:a16="http://schemas.microsoft.com/office/drawing/2014/main" id="{16DE45E6-36DC-4E69-A187-FA8B16B477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72625" y="2838450"/>
            <a:ext cx="1562100" cy="2076450"/>
          </a:xfrm>
          <a:prstGeom xmlns:a="http://schemas.openxmlformats.org/drawingml/2006/main" prst="roundRect">
            <a:avLst>
              <a:gd name="adj" fmla="val 10976"/>
            </a:avLst>
          </a:prstGeom>
          <a:solidFill xmlns:a="http://schemas.openxmlformats.org/drawingml/2006/main">
            <a:srgbClr val="FFFFFF">
              <a:alpha val="3137"/>
            </a:srgbClr>
          </a:solidFill>
          <a:ln xmlns:a="http://schemas.openxmlformats.org/drawingml/2006/main" w="9525">
            <a:solidFill>
              <a:srgbClr val="FFFFFF">
                <a:alpha val="21961"/>
              </a:srgbClr>
            </a:solidFill>
            <a:prstDash val="solid"/>
          </a:ln>
        </p:spPr>
      </p:sp>
      <p:sp>
        <p:nvSpPr>
          <p:cNvPr id="59" name="">
            <a:extLst xmlns:a="http://schemas.openxmlformats.org/drawingml/2006/main">
              <a:ext uri="{FF2B5EF4-FFF2-40B4-BE49-F238E27FC236}">
                <a16:creationId xmlns:a16="http://schemas.microsoft.com/office/drawing/2014/main" id="{058D88C1-AAF5-4B47-AF76-AACE692645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25025" y="2990850"/>
            <a:ext cx="12573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D9CFFF"/>
                </a:solidFill>
                <a:latin typeface="DIN Alternate"/>
                <a:ea typeface="DIN Alternate"/>
                <a:cs typeface="DIN Alternate"/>
              </a:defRPr>
            </a:pPr>
            <a:r>
              <a:rPr sz="1050" b="1">
                <a:solidFill>
                  <a:srgbClr val="D9CFFF"/>
                </a:solidFill>
                <a:latin typeface="DIN Alternate"/>
                <a:ea typeface="DIN Alternate"/>
                <a:cs typeface="DIN Alternate"/>
              </a:rPr>
              <a:t>HumanTask</a:t>
            </a:r>
          </a:p>
        </p:txBody>
      </p:sp>
      <p:sp>
        <p:nvSpPr>
          <p:cNvPr id="60" name="">
            <a:extLst xmlns:a="http://schemas.openxmlformats.org/drawingml/2006/main">
              <a:ext uri="{FF2B5EF4-FFF2-40B4-BE49-F238E27FC236}">
                <a16:creationId xmlns:a16="http://schemas.microsoft.com/office/drawing/2014/main" id="{4DBA9156-5B1A-4CD0-AA32-D32EA6BFE6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01225" y="3400425"/>
            <a:ext cx="1104900" cy="1219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00" b="0">
                <a:solidFill>
                  <a:srgbClr val="FFFFFF">
                    <a:alpha val="72157"/>
                  </a:srgbClr>
                </a:solidFill>
                <a:latin typeface="PingFang SC"/>
                <a:ea typeface="PingFang SC"/>
                <a:cs typeface="PingFang SC"/>
              </a:defRPr>
            </a:pPr>
            <a:r>
              <a:rPr sz="1200" b="0">
                <a:solidFill>
                  <a:srgbClr val="FFFFFF">
                    <a:alpha val="72157"/>
                  </a:srgbClr>
                </a:solidFill>
                <a:latin typeface="PingFang SC"/>
                <a:ea typeface="PingFang SC"/>
                <a:cs typeface="PingFang SC"/>
              </a:rPr>
              <a:t>可接受</a:t>
            </a:r>
          </a:p>
          <a:p xmlns:a="http://schemas.openxmlformats.org/drawingml/2006/main">
            <a:pPr algn="ctr">
              <a:defRPr sz="1200" b="0">
                <a:solidFill>
                  <a:srgbClr val="FFFFFF">
                    <a:alpha val="72157"/>
                  </a:srgbClr>
                </a:solidFill>
                <a:latin typeface="PingFang SC"/>
                <a:ea typeface="PingFang SC"/>
                <a:cs typeface="PingFang SC"/>
              </a:defRPr>
            </a:pPr>
            <a:r>
              <a:rPr sz="1200" b="0">
                <a:solidFill>
                  <a:srgbClr val="FFFFFF">
                    <a:alpha val="72157"/>
                  </a:srgbClr>
                </a:solidFill>
                <a:latin typeface="PingFang SC"/>
                <a:ea typeface="PingFang SC"/>
                <a:cs typeface="PingFang SC"/>
              </a:rPr>
              <a:t>可拒绝</a:t>
            </a:r>
          </a:p>
          <a:p xmlns:a="http://schemas.openxmlformats.org/drawingml/2006/main">
            <a:pPr algn="ctr">
              <a:defRPr sz="1200" b="0">
                <a:solidFill>
                  <a:srgbClr val="FFFFFF">
                    <a:alpha val="72157"/>
                  </a:srgbClr>
                </a:solidFill>
                <a:latin typeface="PingFang SC"/>
                <a:ea typeface="PingFang SC"/>
                <a:cs typeface="PingFang SC"/>
              </a:defRPr>
            </a:pPr>
            <a:r>
              <a:rPr sz="1200" b="0">
                <a:solidFill>
                  <a:srgbClr val="FFFFFF">
                    <a:alpha val="72157"/>
                  </a:srgbClr>
                </a:solidFill>
                <a:latin typeface="PingFang SC"/>
                <a:ea typeface="PingFang SC"/>
                <a:cs typeface="PingFang SC"/>
              </a:rPr>
              <a:t>可阻塞</a:t>
            </a:r>
          </a:p>
          <a:p xmlns:a="http://schemas.openxmlformats.org/drawingml/2006/main">
            <a:pPr algn="ctr">
              <a:defRPr sz="1200" b="0">
                <a:solidFill>
                  <a:srgbClr val="FFFFFF">
                    <a:alpha val="72157"/>
                  </a:srgbClr>
                </a:solidFill>
                <a:latin typeface="PingFang SC"/>
                <a:ea typeface="PingFang SC"/>
                <a:cs typeface="PingFang SC"/>
              </a:defRPr>
            </a:pPr>
            <a:r>
              <a:rPr sz="1200" b="0">
                <a:solidFill>
                  <a:srgbClr val="FFFFFF">
                    <a:alpha val="72157"/>
                  </a:srgbClr>
                </a:solidFill>
                <a:latin typeface="PingFang SC"/>
                <a:ea typeface="PingFang SC"/>
                <a:cs typeface="PingFang SC"/>
              </a:rPr>
              <a:t>可补充说明</a:t>
            </a:r>
          </a:p>
          <a:p xmlns:a="http://schemas.openxmlformats.org/drawingml/2006/main">
            <a:pPr algn="ctr">
              <a:defRPr sz="1200" b="0">
                <a:solidFill>
                  <a:srgbClr val="FFFFFF">
                    <a:alpha val="72157"/>
                  </a:srgbClr>
                </a:solidFill>
                <a:latin typeface="PingFang SC"/>
                <a:ea typeface="PingFang SC"/>
                <a:cs typeface="PingFang SC"/>
              </a:defRPr>
            </a:pPr>
            <a:r>
              <a:rPr sz="1200" b="0">
                <a:solidFill>
                  <a:srgbClr val="FFFFFF">
                    <a:alpha val="72157"/>
                  </a:srgbClr>
                </a:solidFill>
                <a:latin typeface="PingFang SC"/>
                <a:ea typeface="PingFang SC"/>
                <a:cs typeface="PingFang SC"/>
              </a:rPr>
              <a:t>必须提交证据</a:t>
            </a:r>
          </a:p>
        </p:txBody>
      </p:sp>
      <p:sp>
        <p:nvSpPr>
          <p:cNvPr id="61" name="">
            <a:extLst xmlns:a="http://schemas.openxmlformats.org/drawingml/2006/main">
              <a:ext uri="{FF2B5EF4-FFF2-40B4-BE49-F238E27FC236}">
                <a16:creationId xmlns:a16="http://schemas.microsoft.com/office/drawing/2014/main" id="{14F2368F-55AD-4E19-831D-9FE1F8E83B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63325" y="6467475"/>
            <a:ext cx="4000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FFFFFF">
                    <a:alpha val="47843"/>
                  </a:srgbClr>
                </a:solidFill>
                <a:latin typeface="DIN Alternate"/>
                <a:ea typeface="DIN Alternate"/>
                <a:cs typeface="DIN Alternate"/>
              </a:defRPr>
            </a:pPr>
            <a:r>
              <a:rPr sz="900" b="0">
                <a:solidFill>
                  <a:srgbClr val="FFFFFF">
                    <a:alpha val="47843"/>
                  </a:srgbClr>
                </a:solidFill>
                <a:latin typeface="DIN Alternate"/>
                <a:ea typeface="DIN Alternate"/>
                <a:cs typeface="DIN Alternate"/>
              </a:rPr>
              <a:t>05</a:t>
            </a:r>
          </a:p>
        </p:txBody>
      </p:sp>
    </p:spTree>
    <p:extLst>
      <p:ext uri="{BB962C8B-B14F-4D97-AF65-F5344CB8AC3E}">
        <p14:creationId xmlns:p14="http://schemas.microsoft.com/office/powerpoint/2010/main" val="1451234391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5F2F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1" name="">
            <a:extLst xmlns:a="http://schemas.openxmlformats.org/drawingml/2006/main">
              <a:ext uri="{FF2B5EF4-FFF2-40B4-BE49-F238E27FC236}">
                <a16:creationId xmlns:a16="http://schemas.microsoft.com/office/drawing/2014/main" id="{81785203-205D-4AC3-8391-ACE91EFDB4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4000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2A183B"/>
                </a:solidFill>
                <a:latin typeface="PingFang SC"/>
                <a:ea typeface="PingFang SC"/>
                <a:cs typeface="PingFang SC"/>
              </a:defRPr>
            </a:pPr>
            <a:r>
              <a:rPr sz="900" b="1">
                <a:solidFill>
                  <a:srgbClr val="2A183B"/>
                </a:solidFill>
                <a:latin typeface="PingFang SC"/>
                <a:ea typeface="PingFang SC"/>
                <a:cs typeface="PingFang SC"/>
              </a:rPr>
              <a:t>产品价值架构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80CA76C-4A77-4EFB-826A-C0897FA8D2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19125"/>
            <a:ext cx="108585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211D27"/>
                </a:solidFill>
                <a:latin typeface="PingFang SC"/>
                <a:ea typeface="PingFang SC"/>
                <a:cs typeface="PingFang SC"/>
              </a:defRPr>
            </a:pPr>
            <a:r>
              <a:rPr sz="2550" b="1">
                <a:solidFill>
                  <a:srgbClr val="211D27"/>
                </a:solidFill>
                <a:latin typeface="PingFang SC"/>
                <a:ea typeface="PingFang SC"/>
                <a:cs typeface="PingFang SC"/>
              </a:rPr>
              <a:t>界面、决策、数据与 Agent 形成完整产品闭环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03251FE-1BAB-4923-ABFF-04AB77DE62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86150" y="1390650"/>
            <a:ext cx="5219700" cy="800100"/>
          </a:xfrm>
          <a:prstGeom xmlns:a="http://schemas.openxmlformats.org/drawingml/2006/main" prst="roundRect">
            <a:avLst>
              <a:gd name="adj" fmla="val 22619"/>
            </a:avLst>
          </a:prstGeom>
          <a:solidFill xmlns:a="http://schemas.openxmlformats.org/drawingml/2006/main">
            <a:srgbClr val="0D0B14"/>
          </a:solidFill>
          <a:ln xmlns:a="http://schemas.openxmlformats.org/drawingml/2006/main" w="0">
            <a:noFill/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3264A71-2741-416D-987F-D817F74455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52850" y="1524000"/>
            <a:ext cx="20955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1500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高级小程序体验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0478D29-D2E5-45C6-98B2-6172F66158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52850" y="1828800"/>
            <a:ext cx="4524375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FFFFFF">
                    <a:alpha val="72157"/>
                  </a:srgbClr>
                </a:solidFill>
                <a:latin typeface="PingFang SC"/>
                <a:ea typeface="PingFang SC"/>
                <a:cs typeface="PingFang SC"/>
              </a:defRPr>
            </a:pPr>
            <a:r>
              <a:rPr sz="1050" b="0">
                <a:solidFill>
                  <a:srgbClr val="FFFFFF">
                    <a:alpha val="72157"/>
                  </a:srgbClr>
                </a:solidFill>
                <a:latin typeface="PingFang SC"/>
                <a:ea typeface="PingFang SC"/>
                <a:cs typeface="PingFang SC"/>
              </a:rPr>
              <a:t>成功案例 · 利润驾驶舱 · 组合比较 · 依据展开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486DB68-8ED9-4EA1-AA36-90524479F5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2895600"/>
            <a:ext cx="2724150" cy="2362200"/>
          </a:xfrm>
          <a:prstGeom xmlns:a="http://schemas.openxmlformats.org/drawingml/2006/main" prst="roundRect">
            <a:avLst>
              <a:gd name="adj" fmla="val 806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0D8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DE17D6D-946C-4A7F-9EBF-21E8CCED9B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" y="3133725"/>
            <a:ext cx="2190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211D27"/>
                </a:solidFill>
                <a:latin typeface="PingFang SC"/>
                <a:ea typeface="PingFang SC"/>
                <a:cs typeface="PingFang SC"/>
              </a:defRPr>
            </a:pPr>
            <a:r>
              <a:rPr sz="1575" b="1">
                <a:solidFill>
                  <a:srgbClr val="211D27"/>
                </a:solidFill>
                <a:latin typeface="PingFang SC"/>
                <a:ea typeface="PingFang SC"/>
                <a:cs typeface="PingFang SC"/>
              </a:rPr>
              <a:t>数据与案例资产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3B149F4-3409-483C-A187-CD9CCF1BDB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" y="3638550"/>
            <a:ext cx="952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665F6B"/>
                </a:solidFill>
                <a:latin typeface="PingFang SC"/>
                <a:ea typeface="PingFang SC"/>
                <a:cs typeface="PingFang SC"/>
              </a:defRPr>
            </a:pPr>
            <a:r>
              <a:rPr sz="1125" b="1">
                <a:solidFill>
                  <a:srgbClr val="665F6B"/>
                </a:solidFill>
                <a:latin typeface="PingFang SC"/>
                <a:ea typeface="PingFang SC"/>
                <a:cs typeface="PingFang SC"/>
              </a:rPr>
              <a:t>公共资料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A1E7E52-58DE-4E51-8364-8DF5C0D13E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" y="3876675"/>
            <a:ext cx="2095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A39CA8"/>
                </a:solidFill>
                <a:latin typeface="PingFang SC"/>
                <a:ea typeface="PingFang SC"/>
                <a:cs typeface="PingFang SC"/>
              </a:defRPr>
            </a:pPr>
            <a:r>
              <a:rPr sz="975" b="0">
                <a:solidFill>
                  <a:srgbClr val="A39CA8"/>
                </a:solidFill>
                <a:latin typeface="PingFang SC"/>
                <a:ea typeface="PingFang SC"/>
                <a:cs typeface="PingFang SC"/>
              </a:rPr>
              <a:t>审批、票务、场馆、市场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4C5ADD6-2379-473F-A9DC-0972445E41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" y="4248150"/>
            <a:ext cx="1524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665F6B"/>
                </a:solidFill>
                <a:latin typeface="PingFang SC"/>
                <a:ea typeface="PingFang SC"/>
                <a:cs typeface="PingFang SC"/>
              </a:defRPr>
            </a:pPr>
            <a:r>
              <a:rPr sz="1125" b="1">
                <a:solidFill>
                  <a:srgbClr val="665F6B"/>
                </a:solidFill>
                <a:latin typeface="PingFang SC"/>
                <a:ea typeface="PingFang SC"/>
                <a:cs typeface="PingFang SC"/>
              </a:rPr>
              <a:t>锐音场内部案例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F2C3910-241D-431A-921E-0907A71666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" y="4486275"/>
            <a:ext cx="2095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A39CA8"/>
                </a:solidFill>
                <a:latin typeface="PingFang SC"/>
                <a:ea typeface="PingFang SC"/>
                <a:cs typeface="PingFang SC"/>
              </a:defRPr>
            </a:pPr>
            <a:r>
              <a:rPr sz="975" b="0">
                <a:solidFill>
                  <a:srgbClr val="A39CA8"/>
                </a:solidFill>
                <a:latin typeface="PingFang SC"/>
                <a:ea typeface="PingFang SC"/>
                <a:cs typeface="PingFang SC"/>
              </a:rPr>
              <a:t>成本、销售、执行、复盘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928C467-0AEB-4D00-B927-7A2B37F639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" y="4857750"/>
            <a:ext cx="1428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665F6B"/>
                </a:solidFill>
                <a:latin typeface="PingFang SC"/>
                <a:ea typeface="PingFang SC"/>
                <a:cs typeface="PingFang SC"/>
              </a:defRPr>
            </a:pPr>
            <a:r>
              <a:rPr sz="1125" b="1">
                <a:solidFill>
                  <a:srgbClr val="665F6B"/>
                </a:solidFill>
                <a:latin typeface="PingFang SC"/>
                <a:ea typeface="PingFang SC"/>
                <a:cs typeface="PingFang SC"/>
              </a:rPr>
              <a:t>租户私有资料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7C71C74-185B-4FDD-B571-896C210991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71700" y="4857750"/>
            <a:ext cx="476250" cy="2857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A38BFF">
              <a:alpha val="9412"/>
            </a:srgbClr>
          </a:solidFill>
          <a:ln xmlns:a="http://schemas.openxmlformats.org/drawingml/2006/main" w="9525">
            <a:solidFill>
              <a:srgbClr val="A38BFF">
                <a:alpha val="37647"/>
              </a:srgbClr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44AC614-47D1-4088-BD19-40283D5ECF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66950" y="4857750"/>
            <a:ext cx="285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2A183B"/>
                </a:solidFill>
                <a:latin typeface="PingFang SC"/>
                <a:ea typeface="PingFang SC"/>
                <a:cs typeface="PingFang SC"/>
              </a:defRPr>
            </a:pPr>
            <a:r>
              <a:rPr sz="900" b="1">
                <a:solidFill>
                  <a:srgbClr val="2A183B"/>
                </a:solidFill>
                <a:latin typeface="PingFang SC"/>
                <a:ea typeface="PingFang SC"/>
                <a:cs typeface="PingFang SC"/>
              </a:rPr>
              <a:t>爬虫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C0EB09B-AF8D-4300-9965-BFF66639D7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05100" y="4857750"/>
            <a:ext cx="457200" cy="2857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73E0BD">
              <a:alpha val="9412"/>
            </a:srgbClr>
          </a:solidFill>
          <a:ln xmlns:a="http://schemas.openxmlformats.org/drawingml/2006/main" w="9525">
            <a:solidFill>
              <a:srgbClr val="73E0BD">
                <a:alpha val="43922"/>
              </a:srgbClr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11F37D2-AC5F-4E00-9C85-B09EB7E3FB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00350" y="4857750"/>
            <a:ext cx="2667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147356"/>
                </a:solidFill>
                <a:latin typeface="PingFang SC"/>
                <a:ea typeface="PingFang SC"/>
                <a:cs typeface="PingFang SC"/>
              </a:defRPr>
            </a:pPr>
            <a:r>
              <a:rPr sz="900" b="1">
                <a:solidFill>
                  <a:srgbClr val="147356"/>
                </a:solidFill>
                <a:latin typeface="PingFang SC"/>
                <a:ea typeface="PingFang SC"/>
                <a:cs typeface="PingFang SC"/>
              </a:rPr>
              <a:t>API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1D909EDF-DBE8-47DB-BE29-CB7E40F0B2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2628900"/>
            <a:ext cx="4762500" cy="2895600"/>
          </a:xfrm>
          <a:prstGeom xmlns:a="http://schemas.openxmlformats.org/drawingml/2006/main" prst="roundRect">
            <a:avLst>
              <a:gd name="adj" fmla="val 7895"/>
            </a:avLst>
          </a:prstGeom>
          <a:gradFill xmlns:a="http://schemas.openxmlformats.org/drawingml/2006/main">
            <a:gsLst>
              <a:gs pos="0">
                <a:srgbClr val="261735"/>
              </a:gs>
              <a:gs pos="100000">
                <a:srgbClr val="0D0B14"/>
              </a:gs>
            </a:gsLst>
            <a:lin ang="1500000"/>
          </a:gradFill>
          <a:ln xmlns:a="http://schemas.openxmlformats.org/drawingml/2006/main" w="13335">
            <a:solidFill>
              <a:srgbClr val="A38BFF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6"/>
          <a:fontRef xmlns:a="http://schemas.openxmlformats.org/drawingml/2006/main" idx="major"/>
        </p:style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95B72779-D929-4937-8E56-6B12EE5FD4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19550" y="2857500"/>
            <a:ext cx="41529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20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2025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锐音场决策中枢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4268E2F0-61A1-487E-8665-A509AB44D4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19550" y="3238500"/>
            <a:ext cx="41529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D9CFFF"/>
                </a:solidFill>
                <a:latin typeface="DIN Alternate"/>
                <a:ea typeface="DIN Alternate"/>
                <a:cs typeface="DIN Alternate"/>
              </a:defRPr>
            </a:pPr>
            <a:r>
              <a:rPr sz="1050" b="0">
                <a:solidFill>
                  <a:srgbClr val="D9CFFF"/>
                </a:solidFill>
                <a:latin typeface="DIN Alternate"/>
                <a:ea typeface="DIN Alternate"/>
                <a:cs typeface="DIN Alternate"/>
              </a:rPr>
              <a:t>预期利润  −  下行风险  −  最大资金缺口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32A3137F-FCA0-48FA-BAFF-F3085146A6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10025" y="3667125"/>
            <a:ext cx="1838325" cy="590550"/>
          </a:xfrm>
          <a:prstGeom xmlns:a="http://schemas.openxmlformats.org/drawingml/2006/main" prst="roundRect">
            <a:avLst>
              <a:gd name="adj" fmla="val 20968"/>
            </a:avLst>
          </a:prstGeom>
          <a:solidFill xmlns:a="http://schemas.openxmlformats.org/drawingml/2006/main">
            <a:srgbClr val="FFFFFF">
              <a:alpha val="4706"/>
            </a:srgbClr>
          </a:solidFill>
          <a:ln xmlns:a="http://schemas.openxmlformats.org/drawingml/2006/main" w="9525">
            <a:solidFill>
              <a:srgbClr val="FFFFFF">
                <a:alpha val="21961"/>
              </a:srgbClr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16790573-29B5-4B05-AE6E-2F2A1DAC36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33850" y="3752850"/>
            <a:ext cx="1590675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1050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证据与相似案例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41C0EB13-BA59-4641-91A7-7A2D100A22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33850" y="3990975"/>
            <a:ext cx="1590675" cy="161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FFFFFF">
                    <a:alpha val="47843"/>
                  </a:srgbClr>
                </a:solidFill>
                <a:latin typeface="PingFang SC"/>
                <a:ea typeface="PingFang SC"/>
                <a:cs typeface="PingFang SC"/>
              </a:defRPr>
            </a:pPr>
            <a:r>
              <a:rPr sz="825" b="0">
                <a:solidFill>
                  <a:srgbClr val="FFFFFF">
                    <a:alpha val="47843"/>
                  </a:srgbClr>
                </a:solidFill>
                <a:latin typeface="PingFang SC"/>
                <a:ea typeface="PingFang SC"/>
                <a:cs typeface="PingFang SC"/>
              </a:rPr>
              <a:t>事实 / 冲突 / 缺口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A7CF11D5-D184-4C30-96CF-EBDC47F270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53150" y="3667125"/>
            <a:ext cx="1838325" cy="590550"/>
          </a:xfrm>
          <a:prstGeom xmlns:a="http://schemas.openxmlformats.org/drawingml/2006/main" prst="roundRect">
            <a:avLst>
              <a:gd name="adj" fmla="val 20968"/>
            </a:avLst>
          </a:prstGeom>
          <a:solidFill xmlns:a="http://schemas.openxmlformats.org/drawingml/2006/main">
            <a:srgbClr val="FFFFFF">
              <a:alpha val="4706"/>
            </a:srgbClr>
          </a:solidFill>
          <a:ln xmlns:a="http://schemas.openxmlformats.org/drawingml/2006/main" w="9525">
            <a:solidFill>
              <a:srgbClr val="FFFFFF">
                <a:alpha val="21961"/>
              </a:srgbClr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F008D1C0-94BF-438E-8C6E-D09E15E80E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76975" y="3752850"/>
            <a:ext cx="1590675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1050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确定性财务引擎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0FE4FCA2-508C-46DB-8C86-CD98A57F57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76975" y="3990975"/>
            <a:ext cx="1590675" cy="161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FFFFFF">
                    <a:alpha val="47843"/>
                  </a:srgbClr>
                </a:solidFill>
                <a:latin typeface="PingFang SC"/>
                <a:ea typeface="PingFang SC"/>
                <a:cs typeface="PingFang SC"/>
              </a:defRPr>
            </a:pPr>
            <a:r>
              <a:rPr sz="825" b="0">
                <a:solidFill>
                  <a:srgbClr val="FFFFFF">
                    <a:alpha val="47843"/>
                  </a:srgbClr>
                </a:solidFill>
                <a:latin typeface="PingFang SC"/>
                <a:ea typeface="PingFang SC"/>
                <a:cs typeface="PingFang SC"/>
              </a:rPr>
              <a:t>成本 / 收益 / 保本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BF61DE74-1899-429F-8972-AA74E68E2E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10025" y="4410075"/>
            <a:ext cx="1838325" cy="590550"/>
          </a:xfrm>
          <a:prstGeom xmlns:a="http://schemas.openxmlformats.org/drawingml/2006/main" prst="roundRect">
            <a:avLst>
              <a:gd name="adj" fmla="val 20968"/>
            </a:avLst>
          </a:prstGeom>
          <a:solidFill xmlns:a="http://schemas.openxmlformats.org/drawingml/2006/main">
            <a:srgbClr val="FFFFFF">
              <a:alpha val="4706"/>
            </a:srgbClr>
          </a:solidFill>
          <a:ln xmlns:a="http://schemas.openxmlformats.org/drawingml/2006/main" w="9525">
            <a:solidFill>
              <a:srgbClr val="FFFFFF">
                <a:alpha val="21961"/>
              </a:srgbClr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09A9A950-7C93-43FF-A45B-2799BC7787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33850" y="4495800"/>
            <a:ext cx="1590675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1050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组合优化与预测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8B0C0A88-909A-4556-A229-8359031B9E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33850" y="4733925"/>
            <a:ext cx="1590675" cy="161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FFFFFF">
                    <a:alpha val="47843"/>
                  </a:srgbClr>
                </a:solidFill>
                <a:latin typeface="PingFang SC"/>
                <a:ea typeface="PingFang SC"/>
                <a:cs typeface="PingFang SC"/>
              </a:defRPr>
            </a:pPr>
            <a:r>
              <a:rPr sz="825" b="0">
                <a:solidFill>
                  <a:srgbClr val="FFFFFF">
                    <a:alpha val="47843"/>
                  </a:srgbClr>
                </a:solidFill>
                <a:latin typeface="PingFang SC"/>
                <a:ea typeface="PingFang SC"/>
                <a:cs typeface="PingFang SC"/>
              </a:rPr>
              <a:t>艺人 / 城 / 时 / 场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D4AC9A98-3B27-4F47-B2C9-AAF24E06DA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53150" y="4410075"/>
            <a:ext cx="1838325" cy="590550"/>
          </a:xfrm>
          <a:prstGeom xmlns:a="http://schemas.openxmlformats.org/drawingml/2006/main" prst="roundRect">
            <a:avLst>
              <a:gd name="adj" fmla="val 20968"/>
            </a:avLst>
          </a:prstGeom>
          <a:solidFill xmlns:a="http://schemas.openxmlformats.org/drawingml/2006/main">
            <a:srgbClr val="FFFFFF">
              <a:alpha val="4706"/>
            </a:srgbClr>
          </a:solidFill>
          <a:ln xmlns:a="http://schemas.openxmlformats.org/drawingml/2006/main" w="9525">
            <a:solidFill>
              <a:srgbClr val="FFFFFF">
                <a:alpha val="21961"/>
              </a:srgbClr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37C2DBBC-EF22-43A4-B68D-0BE4C6B3F9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76975" y="4495800"/>
            <a:ext cx="1590675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1050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大模型推理解释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0F661212-B4A0-48D7-8182-0F0F1CC835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76975" y="4733925"/>
            <a:ext cx="1590675" cy="161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FFFFFF">
                    <a:alpha val="47843"/>
                  </a:srgbClr>
                </a:solidFill>
                <a:latin typeface="PingFang SC"/>
                <a:ea typeface="PingFang SC"/>
                <a:cs typeface="PingFang SC"/>
              </a:defRPr>
            </a:pPr>
            <a:r>
              <a:rPr sz="825" b="0">
                <a:solidFill>
                  <a:srgbClr val="FFFFFF">
                    <a:alpha val="47843"/>
                  </a:srgbClr>
                </a:solidFill>
                <a:latin typeface="PingFang SC"/>
                <a:ea typeface="PingFang SC"/>
                <a:cs typeface="PingFang SC"/>
              </a:rPr>
              <a:t>提出假设，不造事实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D29FDD82-FF65-4BB1-BF8E-DAE25EDC98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57800" y="5172075"/>
            <a:ext cx="1676400" cy="2857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F6B59">
              <a:alpha val="9412"/>
            </a:srgbClr>
          </a:solidFill>
          <a:ln xmlns:a="http://schemas.openxmlformats.org/drawingml/2006/main" w="9525">
            <a:solidFill>
              <a:srgbClr val="FF6B59">
                <a:alpha val="50196"/>
              </a:srgbClr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BDCDA76F-4CB1-425D-ABE1-C85659D61A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53050" y="5172075"/>
            <a:ext cx="14859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FF6B59"/>
                </a:solidFill>
                <a:latin typeface="PingFang SC"/>
                <a:ea typeface="PingFang SC"/>
                <a:cs typeface="PingFang SC"/>
              </a:defRPr>
            </a:pPr>
            <a:r>
              <a:rPr sz="900" b="1">
                <a:solidFill>
                  <a:srgbClr val="FF6B59"/>
                </a:solidFill>
                <a:latin typeface="PingFang SC"/>
                <a:ea typeface="PingFang SC"/>
                <a:cs typeface="PingFang SC"/>
              </a:rPr>
              <a:t>人工硬门禁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E48A73E7-B480-4C25-AE4F-4E0AF365F9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48725" y="2895600"/>
            <a:ext cx="2724150" cy="2362200"/>
          </a:xfrm>
          <a:prstGeom xmlns:a="http://schemas.openxmlformats.org/drawingml/2006/main" prst="roundRect">
            <a:avLst>
              <a:gd name="adj" fmla="val 806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0D8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2ED1E5BF-CD5F-4EF5-9784-47AE4BBC0B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96375" y="3133725"/>
            <a:ext cx="22288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211D27"/>
                </a:solidFill>
                <a:latin typeface="PingFang SC"/>
                <a:ea typeface="PingFang SC"/>
                <a:cs typeface="PingFang SC"/>
              </a:defRPr>
            </a:pPr>
            <a:r>
              <a:rPr sz="1575" b="1">
                <a:solidFill>
                  <a:srgbClr val="211D27"/>
                </a:solidFill>
                <a:latin typeface="PingFang SC"/>
                <a:ea typeface="PingFang SC"/>
                <a:cs typeface="PingFang SC"/>
              </a:rPr>
              <a:t>主办方 × 专职 Agent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4F7BE1C6-B2DE-43D6-BC38-F2224D8781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91625" y="3695700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A38B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43EDB7B6-3979-45F0-BB77-E6F2A6177E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01175" y="3629025"/>
            <a:ext cx="18478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665F6B"/>
                </a:solidFill>
                <a:latin typeface="PingFang SC"/>
                <a:ea typeface="PingFang SC"/>
                <a:cs typeface="PingFang SC"/>
              </a:defRPr>
            </a:pPr>
            <a:r>
              <a:rPr sz="1050" b="0">
                <a:solidFill>
                  <a:srgbClr val="665F6B"/>
                </a:solidFill>
                <a:latin typeface="PingFang SC"/>
                <a:ea typeface="PingFang SC"/>
                <a:cs typeface="PingFang SC"/>
              </a:rPr>
              <a:t>长期客户记忆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6C61C2DD-7B78-4B12-A57A-D6D7D4CEC4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91625" y="4067175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6B5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842A17E3-DE1D-4FBA-9DF1-65306ED387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01175" y="4000500"/>
            <a:ext cx="18478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665F6B"/>
                </a:solidFill>
                <a:latin typeface="PingFang SC"/>
                <a:ea typeface="PingFang SC"/>
                <a:cs typeface="PingFang SC"/>
              </a:defRPr>
            </a:pPr>
            <a:r>
              <a:rPr sz="1050" b="1">
                <a:solidFill>
                  <a:srgbClr val="665F6B"/>
                </a:solidFill>
                <a:latin typeface="PingFang SC"/>
                <a:ea typeface="PingFang SC"/>
                <a:cs typeface="PingFang SC"/>
              </a:rPr>
              <a:t>主动规划与任务派发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D13B5EC1-22C8-4843-AF9A-357C4ED092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91625" y="4438650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A38B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CCEDB150-5138-4F55-8BF4-9C66C7D427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01175" y="4371975"/>
            <a:ext cx="18478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665F6B"/>
                </a:solidFill>
                <a:latin typeface="PingFang SC"/>
                <a:ea typeface="PingFang SC"/>
                <a:cs typeface="PingFang SC"/>
              </a:defRPr>
            </a:pPr>
            <a:r>
              <a:rPr sz="1050" b="0">
                <a:solidFill>
                  <a:srgbClr val="665F6B"/>
                </a:solidFill>
                <a:latin typeface="PingFang SC"/>
                <a:ea typeface="PingFang SC"/>
                <a:cs typeface="PingFang SC"/>
              </a:rPr>
              <a:t>持续监控与重算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14DD83C5-CB65-41A3-AF5A-873D94EBF2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91625" y="4810125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A38B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090875D0-A704-4E58-8926-6E7F91D5F3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01175" y="4743450"/>
            <a:ext cx="18478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665F6B"/>
                </a:solidFill>
                <a:latin typeface="PingFang SC"/>
                <a:ea typeface="PingFang SC"/>
                <a:cs typeface="PingFang SC"/>
              </a:defRPr>
            </a:pPr>
            <a:r>
              <a:rPr sz="1050" b="0">
                <a:solidFill>
                  <a:srgbClr val="665F6B"/>
                </a:solidFill>
                <a:latin typeface="PingFang SC"/>
                <a:ea typeface="PingFang SC"/>
                <a:cs typeface="PingFang SC"/>
              </a:rPr>
              <a:t>人工审批与结果复盘</a:t>
            </a:r>
          </a:p>
        </p:txBody>
      </p:sp>
      <p:cxnSp>
        <p:nvCxnSpPr>
          <p:cNvPr id="104" name=""/>
          <p:cNvCxnSpPr>
            <a:stCxn xmlns:a="http://schemas.openxmlformats.org/drawingml/2006/main" id="6" idx="3"/>
            <a:endCxn xmlns:a="http://schemas.openxmlformats.org/drawingml/2006/main" id="17" idx="1"/>
          </p:cNvCxnSpPr>
          <p:nvPr/>
        </p:nvCxnSpPr>
        <p:spPr>
          <a:xfrm xmlns:a="http://schemas.openxmlformats.org/drawingml/2006/main">
            <a:off x="3343275" y="4076700"/>
            <a:ext cx="371475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A38BFF"/>
            </a:solidFill>
            <a:prstDash val="solid"/>
            <a:headEnd type="triangle" w="sm" len="sm"/>
          </a:ln>
        </p:spPr>
      </p:cxnSp>
      <p:cxnSp>
        <p:nvCxnSpPr>
          <p:cNvPr id="105" name=""/>
          <p:cNvCxnSpPr>
            <a:stCxn xmlns:a="http://schemas.openxmlformats.org/drawingml/2006/main" id="17" idx="3"/>
            <a:endCxn xmlns:a="http://schemas.openxmlformats.org/drawingml/2006/main" id="34" idx="1"/>
          </p:cNvCxnSpPr>
          <p:nvPr/>
        </p:nvCxnSpPr>
        <p:spPr>
          <a:xfrm xmlns:a="http://schemas.openxmlformats.org/drawingml/2006/main">
            <a:off x="8477250" y="4076700"/>
            <a:ext cx="371475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A38BFF"/>
            </a:solidFill>
            <a:prstDash val="solid"/>
            <a:headEnd type="triangle" w="sm" len="sm"/>
          </a:ln>
        </p:spPr>
      </p:cxnSp>
      <p:cxnSp>
        <p:nvCxnSpPr>
          <p:cNvPr id="106" name=""/>
          <p:cNvCxnSpPr>
            <a:stCxn xmlns:a="http://schemas.openxmlformats.org/drawingml/2006/main" id="17" idx="0"/>
            <a:endCxn xmlns:a="http://schemas.openxmlformats.org/drawingml/2006/main" id="3" idx="2"/>
          </p:cNvCxnSpPr>
          <p:nvPr/>
        </p:nvCxnSpPr>
        <p:spPr>
          <a:xfrm xmlns:a="http://schemas.openxmlformats.org/drawingml/2006/main" flipV="1">
            <a:off x="6096000" y="2190750"/>
            <a:ext cx="0" cy="43815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A38BFF"/>
            </a:solidFill>
            <a:prstDash val="solid"/>
            <a:headEnd type="triangle" w="sm" len="sm"/>
          </a:ln>
        </p:spPr>
      </p:cxn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198888E5-3E93-4E0E-A7DD-7A8DE20A73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9700" y="5905500"/>
            <a:ext cx="9372600" cy="466725"/>
          </a:xfrm>
          <a:prstGeom xmlns:a="http://schemas.openxmlformats.org/drawingml/2006/main" prst="roundRect">
            <a:avLst>
              <a:gd name="adj" fmla="val 32653"/>
            </a:avLst>
          </a:prstGeom>
          <a:solidFill xmlns:a="http://schemas.openxmlformats.org/drawingml/2006/main">
            <a:srgbClr val="2A183B">
              <a:alpha val="5098"/>
            </a:srgbClr>
          </a:solidFill>
          <a:ln xmlns:a="http://schemas.openxmlformats.org/drawingml/2006/main" w="9525">
            <a:solidFill>
              <a:srgbClr val="A38BFF">
                <a:alpha val="33333"/>
              </a:srgbClr>
            </a:solidFill>
            <a:prstDash val="solid"/>
          </a:ln>
        </p:spPr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DE5D4BF8-F98F-4669-9A73-2D36B9C1D6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95450" y="6010275"/>
            <a:ext cx="666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2A183B"/>
                </a:solidFill>
                <a:latin typeface="PingFang SC"/>
                <a:ea typeface="PingFang SC"/>
                <a:cs typeface="PingFang SC"/>
              </a:defRPr>
            </a:pPr>
            <a:r>
              <a:rPr sz="1050" b="1">
                <a:solidFill>
                  <a:srgbClr val="2A183B"/>
                </a:solidFill>
                <a:latin typeface="PingFang SC"/>
                <a:ea typeface="PingFang SC"/>
                <a:cs typeface="PingFang SC"/>
              </a:rPr>
              <a:t>预测</a:t>
            </a:r>
          </a:p>
        </p:txBody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7F892F46-629C-40AF-A18F-CC2B934849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67050" y="6010275"/>
            <a:ext cx="666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2A183B"/>
                </a:solidFill>
                <a:latin typeface="PingFang SC"/>
                <a:ea typeface="PingFang SC"/>
                <a:cs typeface="PingFang SC"/>
              </a:defRPr>
            </a:pPr>
            <a:r>
              <a:rPr sz="1050" b="1">
                <a:solidFill>
                  <a:srgbClr val="2A183B"/>
                </a:solidFill>
                <a:latin typeface="PingFang SC"/>
                <a:ea typeface="PingFang SC"/>
                <a:cs typeface="PingFang SC"/>
              </a:rPr>
              <a:t>决策</a:t>
            </a:r>
          </a:p>
        </p:txBody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6F46BD27-99CD-440D-930B-044E2267B6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38650" y="6010275"/>
            <a:ext cx="666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2A183B"/>
                </a:solidFill>
                <a:latin typeface="PingFang SC"/>
                <a:ea typeface="PingFang SC"/>
                <a:cs typeface="PingFang SC"/>
              </a:defRPr>
            </a:pPr>
            <a:r>
              <a:rPr sz="1050" b="1">
                <a:solidFill>
                  <a:srgbClr val="2A183B"/>
                </a:solidFill>
                <a:latin typeface="PingFang SC"/>
                <a:ea typeface="PingFang SC"/>
                <a:cs typeface="PingFang SC"/>
              </a:rPr>
              <a:t>执行</a:t>
            </a:r>
          </a:p>
        </p:txBody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4049B962-E070-4EA9-A7F5-CB9D80A4B0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76900" y="6010275"/>
            <a:ext cx="1047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2A183B"/>
                </a:solidFill>
                <a:latin typeface="PingFang SC"/>
                <a:ea typeface="PingFang SC"/>
                <a:cs typeface="PingFang SC"/>
              </a:defRPr>
            </a:pPr>
            <a:r>
              <a:rPr sz="1050" b="1">
                <a:solidFill>
                  <a:srgbClr val="2A183B"/>
                </a:solidFill>
                <a:latin typeface="PingFang SC"/>
                <a:ea typeface="PingFang SC"/>
                <a:cs typeface="PingFang SC"/>
              </a:rPr>
              <a:t>售票与入场</a:t>
            </a:r>
          </a:p>
        </p:txBody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7A27CD79-A308-4D60-BD43-D67FF65F5C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6010275"/>
            <a:ext cx="666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2A183B"/>
                </a:solidFill>
                <a:latin typeface="PingFang SC"/>
                <a:ea typeface="PingFang SC"/>
                <a:cs typeface="PingFang SC"/>
              </a:defRPr>
            </a:pPr>
            <a:r>
              <a:rPr sz="1050" b="1">
                <a:solidFill>
                  <a:srgbClr val="2A183B"/>
                </a:solidFill>
                <a:latin typeface="PingFang SC"/>
                <a:ea typeface="PingFang SC"/>
                <a:cs typeface="PingFang SC"/>
              </a:rPr>
              <a:t>结算</a:t>
            </a:r>
          </a:p>
        </p:txBody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3024608C-CC46-4ED9-99C4-3465482811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48700" y="6010275"/>
            <a:ext cx="666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FF6B59"/>
                </a:solidFill>
                <a:latin typeface="PingFang SC"/>
                <a:ea typeface="PingFang SC"/>
                <a:cs typeface="PingFang SC"/>
              </a:defRPr>
            </a:pPr>
            <a:r>
              <a:rPr sz="1050" b="1">
                <a:solidFill>
                  <a:srgbClr val="FF6B59"/>
                </a:solidFill>
                <a:latin typeface="PingFang SC"/>
                <a:ea typeface="PingFang SC"/>
                <a:cs typeface="PingFang SC"/>
              </a:rPr>
              <a:t>校准</a:t>
            </a:r>
          </a:p>
        </p:txBody>
      </p: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3F9BBD6E-6BDF-46A4-990F-DA4B298192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76500" y="6000750"/>
            <a:ext cx="2095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0">
                <a:solidFill>
                  <a:srgbClr val="A39CA8"/>
                </a:solidFill>
                <a:latin typeface="PingFang SC"/>
                <a:ea typeface="PingFang SC"/>
                <a:cs typeface="PingFang SC"/>
              </a:defRPr>
            </a:pPr>
            <a:r>
              <a:rPr sz="1500" b="0">
                <a:solidFill>
                  <a:srgbClr val="A39CA8"/>
                </a:solidFill>
                <a:latin typeface="PingFang SC"/>
                <a:ea typeface="PingFang SC"/>
                <a:cs typeface="PingFang SC"/>
              </a:rPr>
              <a:t>›</a:t>
            </a:r>
          </a:p>
        </p:txBody>
      </p:sp>
      <p:sp>
        <p:nv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FAE4B0BC-50D4-4FB2-B756-80B401C156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48100" y="6000750"/>
            <a:ext cx="2095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0">
                <a:solidFill>
                  <a:srgbClr val="A39CA8"/>
                </a:solidFill>
                <a:latin typeface="PingFang SC"/>
                <a:ea typeface="PingFang SC"/>
                <a:cs typeface="PingFang SC"/>
              </a:defRPr>
            </a:pPr>
            <a:r>
              <a:rPr sz="1500" b="0">
                <a:solidFill>
                  <a:srgbClr val="A39CA8"/>
                </a:solidFill>
                <a:latin typeface="PingFang SC"/>
                <a:ea typeface="PingFang SC"/>
                <a:cs typeface="PingFang SC"/>
              </a:rPr>
              <a:t>›</a:t>
            </a:r>
          </a:p>
        </p:txBody>
      </p:sp>
      <p:sp>
        <p:nvSpPr>
          <p:cNvPr id="56" name="">
            <a:extLst xmlns:a="http://schemas.openxmlformats.org/drawingml/2006/main">
              <a:ext uri="{FF2B5EF4-FFF2-40B4-BE49-F238E27FC236}">
                <a16:creationId xmlns:a16="http://schemas.microsoft.com/office/drawing/2014/main" id="{964A2267-5E00-4F60-91A6-A8509966E8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19700" y="6000750"/>
            <a:ext cx="2095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0">
                <a:solidFill>
                  <a:srgbClr val="A39CA8"/>
                </a:solidFill>
                <a:latin typeface="PingFang SC"/>
                <a:ea typeface="PingFang SC"/>
                <a:cs typeface="PingFang SC"/>
              </a:defRPr>
            </a:pPr>
            <a:r>
              <a:rPr sz="1500" b="0">
                <a:solidFill>
                  <a:srgbClr val="A39CA8"/>
                </a:solidFill>
                <a:latin typeface="PingFang SC"/>
                <a:ea typeface="PingFang SC"/>
                <a:cs typeface="PingFang SC"/>
              </a:rPr>
              <a:t>›</a:t>
            </a:r>
          </a:p>
        </p:txBody>
      </p:sp>
      <p:sp>
        <p:nvSpPr>
          <p:cNvPr id="57" name="">
            <a:extLst xmlns:a="http://schemas.openxmlformats.org/drawingml/2006/main">
              <a:ext uri="{FF2B5EF4-FFF2-40B4-BE49-F238E27FC236}">
                <a16:creationId xmlns:a16="http://schemas.microsoft.com/office/drawing/2014/main" id="{5A2B8154-C902-4DBB-83F8-D8B092662E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38950" y="6000750"/>
            <a:ext cx="2095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0">
                <a:solidFill>
                  <a:srgbClr val="A39CA8"/>
                </a:solidFill>
                <a:latin typeface="PingFang SC"/>
                <a:ea typeface="PingFang SC"/>
                <a:cs typeface="PingFang SC"/>
              </a:defRPr>
            </a:pPr>
            <a:r>
              <a:rPr sz="1500" b="0">
                <a:solidFill>
                  <a:srgbClr val="A39CA8"/>
                </a:solidFill>
                <a:latin typeface="PingFang SC"/>
                <a:ea typeface="PingFang SC"/>
                <a:cs typeface="PingFang SC"/>
              </a:rPr>
              <a:t>›</a:t>
            </a:r>
          </a:p>
        </p:txBody>
      </p:sp>
      <p:sp>
        <p:nvSpPr>
          <p:cNvPr id="58" name="">
            <a:extLst xmlns:a="http://schemas.openxmlformats.org/drawingml/2006/main">
              <a:ext uri="{FF2B5EF4-FFF2-40B4-BE49-F238E27FC236}">
                <a16:creationId xmlns:a16="http://schemas.microsoft.com/office/drawing/2014/main" id="{6203AE8B-2EC2-4A57-A8E9-00656629D0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6000750"/>
            <a:ext cx="2095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0">
                <a:solidFill>
                  <a:srgbClr val="A39CA8"/>
                </a:solidFill>
                <a:latin typeface="PingFang SC"/>
                <a:ea typeface="PingFang SC"/>
                <a:cs typeface="PingFang SC"/>
              </a:defRPr>
            </a:pPr>
            <a:r>
              <a:rPr sz="1500" b="0">
                <a:solidFill>
                  <a:srgbClr val="A39CA8"/>
                </a:solidFill>
                <a:latin typeface="PingFang SC"/>
                <a:ea typeface="PingFang SC"/>
                <a:cs typeface="PingFang SC"/>
              </a:rPr>
              <a:t>›</a:t>
            </a:r>
          </a:p>
        </p:txBody>
      </p:sp>
      <p:cxnSp>
        <p:nvCxnSpPr>
          <p:cNvPr id="119" name=""/>
          <p:cNvCxnSpPr>
            <a:stCxn xmlns:a="http://schemas.openxmlformats.org/drawingml/2006/main" id="47" idx="1"/>
            <a:endCxn xmlns:a="http://schemas.openxmlformats.org/drawingml/2006/main" id="6" idx="2"/>
          </p:cNvCxnSpPr>
          <p:nvPr/>
        </p:nvCxnSpPr>
        <p:spPr>
          <a:xfrm xmlns:a="http://schemas.openxmlformats.org/drawingml/2006/main" flipV="1">
            <a:off x="1181100" y="5257800"/>
            <a:ext cx="800100" cy="881063"/>
          </a:xfrm>
          <a:prstGeom xmlns:a="http://schemas.openxmlformats.org/drawingml/2006/main" prst="bentConnector4">
            <a:avLst/>
          </a:prstGeom>
          <a:ln xmlns:a="http://schemas.openxmlformats.org/drawingml/2006/main" w="15240">
            <a:solidFill>
              <a:srgbClr val="FF6B59"/>
            </a:solidFill>
            <a:prstDash val="solid"/>
            <a:headEnd type="triangle" w="sm" len="sm"/>
          </a:ln>
        </p:spPr>
      </p:cxnSp>
      <p:sp>
        <p:nvSpPr>
          <p:cNvPr id="60" name="">
            <a:extLst xmlns:a="http://schemas.openxmlformats.org/drawingml/2006/main">
              <a:ext uri="{FF2B5EF4-FFF2-40B4-BE49-F238E27FC236}">
                <a16:creationId xmlns:a16="http://schemas.microsoft.com/office/drawing/2014/main" id="{F6D4CB0D-AD1E-4AD5-9A10-D42EE391DF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63325" y="6467475"/>
            <a:ext cx="4000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A39CA8"/>
                </a:solidFill>
                <a:latin typeface="DIN Alternate"/>
                <a:ea typeface="DIN Alternate"/>
                <a:cs typeface="DIN Alternate"/>
              </a:defRPr>
            </a:pPr>
            <a:r>
              <a:rPr sz="900" b="0">
                <a:solidFill>
                  <a:srgbClr val="A39CA8"/>
                </a:solidFill>
                <a:latin typeface="DIN Alternate"/>
                <a:ea typeface="DIN Alternate"/>
                <a:cs typeface="DIN Alternate"/>
              </a:rPr>
              <a:t>06</a:t>
            </a:r>
          </a:p>
        </p:txBody>
      </p:sp>
    </p:spTree>
    <p:extLst>
      <p:ext uri="{BB962C8B-B14F-4D97-AF65-F5344CB8AC3E}">
        <p14:creationId xmlns:p14="http://schemas.microsoft.com/office/powerpoint/2010/main" val="177881377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0D0B14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5" name="">
            <a:extLst xmlns:a="http://schemas.openxmlformats.org/drawingml/2006/main">
              <a:ext uri="{FF2B5EF4-FFF2-40B4-BE49-F238E27FC236}">
                <a16:creationId xmlns:a16="http://schemas.microsoft.com/office/drawing/2014/main" id="{8E59D943-289C-4760-B25B-F97002FEF9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4000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A38BFF"/>
                </a:solidFill>
                <a:latin typeface="PingFang SC"/>
                <a:ea typeface="PingFang SC"/>
                <a:cs typeface="PingFang SC"/>
              </a:defRPr>
            </a:pPr>
            <a:r>
              <a:rPr sz="900" b="1">
                <a:solidFill>
                  <a:srgbClr val="A38BFF"/>
                </a:solidFill>
                <a:latin typeface="PingFang SC"/>
                <a:ea typeface="PingFang SC"/>
                <a:cs typeface="PingFang SC"/>
              </a:rPr>
              <a:t>系统技术架构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2783A89-EF04-4DB9-AE4F-E2FAF08E18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19125"/>
            <a:ext cx="108585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2550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小程序只连接受控后端，不直连模型、爬虫或数据库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0BAF6DE-1DEB-4E48-8A83-FA9B86A47F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33475"/>
            <a:ext cx="10572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FFFFFF">
                    <a:alpha val="72157"/>
                  </a:srgbClr>
                </a:solidFill>
                <a:latin typeface="PingFang SC"/>
                <a:ea typeface="PingFang SC"/>
                <a:cs typeface="PingFang SC"/>
              </a:defRPr>
            </a:pPr>
            <a:r>
              <a:rPr sz="1200" b="0">
                <a:solidFill>
                  <a:srgbClr val="FFFFFF">
                    <a:alpha val="72157"/>
                  </a:srgbClr>
                </a:solidFill>
                <a:latin typeface="PingFang SC"/>
                <a:ea typeface="PingFang SC"/>
                <a:cs typeface="PingFang SC"/>
              </a:rPr>
              <a:t>决策服务与数据资产系统解耦，便于替换真实 API 并保障租户隔离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5C40B1B-421D-425B-B76A-43DADF254D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752600"/>
            <a:ext cx="952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A38BFF"/>
                </a:solidFill>
                <a:latin typeface="PingFang SC"/>
                <a:ea typeface="PingFang SC"/>
                <a:cs typeface="PingFang SC"/>
              </a:defRPr>
            </a:pPr>
            <a:r>
              <a:rPr sz="1050" b="1">
                <a:solidFill>
                  <a:srgbClr val="A38BFF"/>
                </a:solidFill>
                <a:latin typeface="PingFang SC"/>
                <a:ea typeface="PingFang SC"/>
                <a:cs typeface="PingFang SC"/>
              </a:rPr>
              <a:t>交互层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1551C44-5466-4D36-BC28-D4978ECF1A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47825" y="1581150"/>
            <a:ext cx="2047875" cy="628650"/>
          </a:xfrm>
          <a:prstGeom xmlns:a="http://schemas.openxmlformats.org/drawingml/2006/main" prst="roundRect">
            <a:avLst>
              <a:gd name="adj" fmla="val 22727"/>
            </a:avLst>
          </a:prstGeom>
          <a:solidFill xmlns:a="http://schemas.openxmlformats.org/drawingml/2006/main">
            <a:srgbClr val="FFFFFF">
              <a:alpha val="5098"/>
            </a:srgbClr>
          </a:solidFill>
          <a:ln xmlns:a="http://schemas.openxmlformats.org/drawingml/2006/main" w="9525">
            <a:solidFill>
              <a:srgbClr val="FFFFFF">
                <a:alpha val="21961"/>
              </a:srgbClr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CF9E600-12FF-4B55-9B78-EC4DAF7410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86200" y="1581150"/>
            <a:ext cx="2047875" cy="628650"/>
          </a:xfrm>
          <a:prstGeom xmlns:a="http://schemas.openxmlformats.org/drawingml/2006/main" prst="roundRect">
            <a:avLst>
              <a:gd name="adj" fmla="val 22727"/>
            </a:avLst>
          </a:prstGeom>
          <a:solidFill xmlns:a="http://schemas.openxmlformats.org/drawingml/2006/main">
            <a:srgbClr val="FFFFFF">
              <a:alpha val="5098"/>
            </a:srgbClr>
          </a:solidFill>
          <a:ln xmlns:a="http://schemas.openxmlformats.org/drawingml/2006/main" w="9525">
            <a:solidFill>
              <a:srgbClr val="FFFFFF">
                <a:alpha val="21961"/>
              </a:srgbClr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28E80A2-93EB-4DB3-8150-91A071C013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24575" y="1581150"/>
            <a:ext cx="2047875" cy="628650"/>
          </a:xfrm>
          <a:prstGeom xmlns:a="http://schemas.openxmlformats.org/drawingml/2006/main" prst="roundRect">
            <a:avLst>
              <a:gd name="adj" fmla="val 22727"/>
            </a:avLst>
          </a:prstGeom>
          <a:solidFill xmlns:a="http://schemas.openxmlformats.org/drawingml/2006/main">
            <a:srgbClr val="FFFFFF">
              <a:alpha val="5098"/>
            </a:srgbClr>
          </a:solidFill>
          <a:ln xmlns:a="http://schemas.openxmlformats.org/drawingml/2006/main" w="9525">
            <a:solidFill>
              <a:srgbClr val="FFFFFF">
                <a:alpha val="21961"/>
              </a:srgbClr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A01615C-E141-4AFF-983E-224FAF6420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09750" y="1676400"/>
            <a:ext cx="172402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1275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微信小程序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03C357B-AB88-4124-9B92-039EA3FB29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09750" y="1943100"/>
            <a:ext cx="1724025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825" b="0">
                <a:solidFill>
                  <a:srgbClr val="FFFFFF">
                    <a:alpha val="47843"/>
                  </a:srgbClr>
                </a:solidFill>
                <a:latin typeface="PingFang SC"/>
                <a:ea typeface="PingFang SC"/>
                <a:cs typeface="PingFang SC"/>
              </a:defRPr>
            </a:pPr>
            <a:r>
              <a:rPr sz="825" b="0">
                <a:solidFill>
                  <a:srgbClr val="FFFFFF">
                    <a:alpha val="47843"/>
                  </a:srgbClr>
                </a:solidFill>
                <a:latin typeface="PingFang SC"/>
                <a:ea typeface="PingFang SC"/>
                <a:cs typeface="PingFang SC"/>
              </a:rPr>
              <a:t>项目、测算、任务、审批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456C5E6-515A-464A-A950-04E61D8301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48125" y="1676400"/>
            <a:ext cx="172402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1275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运营管理台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344A64B-4B9F-4A8D-BC1F-ED6E189A38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48125" y="1943100"/>
            <a:ext cx="1724025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825" b="0">
                <a:solidFill>
                  <a:srgbClr val="FFFFFF">
                    <a:alpha val="47843"/>
                  </a:srgbClr>
                </a:solidFill>
                <a:latin typeface="PingFang SC"/>
                <a:ea typeface="PingFang SC"/>
                <a:cs typeface="PingFang SC"/>
              </a:defRPr>
            </a:pPr>
            <a:r>
              <a:rPr sz="825" b="0">
                <a:solidFill>
                  <a:srgbClr val="FFFFFF">
                    <a:alpha val="47843"/>
                  </a:srgbClr>
                </a:solidFill>
                <a:latin typeface="PingFang SC"/>
                <a:ea typeface="PingFang SC"/>
                <a:cs typeface="PingFang SC"/>
              </a:rPr>
              <a:t>规则、租户、案例、审计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BB2C55D-6B25-4959-A363-2076063F47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1676400"/>
            <a:ext cx="172402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1275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消息渠道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22D4361-131C-4DEB-8433-D6FB02D614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1943100"/>
            <a:ext cx="1724025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825" b="0">
                <a:solidFill>
                  <a:srgbClr val="FFFFFF">
                    <a:alpha val="47843"/>
                  </a:srgbClr>
                </a:solidFill>
                <a:latin typeface="PingFang SC"/>
                <a:ea typeface="PingFang SC"/>
                <a:cs typeface="PingFang SC"/>
              </a:defRPr>
            </a:pPr>
            <a:r>
              <a:rPr sz="825" b="0">
                <a:solidFill>
                  <a:srgbClr val="FFFFFF">
                    <a:alpha val="47843"/>
                  </a:srgbClr>
                </a:solidFill>
                <a:latin typeface="PingFang SC"/>
                <a:ea typeface="PingFang SC"/>
                <a:cs typeface="PingFang SC"/>
              </a:rPr>
              <a:t>提醒、升级、人工确认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6813D62-970E-4D13-A297-8A7B67A430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62950" y="1581150"/>
            <a:ext cx="3200400" cy="628650"/>
          </a:xfrm>
          <a:prstGeom xmlns:a="http://schemas.openxmlformats.org/drawingml/2006/main" prst="roundRect">
            <a:avLst>
              <a:gd name="adj" fmla="val 22727"/>
            </a:avLst>
          </a:prstGeom>
          <a:solidFill xmlns:a="http://schemas.openxmlformats.org/drawingml/2006/main">
            <a:srgbClr val="FFFFFF">
              <a:alpha val="5098"/>
            </a:srgbClr>
          </a:solidFill>
          <a:ln xmlns:a="http://schemas.openxmlformats.org/drawingml/2006/main" w="9525">
            <a:solidFill>
              <a:srgbClr val="FFFFFF">
                <a:alpha val="21961"/>
              </a:srgbClr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74B3790-DD49-4F6F-96AC-307E5C7881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1676400"/>
            <a:ext cx="27813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1275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具名负责人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DC45C62-111D-4F8F-9099-56C0AA12C4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1943100"/>
            <a:ext cx="27813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825" b="0">
                <a:solidFill>
                  <a:srgbClr val="FFFFFF">
                    <a:alpha val="47843"/>
                  </a:srgbClr>
                </a:solidFill>
                <a:latin typeface="PingFang SC"/>
                <a:ea typeface="PingFang SC"/>
                <a:cs typeface="PingFang SC"/>
              </a:defRPr>
            </a:pPr>
            <a:r>
              <a:rPr sz="825" b="0">
                <a:solidFill>
                  <a:srgbClr val="FFFFFF">
                    <a:alpha val="47843"/>
                  </a:srgbClr>
                </a:solidFill>
                <a:latin typeface="PingFang SC"/>
                <a:ea typeface="PingFang SC"/>
                <a:cs typeface="PingFang SC"/>
              </a:rPr>
              <a:t>授权、确认、阻断、补充证据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662D73F4-9EE9-477F-B54D-886F9859A6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47825" y="2305050"/>
            <a:ext cx="9915525" cy="400050"/>
          </a:xfrm>
          <a:prstGeom xmlns:a="http://schemas.openxmlformats.org/drawingml/2006/main" prst="roundRect">
            <a:avLst>
              <a:gd name="adj" fmla="val 30952"/>
            </a:avLst>
          </a:prstGeom>
          <a:solidFill xmlns:a="http://schemas.openxmlformats.org/drawingml/2006/main">
            <a:srgbClr val="A38BFF">
              <a:alpha val="7843"/>
            </a:srgbClr>
          </a:solidFill>
          <a:ln xmlns:a="http://schemas.openxmlformats.org/drawingml/2006/main" w="9525">
            <a:solidFill>
              <a:srgbClr val="A38BFF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1C4758CD-DC7F-4EF6-A7B5-89A35D6260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57375" y="2390775"/>
            <a:ext cx="385762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D9CFFF"/>
                </a:solidFill>
                <a:latin typeface="PingFang SC"/>
                <a:ea typeface="PingFang SC"/>
                <a:cs typeface="PingFang SC"/>
              </a:defRPr>
            </a:pPr>
            <a:r>
              <a:rPr sz="1125" b="1">
                <a:solidFill>
                  <a:srgbClr val="D9CFFF"/>
                </a:solidFill>
                <a:latin typeface="PingFang SC"/>
                <a:ea typeface="PingFang SC"/>
                <a:cs typeface="PingFang SC"/>
              </a:rPr>
              <a:t>API Gateway · 身份认证 · 租户上下文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7E63BB63-335C-4872-BFFA-6C6698C594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91300" y="2390775"/>
            <a:ext cx="47053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FFFFFF">
                    <a:alpha val="47843"/>
                  </a:srgbClr>
                </a:solidFill>
                <a:latin typeface="PingFang SC"/>
                <a:ea typeface="PingFang SC"/>
                <a:cs typeface="PingFang SC"/>
              </a:defRPr>
            </a:pPr>
            <a:r>
              <a:rPr sz="900" b="0">
                <a:solidFill>
                  <a:srgbClr val="FFFFFF">
                    <a:alpha val="47843"/>
                  </a:srgbClr>
                </a:solidFill>
                <a:latin typeface="PingFang SC"/>
                <a:ea typeface="PingFang SC"/>
                <a:cs typeface="PingFang SC"/>
              </a:rPr>
              <a:t>统一注入 tenant_id · 权限范围 · trace_id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D03667B6-C890-45D7-A091-741C8A27A6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2971800"/>
            <a:ext cx="952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A38BFF"/>
                </a:solidFill>
                <a:latin typeface="PingFang SC"/>
                <a:ea typeface="PingFang SC"/>
                <a:cs typeface="PingFang SC"/>
              </a:defRPr>
            </a:pPr>
            <a:r>
              <a:rPr sz="1050" b="1">
                <a:solidFill>
                  <a:srgbClr val="A38BFF"/>
                </a:solidFill>
                <a:latin typeface="PingFang SC"/>
                <a:ea typeface="PingFang SC"/>
                <a:cs typeface="PingFang SC"/>
              </a:rPr>
              <a:t>业务服务层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28E129F8-7B00-4914-A752-A1DDF419CE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47825" y="2857500"/>
            <a:ext cx="1238250" cy="619125"/>
          </a:xfrm>
          <a:prstGeom xmlns:a="http://schemas.openxmlformats.org/drawingml/2006/main" prst="roundRect">
            <a:avLst>
              <a:gd name="adj" fmla="val 21538"/>
            </a:avLst>
          </a:prstGeom>
          <a:solidFill xmlns:a="http://schemas.openxmlformats.org/drawingml/2006/main">
            <a:srgbClr val="FFFFFF">
              <a:alpha val="5098"/>
            </a:srgbClr>
          </a:solidFill>
          <a:ln xmlns:a="http://schemas.openxmlformats.org/drawingml/2006/main" w="9525">
            <a:solidFill>
              <a:srgbClr val="FFFFFF">
                <a:alpha val="21961"/>
              </a:srgbClr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A9BF4440-D8FA-4D02-B501-0A63635A1F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43075" y="2943225"/>
            <a:ext cx="1047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1125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项目服务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D4FA2596-50A1-490D-AA1A-3147234142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43075" y="3219450"/>
            <a:ext cx="10477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750" b="0">
                <a:solidFill>
                  <a:srgbClr val="FFFFFF">
                    <a:alpha val="47843"/>
                  </a:srgbClr>
                </a:solidFill>
                <a:latin typeface="DIN Alternate"/>
                <a:ea typeface="DIN Alternate"/>
                <a:cs typeface="DIN Alternate"/>
              </a:defRPr>
            </a:pPr>
            <a:r>
              <a:rPr sz="750" b="0">
                <a:solidFill>
                  <a:srgbClr val="FFFFFF">
                    <a:alpha val="47843"/>
                  </a:srgbClr>
                </a:solidFill>
                <a:latin typeface="DIN Alternate"/>
                <a:ea typeface="DIN Alternate"/>
                <a:cs typeface="DIN Alternate"/>
              </a:rPr>
              <a:t>Project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A915E2B6-DB3F-4909-AE4E-64F1DFD5DF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0" y="2857500"/>
            <a:ext cx="1238250" cy="619125"/>
          </a:xfrm>
          <a:prstGeom xmlns:a="http://schemas.openxmlformats.org/drawingml/2006/main" prst="roundRect">
            <a:avLst>
              <a:gd name="adj" fmla="val 21538"/>
            </a:avLst>
          </a:prstGeom>
          <a:solidFill xmlns:a="http://schemas.openxmlformats.org/drawingml/2006/main">
            <a:srgbClr val="FFFFFF">
              <a:alpha val="5098"/>
            </a:srgbClr>
          </a:solidFill>
          <a:ln xmlns:a="http://schemas.openxmlformats.org/drawingml/2006/main" w="9525">
            <a:solidFill>
              <a:srgbClr val="FFFFFF">
                <a:alpha val="21961"/>
              </a:srgbClr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C5832060-0DB1-47C3-AC12-6AAC4AA36F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2943225"/>
            <a:ext cx="1047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1125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决策上下文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B17B37A0-6C8D-4A07-9DFF-013DD57739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3219450"/>
            <a:ext cx="10477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750" b="0">
                <a:solidFill>
                  <a:srgbClr val="FFFFFF">
                    <a:alpha val="47843"/>
                  </a:srgbClr>
                </a:solidFill>
                <a:latin typeface="DIN Alternate"/>
                <a:ea typeface="DIN Alternate"/>
                <a:cs typeface="DIN Alternate"/>
              </a:defRPr>
            </a:pPr>
            <a:r>
              <a:rPr sz="750" b="0">
                <a:solidFill>
                  <a:srgbClr val="FFFFFF">
                    <a:alpha val="47843"/>
                  </a:srgbClr>
                </a:solidFill>
                <a:latin typeface="DIN Alternate"/>
                <a:ea typeface="DIN Alternate"/>
                <a:cs typeface="DIN Alternate"/>
              </a:rPr>
              <a:t>Context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8B3BDE29-A546-4992-8856-655CF0C831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48175" y="2857500"/>
            <a:ext cx="1238250" cy="619125"/>
          </a:xfrm>
          <a:prstGeom xmlns:a="http://schemas.openxmlformats.org/drawingml/2006/main" prst="roundRect">
            <a:avLst>
              <a:gd name="adj" fmla="val 21538"/>
            </a:avLst>
          </a:prstGeom>
          <a:solidFill xmlns:a="http://schemas.openxmlformats.org/drawingml/2006/main">
            <a:srgbClr val="FFFFFF">
              <a:alpha val="5098"/>
            </a:srgbClr>
          </a:solidFill>
          <a:ln xmlns:a="http://schemas.openxmlformats.org/drawingml/2006/main" w="9525">
            <a:solidFill>
              <a:srgbClr val="FFFFFF">
                <a:alpha val="21961"/>
              </a:srgbClr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78AB6F62-9CFA-4F8C-8075-2F9B3B40C2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43425" y="2943225"/>
            <a:ext cx="1047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1125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财务引擎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17DE89CE-C375-4961-A19B-2E72D1498A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43425" y="3219450"/>
            <a:ext cx="10477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750" b="0">
                <a:solidFill>
                  <a:srgbClr val="FFFFFF">
                    <a:alpha val="47843"/>
                  </a:srgbClr>
                </a:solidFill>
                <a:latin typeface="DIN Alternate"/>
                <a:ea typeface="DIN Alternate"/>
                <a:cs typeface="DIN Alternate"/>
              </a:defRPr>
            </a:pPr>
            <a:r>
              <a:rPr sz="750" b="0">
                <a:solidFill>
                  <a:srgbClr val="FFFFFF">
                    <a:alpha val="47843"/>
                  </a:srgbClr>
                </a:solidFill>
                <a:latin typeface="DIN Alternate"/>
                <a:ea typeface="DIN Alternate"/>
                <a:cs typeface="DIN Alternate"/>
              </a:rPr>
              <a:t>Finance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A0BA62E0-380E-4764-9F07-136C09229F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48350" y="2857500"/>
            <a:ext cx="1238250" cy="619125"/>
          </a:xfrm>
          <a:prstGeom xmlns:a="http://schemas.openxmlformats.org/drawingml/2006/main" prst="roundRect">
            <a:avLst>
              <a:gd name="adj" fmla="val 21538"/>
            </a:avLst>
          </a:prstGeom>
          <a:solidFill xmlns:a="http://schemas.openxmlformats.org/drawingml/2006/main">
            <a:srgbClr val="FFFFFF">
              <a:alpha val="5098"/>
            </a:srgbClr>
          </a:solidFill>
          <a:ln xmlns:a="http://schemas.openxmlformats.org/drawingml/2006/main" w="9525">
            <a:solidFill>
              <a:srgbClr val="FFFFFF">
                <a:alpha val="21961"/>
              </a:srgbClr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C6E6A5C0-BF55-4FA8-B7DD-A03174E1D1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0" y="2943225"/>
            <a:ext cx="1047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1125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组合推荐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B086D2C1-2322-4A87-B377-58EB105410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0" y="3219450"/>
            <a:ext cx="10477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750" b="0">
                <a:solidFill>
                  <a:srgbClr val="FFFFFF">
                    <a:alpha val="47843"/>
                  </a:srgbClr>
                </a:solidFill>
                <a:latin typeface="DIN Alternate"/>
                <a:ea typeface="DIN Alternate"/>
                <a:cs typeface="DIN Alternate"/>
              </a:defRPr>
            </a:pPr>
            <a:r>
              <a:rPr sz="750" b="0">
                <a:solidFill>
                  <a:srgbClr val="FFFFFF">
                    <a:alpha val="47843"/>
                  </a:srgbClr>
                </a:solidFill>
                <a:latin typeface="DIN Alternate"/>
                <a:ea typeface="DIN Alternate"/>
                <a:cs typeface="DIN Alternate"/>
              </a:rPr>
              <a:t>Optimizer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1517ED1B-E90E-4658-AE7E-996F290269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48525" y="2857500"/>
            <a:ext cx="1238250" cy="619125"/>
          </a:xfrm>
          <a:prstGeom xmlns:a="http://schemas.openxmlformats.org/drawingml/2006/main" prst="roundRect">
            <a:avLst>
              <a:gd name="adj" fmla="val 21538"/>
            </a:avLst>
          </a:prstGeom>
          <a:solidFill xmlns:a="http://schemas.openxmlformats.org/drawingml/2006/main">
            <a:srgbClr val="FF6B59">
              <a:alpha val="8627"/>
            </a:srgbClr>
          </a:solidFill>
          <a:ln xmlns:a="http://schemas.openxmlformats.org/drawingml/2006/main" w="9525">
            <a:solidFill>
              <a:srgbClr val="FF6B59"/>
            </a:solidFill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C5FF0C15-F2C1-4310-A08B-4F9D5F5EAA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43775" y="2943225"/>
            <a:ext cx="1047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F6B59"/>
                </a:solidFill>
                <a:latin typeface="PingFang SC"/>
                <a:ea typeface="PingFang SC"/>
                <a:cs typeface="PingFang SC"/>
              </a:defRPr>
            </a:pPr>
            <a:r>
              <a:rPr sz="1125" b="1">
                <a:solidFill>
                  <a:srgbClr val="FF6B59"/>
                </a:solidFill>
                <a:latin typeface="PingFang SC"/>
                <a:ea typeface="PingFang SC"/>
                <a:cs typeface="PingFang SC"/>
              </a:rPr>
              <a:t>Agent 规划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5173343B-114C-4A02-AD6A-DD6D192C08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43775" y="3219450"/>
            <a:ext cx="10477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750" b="0">
                <a:solidFill>
                  <a:srgbClr val="FFFFFF">
                    <a:alpha val="47843"/>
                  </a:srgbClr>
                </a:solidFill>
                <a:latin typeface="DIN Alternate"/>
                <a:ea typeface="DIN Alternate"/>
                <a:cs typeface="DIN Alternate"/>
              </a:defRPr>
            </a:pPr>
            <a:r>
              <a:rPr sz="750" b="0">
                <a:solidFill>
                  <a:srgbClr val="FFFFFF">
                    <a:alpha val="47843"/>
                  </a:srgbClr>
                </a:solidFill>
                <a:latin typeface="DIN Alternate"/>
                <a:ea typeface="DIN Alternate"/>
                <a:cs typeface="DIN Alternate"/>
              </a:rPr>
              <a:t>Planner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18536A8C-E7A8-46B5-BF8F-D5DEB9B787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48700" y="2857500"/>
            <a:ext cx="1238250" cy="619125"/>
          </a:xfrm>
          <a:prstGeom xmlns:a="http://schemas.openxmlformats.org/drawingml/2006/main" prst="roundRect">
            <a:avLst>
              <a:gd name="adj" fmla="val 21538"/>
            </a:avLst>
          </a:prstGeom>
          <a:solidFill xmlns:a="http://schemas.openxmlformats.org/drawingml/2006/main">
            <a:srgbClr val="FFFFFF">
              <a:alpha val="5098"/>
            </a:srgbClr>
          </a:solidFill>
          <a:ln xmlns:a="http://schemas.openxmlformats.org/drawingml/2006/main" w="9525">
            <a:solidFill>
              <a:srgbClr val="FFFFFF">
                <a:alpha val="21961"/>
              </a:srgbClr>
            </a:solidFill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C205F1C3-E168-477F-B791-6268A66856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43950" y="2943225"/>
            <a:ext cx="1047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1125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人工任务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62A19EE4-EB2B-4AA3-9EB8-52F88F9DF1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43950" y="3219450"/>
            <a:ext cx="10477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750" b="0">
                <a:solidFill>
                  <a:srgbClr val="FFFFFF">
                    <a:alpha val="47843"/>
                  </a:srgbClr>
                </a:solidFill>
                <a:latin typeface="DIN Alternate"/>
                <a:ea typeface="DIN Alternate"/>
                <a:cs typeface="DIN Alternate"/>
              </a:defRPr>
            </a:pPr>
            <a:r>
              <a:rPr sz="750" b="0">
                <a:solidFill>
                  <a:srgbClr val="FFFFFF">
                    <a:alpha val="47843"/>
                  </a:srgbClr>
                </a:solidFill>
                <a:latin typeface="DIN Alternate"/>
                <a:ea typeface="DIN Alternate"/>
                <a:cs typeface="DIN Alternate"/>
              </a:rPr>
              <a:t>HumanTask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D6DED5B5-0EBB-4CB2-8DAA-D2181AE1A7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48875" y="2857500"/>
            <a:ext cx="1238250" cy="619125"/>
          </a:xfrm>
          <a:prstGeom xmlns:a="http://schemas.openxmlformats.org/drawingml/2006/main" prst="roundRect">
            <a:avLst>
              <a:gd name="adj" fmla="val 21538"/>
            </a:avLst>
          </a:prstGeom>
          <a:solidFill xmlns:a="http://schemas.openxmlformats.org/drawingml/2006/main">
            <a:srgbClr val="FFFFFF">
              <a:alpha val="5098"/>
            </a:srgbClr>
          </a:solidFill>
          <a:ln xmlns:a="http://schemas.openxmlformats.org/drawingml/2006/main" w="9525">
            <a:solidFill>
              <a:srgbClr val="FFFFFF">
                <a:alpha val="21961"/>
              </a:srgbClr>
            </a:solidFill>
            <a:prstDash val="solid"/>
          </a:ln>
        </p:spPr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B11B294C-C308-42DE-ADD3-EA2B6775A2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44125" y="2943225"/>
            <a:ext cx="1047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1125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策略审批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AA996DA1-F55E-4C55-B6D9-8451215AC8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44125" y="3219450"/>
            <a:ext cx="10477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750" b="0">
                <a:solidFill>
                  <a:srgbClr val="FFFFFF">
                    <a:alpha val="47843"/>
                  </a:srgbClr>
                </a:solidFill>
                <a:latin typeface="DIN Alternate"/>
                <a:ea typeface="DIN Alternate"/>
                <a:cs typeface="DIN Alternate"/>
              </a:defRPr>
            </a:pPr>
            <a:r>
              <a:rPr sz="750" b="0">
                <a:solidFill>
                  <a:srgbClr val="FFFFFF">
                    <a:alpha val="47843"/>
                  </a:srgbClr>
                </a:solidFill>
                <a:latin typeface="DIN Alternate"/>
                <a:ea typeface="DIN Alternate"/>
                <a:cs typeface="DIN Alternate"/>
              </a:rPr>
              <a:t>Policy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4E2018CD-A7F5-4010-9A3A-EC965D6918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47825" y="3638550"/>
            <a:ext cx="9639300" cy="514350"/>
          </a:xfrm>
          <a:prstGeom xmlns:a="http://schemas.openxmlformats.org/drawingml/2006/main" prst="roundRect">
            <a:avLst>
              <a:gd name="adj" fmla="val 31481"/>
            </a:avLst>
          </a:prstGeom>
          <a:solidFill xmlns:a="http://schemas.openxmlformats.org/drawingml/2006/main">
            <a:srgbClr val="2A183B">
              <a:alpha val="60000"/>
            </a:srgbClr>
          </a:solidFill>
          <a:ln xmlns:a="http://schemas.openxmlformats.org/drawingml/2006/main" w="11430">
            <a:solidFill>
              <a:srgbClr val="A38BFF"/>
            </a:solidFill>
            <a:prstDash val="solid"/>
          </a:ln>
        </p:spPr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F37A0FEA-39D9-40C3-8B06-F584AE1532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38325" y="3743325"/>
            <a:ext cx="17907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1275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持久化工作流</a:t>
            </a:r>
          </a:p>
        </p:txBody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E430620B-1A3A-4045-9302-268CBC4E0D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3743325"/>
            <a:ext cx="7286625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D9CFFF"/>
                </a:solidFill>
                <a:latin typeface="PingFang SC"/>
                <a:ea typeface="PingFang SC"/>
                <a:cs typeface="PingFang SC"/>
              </a:defRPr>
            </a:pPr>
            <a:r>
              <a:rPr sz="1050" b="0">
                <a:solidFill>
                  <a:srgbClr val="D9CFFF"/>
                </a:solidFill>
                <a:latin typeface="PingFang SC"/>
                <a:ea typeface="PingFang SC"/>
                <a:cs typeface="PingFang SC"/>
              </a:rPr>
              <a:t>定时唤醒 · 暂停恢复 · 超时升级 · 幂等重试 · 计划版本 · 事件驱动重算</a:t>
            </a:r>
          </a:p>
        </p:txBody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812D1279-DA42-4FC6-8298-4030ECC516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4695825"/>
            <a:ext cx="952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A38BFF"/>
                </a:solidFill>
                <a:latin typeface="PingFang SC"/>
                <a:ea typeface="PingFang SC"/>
                <a:cs typeface="PingFang SC"/>
              </a:defRPr>
            </a:pPr>
            <a:r>
              <a:rPr sz="1050" b="1">
                <a:solidFill>
                  <a:srgbClr val="A38BFF"/>
                </a:solidFill>
                <a:latin typeface="PingFang SC"/>
                <a:ea typeface="PingFang SC"/>
                <a:cs typeface="PingFang SC"/>
              </a:rPr>
              <a:t>数据与证据层</a:t>
            </a:r>
          </a:p>
        </p:txBody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EE00322F-E42B-4AEA-B362-149C7AA0D6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47825" y="4457700"/>
            <a:ext cx="4333875" cy="1066800"/>
          </a:xfrm>
          <a:prstGeom xmlns:a="http://schemas.openxmlformats.org/drawingml/2006/main" prst="roundRect">
            <a:avLst>
              <a:gd name="adj" fmla="val 15179"/>
            </a:avLst>
          </a:prstGeom>
          <a:solidFill xmlns:a="http://schemas.openxmlformats.org/drawingml/2006/main">
            <a:srgbClr val="FFFFFF">
              <a:alpha val="5098"/>
            </a:srgbClr>
          </a:solidFill>
          <a:ln xmlns:a="http://schemas.openxmlformats.org/drawingml/2006/main" w="9525">
            <a:solidFill>
              <a:srgbClr val="6DD7F5"/>
            </a:solidFill>
            <a:prstDash val="solid"/>
          </a:ln>
        </p:spPr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136070D3-89E5-452D-B30E-556F742C23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47850" y="4591050"/>
            <a:ext cx="3933825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6DD7F5"/>
                </a:solidFill>
                <a:latin typeface="PingFang SC"/>
                <a:ea typeface="PingFang SC"/>
                <a:cs typeface="PingFang SC"/>
              </a:defRPr>
            </a:pPr>
            <a:r>
              <a:rPr sz="1275" b="1">
                <a:solidFill>
                  <a:srgbClr val="6DD7F5"/>
                </a:solidFill>
                <a:latin typeface="PingFang SC"/>
                <a:ea typeface="PingFang SC"/>
                <a:cs typeface="PingFang SC"/>
              </a:rPr>
              <a:t>data-platform / 决策上下文 API</a:t>
            </a:r>
          </a:p>
        </p:txBody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66C48400-6FF9-42FC-B210-E05FF1EC94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47850" y="5000625"/>
            <a:ext cx="93345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FFFFFF">
                    <a:alpha val="72157"/>
                  </a:srgbClr>
                </a:solidFill>
                <a:latin typeface="PingFang SC"/>
                <a:ea typeface="PingFang SC"/>
                <a:cs typeface="PingFang SC"/>
              </a:defRPr>
            </a:pPr>
            <a:r>
              <a:rPr sz="975" b="1">
                <a:solidFill>
                  <a:srgbClr val="FFFFFF">
                    <a:alpha val="72157"/>
                  </a:srgbClr>
                </a:solidFill>
                <a:latin typeface="PingFang SC"/>
                <a:ea typeface="PingFang SC"/>
                <a:cs typeface="PingFang SC"/>
              </a:rPr>
              <a:t>公共资料</a:t>
            </a:r>
          </a:p>
        </p:txBody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96200A66-D7FD-4E30-879E-728495B1DF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28950" y="5000625"/>
            <a:ext cx="106680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FFFFFF">
                    <a:alpha val="72157"/>
                  </a:srgbClr>
                </a:solidFill>
                <a:latin typeface="PingFang SC"/>
                <a:ea typeface="PingFang SC"/>
                <a:cs typeface="PingFang SC"/>
              </a:defRPr>
            </a:pPr>
            <a:r>
              <a:rPr sz="975" b="1">
                <a:solidFill>
                  <a:srgbClr val="FFFFFF">
                    <a:alpha val="72157"/>
                  </a:srgbClr>
                </a:solidFill>
                <a:latin typeface="PingFang SC"/>
                <a:ea typeface="PingFang SC"/>
                <a:cs typeface="PingFang SC"/>
              </a:rPr>
              <a:t>锐音场内部</a:t>
            </a:r>
          </a:p>
        </p:txBody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FF7B8165-0AF2-43BF-9337-7D2DD711FD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43400" y="5000625"/>
            <a:ext cx="85725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FFFFFF">
                    <a:alpha val="72157"/>
                  </a:srgbClr>
                </a:solidFill>
                <a:latin typeface="PingFang SC"/>
                <a:ea typeface="PingFang SC"/>
                <a:cs typeface="PingFang SC"/>
              </a:defRPr>
            </a:pPr>
            <a:r>
              <a:rPr sz="975" b="1">
                <a:solidFill>
                  <a:srgbClr val="FFFFFF">
                    <a:alpha val="72157"/>
                  </a:srgbClr>
                </a:solidFill>
                <a:latin typeface="PingFang SC"/>
                <a:ea typeface="PingFang SC"/>
                <a:cs typeface="PingFang SC"/>
              </a:rPr>
              <a:t>租户私有</a:t>
            </a:r>
          </a:p>
        </p:txBody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BA6C684A-8830-42A0-AD32-78F9ADF53A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47850" y="5276850"/>
            <a:ext cx="3857625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FFFFFF">
                    <a:alpha val="47843"/>
                  </a:srgbClr>
                </a:solidFill>
                <a:latin typeface="PingFang SC"/>
                <a:ea typeface="PingFang SC"/>
                <a:cs typeface="PingFang SC"/>
              </a:defRPr>
            </a:pPr>
            <a:r>
              <a:rPr sz="825" b="0">
                <a:solidFill>
                  <a:srgbClr val="FFFFFF">
                    <a:alpha val="47843"/>
                  </a:srgbClr>
                </a:solidFill>
                <a:latin typeface="PingFang SC"/>
                <a:ea typeface="PingFang SC"/>
                <a:cs typeface="PingFang SC"/>
              </a:rPr>
              <a:t>字段级来源、采集时间、核验状态与可见范围</a:t>
            </a:r>
          </a:p>
        </p:txBody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23CD9F46-82D3-4F1B-8B36-5F4F538CE4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9350" y="4457700"/>
            <a:ext cx="2371725" cy="1066800"/>
          </a:xfrm>
          <a:prstGeom xmlns:a="http://schemas.openxmlformats.org/drawingml/2006/main" prst="roundRect">
            <a:avLst>
              <a:gd name="adj" fmla="val 15179"/>
            </a:avLst>
          </a:prstGeom>
          <a:solidFill xmlns:a="http://schemas.openxmlformats.org/drawingml/2006/main">
            <a:srgbClr val="FFFFFF">
              <a:alpha val="5098"/>
            </a:srgbClr>
          </a:solidFill>
          <a:ln xmlns:a="http://schemas.openxmlformats.org/drawingml/2006/main" w="9525">
            <a:solidFill>
              <a:srgbClr val="FFFFFF">
                <a:alpha val="21961"/>
              </a:srgbClr>
            </a:solidFill>
            <a:prstDash val="solid"/>
          </a:ln>
        </p:spPr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ADD6537E-6E02-4488-A854-C38FB8A79A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4600575"/>
            <a:ext cx="1990725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1275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业务存储</a:t>
            </a:r>
          </a:p>
        </p:txBody>
      </p: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51C06259-0CB7-4C52-938A-018E2F502F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4933950"/>
            <a:ext cx="1990725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FFFFFF">
                    <a:alpha val="72157"/>
                  </a:srgbClr>
                </a:solidFill>
                <a:latin typeface="PingFang SC"/>
                <a:ea typeface="PingFang SC"/>
                <a:cs typeface="PingFang SC"/>
              </a:defRPr>
            </a:pPr>
            <a:r>
              <a:rPr sz="900" b="0">
                <a:solidFill>
                  <a:srgbClr val="FFFFFF">
                    <a:alpha val="72157"/>
                  </a:srgbClr>
                </a:solidFill>
                <a:latin typeface="PingFang SC"/>
                <a:ea typeface="PingFang SC"/>
                <a:cs typeface="PingFang SC"/>
              </a:rPr>
              <a:t>项目数据库</a:t>
            </a:r>
          </a:p>
          <a:p xmlns:a="http://schemas.openxmlformats.org/drawingml/2006/main">
            <a:pPr algn="l">
              <a:defRPr sz="900" b="0">
                <a:solidFill>
                  <a:srgbClr val="FFFFFF">
                    <a:alpha val="72157"/>
                  </a:srgbClr>
                </a:solidFill>
                <a:latin typeface="PingFang SC"/>
                <a:ea typeface="PingFang SC"/>
                <a:cs typeface="PingFang SC"/>
              </a:defRPr>
            </a:pPr>
            <a:r>
              <a:rPr sz="900" b="0">
                <a:solidFill>
                  <a:srgbClr val="FFFFFF">
                    <a:alpha val="72157"/>
                  </a:srgbClr>
                </a:solidFill>
                <a:latin typeface="PingFang SC"/>
                <a:ea typeface="PingFang SC"/>
                <a:cs typeface="PingFang SC"/>
              </a:rPr>
              <a:t>证据与原始快照</a:t>
            </a:r>
          </a:p>
          <a:p xmlns:a="http://schemas.openxmlformats.org/drawingml/2006/main">
            <a:pPr algn="l">
              <a:defRPr sz="900" b="0">
                <a:solidFill>
                  <a:srgbClr val="FFFFFF">
                    <a:alpha val="72157"/>
                  </a:srgbClr>
                </a:solidFill>
                <a:latin typeface="PingFang SC"/>
                <a:ea typeface="PingFang SC"/>
                <a:cs typeface="PingFang SC"/>
              </a:defRPr>
            </a:pPr>
            <a:r>
              <a:rPr sz="900" b="0">
                <a:solidFill>
                  <a:srgbClr val="FFFFFF">
                    <a:alpha val="72157"/>
                  </a:srgbClr>
                </a:solidFill>
                <a:latin typeface="PingFang SC"/>
                <a:ea typeface="PingFang SC"/>
                <a:cs typeface="PingFang SC"/>
              </a:rPr>
              <a:t>不可变审计事件</a:t>
            </a:r>
          </a:p>
        </p:txBody>
      </p:sp>
      <p:sp>
        <p:nv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1EC9E180-C52F-489F-ACD9-93BB4789F8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48725" y="4457700"/>
            <a:ext cx="2714625" cy="1066800"/>
          </a:xfrm>
          <a:prstGeom xmlns:a="http://schemas.openxmlformats.org/drawingml/2006/main" prst="roundRect">
            <a:avLst>
              <a:gd name="adj" fmla="val 15179"/>
            </a:avLst>
          </a:prstGeom>
          <a:solidFill xmlns:a="http://schemas.openxmlformats.org/drawingml/2006/main">
            <a:srgbClr val="FFFFFF">
              <a:alpha val="5098"/>
            </a:srgbClr>
          </a:solidFill>
          <a:ln xmlns:a="http://schemas.openxmlformats.org/drawingml/2006/main" w="9525">
            <a:solidFill>
              <a:srgbClr val="FFFFFF">
                <a:alpha val="21961"/>
              </a:srgbClr>
            </a:solidFill>
            <a:prstDash val="solid"/>
          </a:ln>
        </p:spPr>
      </p:sp>
      <p:sp>
        <p:nvSpPr>
          <p:cNvPr id="56" name="">
            <a:extLst xmlns:a="http://schemas.openxmlformats.org/drawingml/2006/main">
              <a:ext uri="{FF2B5EF4-FFF2-40B4-BE49-F238E27FC236}">
                <a16:creationId xmlns:a16="http://schemas.microsoft.com/office/drawing/2014/main" id="{D2A9B7E1-36EA-4E3A-B81A-8C5A84BF8F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39225" y="4600575"/>
            <a:ext cx="2333625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1275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外部连接器</a:t>
            </a:r>
          </a:p>
        </p:txBody>
      </p:sp>
      <p:sp>
        <p:nvSpPr>
          <p:cNvPr id="57" name="">
            <a:extLst xmlns:a="http://schemas.openxmlformats.org/drawingml/2006/main">
              <a:ext uri="{FF2B5EF4-FFF2-40B4-BE49-F238E27FC236}">
                <a16:creationId xmlns:a16="http://schemas.microsoft.com/office/drawing/2014/main" id="{6F79F955-AE4C-4BA7-9DC9-6DA444CA13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39225" y="4933950"/>
            <a:ext cx="2333625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FFFFFF">
                    <a:alpha val="72157"/>
                  </a:srgbClr>
                </a:solidFill>
                <a:latin typeface="PingFang SC"/>
                <a:ea typeface="PingFang SC"/>
                <a:cs typeface="PingFang SC"/>
              </a:defRPr>
            </a:pPr>
            <a:r>
              <a:rPr sz="900" b="0">
                <a:solidFill>
                  <a:srgbClr val="FFFFFF">
                    <a:alpha val="72157"/>
                  </a:srgbClr>
                </a:solidFill>
                <a:latin typeface="PingFang SC"/>
                <a:ea typeface="PingFang SC"/>
                <a:cs typeface="PingFang SC"/>
              </a:rPr>
              <a:t>政府公示与爬虫</a:t>
            </a:r>
          </a:p>
          <a:p xmlns:a="http://schemas.openxmlformats.org/drawingml/2006/main">
            <a:pPr algn="l">
              <a:defRPr sz="900" b="0">
                <a:solidFill>
                  <a:srgbClr val="FFFFFF">
                    <a:alpha val="72157"/>
                  </a:srgbClr>
                </a:solidFill>
                <a:latin typeface="PingFang SC"/>
                <a:ea typeface="PingFang SC"/>
                <a:cs typeface="PingFang SC"/>
              </a:defRPr>
            </a:pPr>
            <a:r>
              <a:rPr sz="900" b="0">
                <a:solidFill>
                  <a:srgbClr val="FFFFFF">
                    <a:alpha val="72157"/>
                  </a:srgbClr>
                </a:solidFill>
                <a:latin typeface="PingFang SC"/>
                <a:ea typeface="PingFang SC"/>
                <a:cs typeface="PingFang SC"/>
              </a:rPr>
              <a:t>授权票务 / 场馆接口</a:t>
            </a:r>
          </a:p>
          <a:p xmlns:a="http://schemas.openxmlformats.org/drawingml/2006/main">
            <a:pPr algn="l">
              <a:defRPr sz="900" b="0">
                <a:solidFill>
                  <a:srgbClr val="FFFFFF">
                    <a:alpha val="72157"/>
                  </a:srgbClr>
                </a:solidFill>
                <a:latin typeface="PingFang SC"/>
                <a:ea typeface="PingFang SC"/>
                <a:cs typeface="PingFang SC"/>
              </a:defRPr>
            </a:pPr>
            <a:r>
              <a:rPr sz="900" b="0">
                <a:solidFill>
                  <a:srgbClr val="FFFFFF">
                    <a:alpha val="72157"/>
                  </a:srgbClr>
                </a:solidFill>
                <a:latin typeface="PingFang SC"/>
                <a:ea typeface="PingFang SC"/>
                <a:cs typeface="PingFang SC"/>
              </a:rPr>
              <a:t>大模型供应商</a:t>
            </a:r>
          </a:p>
        </p:txBody>
      </p:sp>
      <p:sp>
        <p:nvSpPr>
          <p:cNvPr id="58" name="">
            <a:extLst xmlns:a="http://schemas.openxmlformats.org/drawingml/2006/main">
              <a:ext uri="{FF2B5EF4-FFF2-40B4-BE49-F238E27FC236}">
                <a16:creationId xmlns:a16="http://schemas.microsoft.com/office/drawing/2014/main" id="{FE20E815-E977-431F-9299-49BE27283B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47825" y="5838825"/>
            <a:ext cx="9915525" cy="466725"/>
          </a:xfrm>
          <a:prstGeom xmlns:a="http://schemas.openxmlformats.org/drawingml/2006/main" prst="roundRect">
            <a:avLst>
              <a:gd name="adj" fmla="val 28571"/>
            </a:avLst>
          </a:prstGeom>
          <a:solidFill xmlns:a="http://schemas.openxmlformats.org/drawingml/2006/main">
            <a:srgbClr val="73E0BD">
              <a:alpha val="7059"/>
            </a:srgbClr>
          </a:solidFill>
          <a:ln xmlns:a="http://schemas.openxmlformats.org/drawingml/2006/main" w="9525">
            <a:solidFill>
              <a:srgbClr val="73E0BD">
                <a:alpha val="37647"/>
              </a:srgbClr>
            </a:solidFill>
            <a:prstDash val="solid"/>
          </a:ln>
        </p:spPr>
      </p:sp>
      <p:sp>
        <p:nvSpPr>
          <p:cNvPr id="59" name="">
            <a:extLst xmlns:a="http://schemas.openxmlformats.org/drawingml/2006/main">
              <a:ext uri="{FF2B5EF4-FFF2-40B4-BE49-F238E27FC236}">
                <a16:creationId xmlns:a16="http://schemas.microsoft.com/office/drawing/2014/main" id="{C4BB766C-6B06-4755-8B02-F0CA4F452E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19275" y="5943600"/>
            <a:ext cx="82867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73E0BD"/>
                </a:solidFill>
                <a:latin typeface="PingFang SC"/>
                <a:ea typeface="PingFang SC"/>
                <a:cs typeface="PingFang SC"/>
              </a:defRPr>
            </a:pPr>
            <a:r>
              <a:rPr sz="975" b="1">
                <a:solidFill>
                  <a:srgbClr val="73E0BD"/>
                </a:solidFill>
                <a:latin typeface="PingFang SC"/>
                <a:ea typeface="PingFang SC"/>
                <a:cs typeface="PingFang SC"/>
              </a:rPr>
              <a:t>横向能力</a:t>
            </a:r>
          </a:p>
        </p:txBody>
      </p:sp>
      <p:sp>
        <p:nvSpPr>
          <p:cNvPr id="60" name="">
            <a:extLst xmlns:a="http://schemas.openxmlformats.org/drawingml/2006/main">
              <a:ext uri="{FF2B5EF4-FFF2-40B4-BE49-F238E27FC236}">
                <a16:creationId xmlns:a16="http://schemas.microsoft.com/office/drawing/2014/main" id="{F3187F6E-94F7-4F54-BAA3-6A0DE03A4E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52750" y="5943600"/>
            <a:ext cx="9144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FFFFFF">
                    <a:alpha val="72157"/>
                  </a:srgbClr>
                </a:solidFill>
                <a:latin typeface="PingFang SC"/>
                <a:ea typeface="PingFang SC"/>
                <a:cs typeface="PingFang SC"/>
              </a:defRPr>
            </a:pPr>
            <a:r>
              <a:rPr sz="975" b="1">
                <a:solidFill>
                  <a:srgbClr val="FFFFFF">
                    <a:alpha val="72157"/>
                  </a:srgbClr>
                </a:solidFill>
                <a:latin typeface="PingFang SC"/>
                <a:ea typeface="PingFang SC"/>
                <a:cs typeface="PingFang SC"/>
              </a:rPr>
              <a:t>租户隔离</a:t>
            </a:r>
          </a:p>
        </p:txBody>
      </p:sp>
      <p:sp>
        <p:nvSpPr>
          <p:cNvPr id="61" name="">
            <a:extLst xmlns:a="http://schemas.openxmlformats.org/drawingml/2006/main">
              <a:ext uri="{FF2B5EF4-FFF2-40B4-BE49-F238E27FC236}">
                <a16:creationId xmlns:a16="http://schemas.microsoft.com/office/drawing/2014/main" id="{986E0D07-105D-48E0-9319-7F8F803EE2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19575" y="5943600"/>
            <a:ext cx="114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FFFFFF">
                    <a:alpha val="72157"/>
                  </a:srgbClr>
                </a:solidFill>
                <a:latin typeface="DIN Alternate"/>
                <a:ea typeface="DIN Alternate"/>
                <a:cs typeface="DIN Alternate"/>
              </a:defRPr>
            </a:pPr>
            <a:r>
              <a:rPr sz="975" b="1">
                <a:solidFill>
                  <a:srgbClr val="FFFFFF">
                    <a:alpha val="72157"/>
                  </a:srgbClr>
                </a:solidFill>
                <a:latin typeface="DIN Alternate"/>
                <a:ea typeface="DIN Alternate"/>
                <a:cs typeface="DIN Alternate"/>
              </a:rPr>
              <a:t>RBAC / ABAC</a:t>
            </a:r>
          </a:p>
        </p:txBody>
      </p:sp>
      <p:sp>
        <p:nvSpPr>
          <p:cNvPr id="62" name="">
            <a:extLst xmlns:a="http://schemas.openxmlformats.org/drawingml/2006/main">
              <a:ext uri="{FF2B5EF4-FFF2-40B4-BE49-F238E27FC236}">
                <a16:creationId xmlns:a16="http://schemas.microsoft.com/office/drawing/2014/main" id="{47BD6FFC-7CE8-4A97-8C02-B54D2FC2CC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0" y="5943600"/>
            <a:ext cx="1428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FFFFFF">
                    <a:alpha val="72157"/>
                  </a:srgbClr>
                </a:solidFill>
                <a:latin typeface="PingFang SC"/>
                <a:ea typeface="PingFang SC"/>
                <a:cs typeface="PingFang SC"/>
              </a:defRPr>
            </a:pPr>
            <a:r>
              <a:rPr sz="975" b="1">
                <a:solidFill>
                  <a:srgbClr val="FFFFFF">
                    <a:alpha val="72157"/>
                  </a:srgbClr>
                </a:solidFill>
                <a:latin typeface="PingFang SC"/>
                <a:ea typeface="PingFang SC"/>
                <a:cs typeface="PingFang SC"/>
              </a:rPr>
              <a:t>密钥与短期令牌</a:t>
            </a:r>
          </a:p>
        </p:txBody>
      </p:sp>
      <p:sp>
        <p:nvSpPr>
          <p:cNvPr id="63" name="">
            <a:extLst xmlns:a="http://schemas.openxmlformats.org/drawingml/2006/main">
              <a:ext uri="{FF2B5EF4-FFF2-40B4-BE49-F238E27FC236}">
                <a16:creationId xmlns:a16="http://schemas.microsoft.com/office/drawing/2014/main" id="{08D3614C-1B9A-43EF-928F-48B817CBAE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05700" y="5943600"/>
            <a:ext cx="114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FFFFFF">
                    <a:alpha val="72157"/>
                  </a:srgbClr>
                </a:solidFill>
                <a:latin typeface="PingFang SC"/>
                <a:ea typeface="PingFang SC"/>
                <a:cs typeface="PingFang SC"/>
              </a:defRPr>
            </a:pPr>
            <a:r>
              <a:rPr sz="975" b="1">
                <a:solidFill>
                  <a:srgbClr val="FFFFFF">
                    <a:alpha val="72157"/>
                  </a:srgbClr>
                </a:solidFill>
                <a:latin typeface="PingFang SC"/>
                <a:ea typeface="PingFang SC"/>
                <a:cs typeface="PingFang SC"/>
              </a:rPr>
              <a:t>全链路审计</a:t>
            </a:r>
          </a:p>
        </p:txBody>
      </p:sp>
      <p:sp>
        <p:nvSpPr>
          <p:cNvPr id="64" name="">
            <a:extLst xmlns:a="http://schemas.openxmlformats.org/drawingml/2006/main">
              <a:ext uri="{FF2B5EF4-FFF2-40B4-BE49-F238E27FC236}">
                <a16:creationId xmlns:a16="http://schemas.microsoft.com/office/drawing/2014/main" id="{8411BDBC-64A6-491D-BC14-E78B064555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20175" y="5943600"/>
            <a:ext cx="1619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FFFFFF">
                    <a:alpha val="72157"/>
                  </a:srgbClr>
                </a:solidFill>
                <a:latin typeface="PingFang SC"/>
                <a:ea typeface="PingFang SC"/>
                <a:cs typeface="PingFang SC"/>
              </a:defRPr>
            </a:pPr>
            <a:r>
              <a:rPr sz="975" b="1">
                <a:solidFill>
                  <a:srgbClr val="FFFFFF">
                    <a:alpha val="72157"/>
                  </a:srgbClr>
                </a:solidFill>
                <a:latin typeface="PingFang SC"/>
                <a:ea typeface="PingFang SC"/>
                <a:cs typeface="PingFang SC"/>
              </a:rPr>
              <a:t>可观测与模型评估</a:t>
            </a:r>
          </a:p>
        </p:txBody>
      </p:sp>
      <p:sp>
        <p:nvSpPr>
          <p:cNvPr id="65" name="">
            <a:extLst xmlns:a="http://schemas.openxmlformats.org/drawingml/2006/main">
              <a:ext uri="{FF2B5EF4-FFF2-40B4-BE49-F238E27FC236}">
                <a16:creationId xmlns:a16="http://schemas.microsoft.com/office/drawing/2014/main" id="{64FB6312-30B1-4079-9799-70FD10D885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2671763" y="2209800"/>
            <a:ext cx="0" cy="952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4288">
            <a:solidFill>
              <a:srgbClr val="FFFFFF">
                <a:alpha val="47843"/>
              </a:srgbClr>
            </a:solidFill>
            <a:prstDash val="solid"/>
          </a:ln>
        </p:spPr>
      </p:sp>
      <p:sp>
        <p:nvSpPr>
          <p:cNvPr id="66" name="">
            <a:extLst xmlns:a="http://schemas.openxmlformats.org/drawingml/2006/main">
              <a:ext uri="{FF2B5EF4-FFF2-40B4-BE49-F238E27FC236}">
                <a16:creationId xmlns:a16="http://schemas.microsoft.com/office/drawing/2014/main" id="{8123FDAA-9585-40D1-83FA-84CC42BAD0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4910138" y="2209800"/>
            <a:ext cx="0" cy="952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4288">
            <a:solidFill>
              <a:srgbClr val="FFFFFF">
                <a:alpha val="47843"/>
              </a:srgbClr>
            </a:solidFill>
            <a:prstDash val="solid"/>
          </a:ln>
        </p:spPr>
      </p:sp>
      <p:sp>
        <p:nvSpPr>
          <p:cNvPr id="67" name="">
            <a:extLst xmlns:a="http://schemas.openxmlformats.org/drawingml/2006/main">
              <a:ext uri="{FF2B5EF4-FFF2-40B4-BE49-F238E27FC236}">
                <a16:creationId xmlns:a16="http://schemas.microsoft.com/office/drawing/2014/main" id="{1C368384-7E01-4399-BAF5-F9C31FB9E0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7148513" y="2209800"/>
            <a:ext cx="0" cy="952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4288">
            <a:solidFill>
              <a:srgbClr val="FFFFFF">
                <a:alpha val="47843"/>
              </a:srgbClr>
            </a:solidFill>
            <a:prstDash val="solid"/>
          </a:ln>
        </p:spPr>
      </p:sp>
      <p:sp>
        <p:nvSpPr>
          <p:cNvPr id="68" name="">
            <a:extLst xmlns:a="http://schemas.openxmlformats.org/drawingml/2006/main">
              <a:ext uri="{FF2B5EF4-FFF2-40B4-BE49-F238E27FC236}">
                <a16:creationId xmlns:a16="http://schemas.microsoft.com/office/drawing/2014/main" id="{C71C4253-771B-47EC-82DC-5D21B28F74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9963150" y="2209800"/>
            <a:ext cx="0" cy="952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4288">
            <a:solidFill>
              <a:srgbClr val="FFFFFF">
                <a:alpha val="47843"/>
              </a:srgbClr>
            </a:solidFill>
            <a:prstDash val="solid"/>
          </a:ln>
        </p:spPr>
      </p:sp>
      <p:sp>
        <p:nvSpPr>
          <p:cNvPr id="69" name="">
            <a:extLst xmlns:a="http://schemas.openxmlformats.org/drawingml/2006/main">
              <a:ext uri="{FF2B5EF4-FFF2-40B4-BE49-F238E27FC236}">
                <a16:creationId xmlns:a16="http://schemas.microsoft.com/office/drawing/2014/main" id="{856772E3-54FB-4CCC-8F94-6968144740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6467475" y="2705100"/>
            <a:ext cx="0" cy="1524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7145">
            <a:solidFill>
              <a:srgbClr val="A38BFF"/>
            </a:solidFill>
            <a:prstDash val="solid"/>
          </a:ln>
        </p:spPr>
      </p:sp>
      <p:sp>
        <p:nvSpPr>
          <p:cNvPr id="70" name="">
            <a:extLst xmlns:a="http://schemas.openxmlformats.org/drawingml/2006/main">
              <a:ext uri="{FF2B5EF4-FFF2-40B4-BE49-F238E27FC236}">
                <a16:creationId xmlns:a16="http://schemas.microsoft.com/office/drawing/2014/main" id="{8C9A5D52-14E8-43E0-ABC4-F26E1F2610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6467475" y="3476625"/>
            <a:ext cx="0" cy="1619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7145">
            <a:solidFill>
              <a:srgbClr val="A38BFF"/>
            </a:solidFill>
            <a:prstDash val="solid"/>
          </a:ln>
        </p:spPr>
      </p:sp>
      <p:cxnSp>
        <p:nvCxnSpPr>
          <p:cNvPr id="145" name=""/>
          <p:cNvCxnSpPr>
            <a:stCxn xmlns:a="http://schemas.openxmlformats.org/drawingml/2006/main" id="42" idx="2"/>
            <a:endCxn xmlns:a="http://schemas.openxmlformats.org/drawingml/2006/main" id="46" idx="0"/>
          </p:cNvCxnSpPr>
          <p:nvPr/>
        </p:nvCxnSpPr>
        <p:spPr>
          <a:xfrm xmlns:a="http://schemas.openxmlformats.org/drawingml/2006/main" flipH="1">
            <a:off x="3814763" y="4152900"/>
            <a:ext cx="2652713" cy="304800"/>
          </a:xfrm>
          <a:prstGeom xmlns:a="http://schemas.openxmlformats.org/drawingml/2006/main" prst="bentConnector4">
            <a:avLst>
              <a:gd name="adj1" fmla="val 0"/>
              <a:gd name="adj2" fmla="val 50000"/>
            </a:avLst>
          </a:prstGeom>
          <a:ln xmlns:a="http://schemas.openxmlformats.org/drawingml/2006/main" w="17145">
            <a:solidFill>
              <a:srgbClr val="6DD7F5"/>
            </a:solidFill>
            <a:prstDash val="solid"/>
            <a:headEnd type="triangle" w="sm" len="sm"/>
          </a:ln>
        </p:spPr>
      </p:cxnSp>
      <p:cxnSp>
        <p:nvCxnSpPr>
          <p:cNvPr id="146" name=""/>
          <p:cNvCxnSpPr>
            <a:stCxn xmlns:a="http://schemas.openxmlformats.org/drawingml/2006/main" id="42" idx="2"/>
            <a:endCxn xmlns:a="http://schemas.openxmlformats.org/drawingml/2006/main" id="52" idx="0"/>
          </p:cNvCxnSpPr>
          <p:nvPr/>
        </p:nvCxnSpPr>
        <p:spPr>
          <a:xfrm xmlns:a="http://schemas.openxmlformats.org/drawingml/2006/main">
            <a:off x="6467475" y="4152900"/>
            <a:ext cx="947738" cy="304800"/>
          </a:xfrm>
          <a:prstGeom xmlns:a="http://schemas.openxmlformats.org/drawingml/2006/main" prst="bentConnector4">
            <a:avLst>
              <a:gd name="adj1" fmla="val 0"/>
              <a:gd name="adj2" fmla="val 50000"/>
            </a:avLst>
          </a:prstGeom>
          <a:ln xmlns:a="http://schemas.openxmlformats.org/drawingml/2006/main" w="14288">
            <a:solidFill>
              <a:srgbClr val="FFFFFF">
                <a:alpha val="47843"/>
              </a:srgbClr>
            </a:solidFill>
            <a:prstDash val="solid"/>
            <a:headEnd type="triangle" w="sm" len="sm"/>
          </a:ln>
        </p:spPr>
      </p:cxnSp>
      <p:cxnSp>
        <p:nvCxnSpPr>
          <p:cNvPr id="147" name=""/>
          <p:cNvCxnSpPr>
            <a:stCxn xmlns:a="http://schemas.openxmlformats.org/drawingml/2006/main" id="42" idx="2"/>
            <a:endCxn xmlns:a="http://schemas.openxmlformats.org/drawingml/2006/main" id="55" idx="0"/>
          </p:cNvCxnSpPr>
          <p:nvPr/>
        </p:nvCxnSpPr>
        <p:spPr>
          <a:xfrm xmlns:a="http://schemas.openxmlformats.org/drawingml/2006/main">
            <a:off x="6467475" y="4152900"/>
            <a:ext cx="3738563" cy="304800"/>
          </a:xfrm>
          <a:prstGeom xmlns:a="http://schemas.openxmlformats.org/drawingml/2006/main" prst="bentConnector4">
            <a:avLst>
              <a:gd name="adj1" fmla="val 0"/>
              <a:gd name="adj2" fmla="val 50000"/>
            </a:avLst>
          </a:prstGeom>
          <a:ln xmlns:a="http://schemas.openxmlformats.org/drawingml/2006/main" w="14288">
            <a:solidFill>
              <a:srgbClr val="FFFFFF">
                <a:alpha val="47843"/>
              </a:srgbClr>
            </a:solidFill>
            <a:prstDash val="solid"/>
            <a:headEnd type="triangle" w="sm" len="sm"/>
          </a:ln>
        </p:spPr>
      </p:cxnSp>
      <p:sp>
        <p:nvSpPr>
          <p:cNvPr id="74" name="">
            <a:extLst xmlns:a="http://schemas.openxmlformats.org/drawingml/2006/main">
              <a:ext uri="{FF2B5EF4-FFF2-40B4-BE49-F238E27FC236}">
                <a16:creationId xmlns:a16="http://schemas.microsoft.com/office/drawing/2014/main" id="{73CFA5B3-D2DD-4733-AB33-84E7E2D9AF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63325" y="6467475"/>
            <a:ext cx="4000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FFFFFF">
                    <a:alpha val="47843"/>
                  </a:srgbClr>
                </a:solidFill>
                <a:latin typeface="DIN Alternate"/>
                <a:ea typeface="DIN Alternate"/>
                <a:cs typeface="DIN Alternate"/>
              </a:defRPr>
            </a:pPr>
            <a:r>
              <a:rPr sz="900" b="0">
                <a:solidFill>
                  <a:srgbClr val="FFFFFF">
                    <a:alpha val="47843"/>
                  </a:srgbClr>
                </a:solidFill>
                <a:latin typeface="DIN Alternate"/>
                <a:ea typeface="DIN Alternate"/>
                <a:cs typeface="DIN Alternate"/>
              </a:rPr>
              <a:t>07</a:t>
            </a:r>
          </a:p>
        </p:txBody>
      </p:sp>
    </p:spTree>
    <p:extLst>
      <p:ext uri="{BB962C8B-B14F-4D97-AF65-F5344CB8AC3E}">
        <p14:creationId xmlns:p14="http://schemas.microsoft.com/office/powerpoint/2010/main" val="2042594378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5F2F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4A2C2456-92F1-41F3-AC78-39044C8B87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4000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2A183B"/>
                </a:solidFill>
                <a:latin typeface="PingFang SC"/>
                <a:ea typeface="PingFang SC"/>
                <a:cs typeface="PingFang SC"/>
              </a:defRPr>
            </a:pPr>
            <a:r>
              <a:rPr sz="900" b="1">
                <a:solidFill>
                  <a:srgbClr val="2A183B"/>
                </a:solidFill>
                <a:latin typeface="PingFang SC"/>
                <a:ea typeface="PingFang SC"/>
                <a:cs typeface="PingFang SC"/>
              </a:rPr>
              <a:t>数据闭环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2B64DAD-DB6A-48B4-B880-8EC6FA225B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19125"/>
            <a:ext cx="108585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211D27"/>
                </a:solidFill>
                <a:latin typeface="PingFang SC"/>
                <a:ea typeface="PingFang SC"/>
                <a:cs typeface="PingFang SC"/>
              </a:defRPr>
            </a:pPr>
            <a:r>
              <a:rPr sz="2550" b="1">
                <a:solidFill>
                  <a:srgbClr val="211D27"/>
                </a:solidFill>
                <a:latin typeface="PingFang SC"/>
                <a:ea typeface="PingFang SC"/>
                <a:cs typeface="PingFang SC"/>
              </a:rPr>
              <a:t>真实经营结果持续校准模型和决策规则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3FCF607-7104-4A87-8F7E-C2AE329967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33475"/>
            <a:ext cx="10572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665F6B"/>
                </a:solidFill>
                <a:latin typeface="PingFang SC"/>
                <a:ea typeface="PingFang SC"/>
                <a:cs typeface="PingFang SC"/>
              </a:defRPr>
            </a:pPr>
            <a:r>
              <a:rPr sz="1200" b="0">
                <a:solidFill>
                  <a:srgbClr val="665F6B"/>
                </a:solidFill>
                <a:latin typeface="PingFang SC"/>
                <a:ea typeface="PingFang SC"/>
                <a:cs typeface="PingFang SC"/>
              </a:rPr>
              <a:t>系统学习预测误差与任务效果，不允许大模型自行修改财务公式和权限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165A2C5-9A8B-448C-ACD2-F837CCF8CF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2486025"/>
            <a:ext cx="1162050" cy="1162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A183B"/>
          </a:solidFill>
          <a:ln xmlns:a="http://schemas.openxmlformats.org/drawingml/2006/main" w="17145">
            <a:solidFill>
              <a:srgbClr val="A38BFF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CB73EC6-D01A-469B-A178-247B68AA48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" y="2724150"/>
            <a:ext cx="666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825" b="0">
                <a:solidFill>
                  <a:srgbClr val="FFFFFF">
                    <a:alpha val="72157"/>
                  </a:srgbClr>
                </a:solidFill>
                <a:latin typeface="DIN Alternate"/>
                <a:ea typeface="DIN Alternate"/>
                <a:cs typeface="DIN Alternate"/>
              </a:defRPr>
            </a:pPr>
            <a:r>
              <a:rPr sz="825" b="0">
                <a:solidFill>
                  <a:srgbClr val="FFFFFF">
                    <a:alpha val="72157"/>
                  </a:srgbClr>
                </a:solidFill>
                <a:latin typeface="DIN Alternate"/>
                <a:ea typeface="DIN Alternate"/>
                <a:cs typeface="DIN Alternate"/>
              </a:rPr>
              <a:t>01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0E2B1C7-56CE-4070-AC56-C36C4AB5C9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962275"/>
            <a:ext cx="9144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1350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预测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17106D2-5B21-47EB-8FCD-0CE5010489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3286125"/>
            <a:ext cx="952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825" b="0">
                <a:solidFill>
                  <a:srgbClr val="FFFFFF">
                    <a:alpha val="72157"/>
                  </a:srgbClr>
                </a:solidFill>
                <a:latin typeface="PingFang SC"/>
                <a:ea typeface="PingFang SC"/>
                <a:cs typeface="PingFang SC"/>
              </a:defRPr>
            </a:pPr>
            <a:r>
              <a:rPr sz="825" b="0">
                <a:solidFill>
                  <a:srgbClr val="FFFFFF">
                    <a:alpha val="72157"/>
                  </a:srgbClr>
                </a:solidFill>
                <a:latin typeface="PingFang SC"/>
                <a:ea typeface="PingFang SC"/>
                <a:cs typeface="PingFang SC"/>
              </a:rPr>
              <a:t>利润区间</a:t>
            </a:r>
          </a:p>
          <a:p xmlns:a="http://schemas.openxmlformats.org/drawingml/2006/main">
            <a:pPr algn="ctr">
              <a:defRPr sz="825" b="0">
                <a:solidFill>
                  <a:srgbClr val="FFFFFF">
                    <a:alpha val="72157"/>
                  </a:srgbClr>
                </a:solidFill>
                <a:latin typeface="PingFang SC"/>
                <a:ea typeface="PingFang SC"/>
                <a:cs typeface="PingFang SC"/>
              </a:defRPr>
            </a:pPr>
            <a:r>
              <a:rPr sz="825" b="0">
                <a:solidFill>
                  <a:srgbClr val="FFFFFF">
                    <a:alpha val="72157"/>
                  </a:srgbClr>
                </a:solidFill>
                <a:latin typeface="PingFang SC"/>
                <a:ea typeface="PingFang SC"/>
                <a:cs typeface="PingFang SC"/>
              </a:rPr>
              <a:t>销量区间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B412A81-C79A-41BA-817A-D9DEFFFFF4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1562100" y="3067050"/>
            <a:ext cx="7429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0955">
            <a:solidFill>
              <a:srgbClr val="A38BFF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5654D09-6A7D-4F99-AB56-5589A96626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28800" y="2943225"/>
            <a:ext cx="3238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75" b="0">
                <a:solidFill>
                  <a:srgbClr val="A38BFF"/>
                </a:solidFill>
                <a:latin typeface="PingFang SC"/>
                <a:ea typeface="PingFang SC"/>
                <a:cs typeface="PingFang SC"/>
              </a:defRPr>
            </a:pPr>
            <a:r>
              <a:rPr sz="1575" b="0">
                <a:solidFill>
                  <a:srgbClr val="A38BFF"/>
                </a:solidFill>
                <a:latin typeface="PingFang SC"/>
                <a:ea typeface="PingFang SC"/>
                <a:cs typeface="PingFang SC"/>
              </a:rPr>
              <a:t>›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F8BE968-34FE-45C5-8226-CBDECCB459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24100" y="2486025"/>
            <a:ext cx="1162050" cy="1162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A183B"/>
          </a:solidFill>
          <a:ln xmlns:a="http://schemas.openxmlformats.org/drawingml/2006/main" w="17145">
            <a:solidFill>
              <a:srgbClr val="A38BFF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AD69AA2-A5EE-4856-B92C-4C460BE1F9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71750" y="2724150"/>
            <a:ext cx="666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825" b="0">
                <a:solidFill>
                  <a:srgbClr val="FFFFFF">
                    <a:alpha val="72157"/>
                  </a:srgbClr>
                </a:solidFill>
                <a:latin typeface="DIN Alternate"/>
                <a:ea typeface="DIN Alternate"/>
                <a:cs typeface="DIN Alternate"/>
              </a:defRPr>
            </a:pPr>
            <a:r>
              <a:rPr sz="825" b="0">
                <a:solidFill>
                  <a:srgbClr val="FFFFFF">
                    <a:alpha val="72157"/>
                  </a:srgbClr>
                </a:solidFill>
                <a:latin typeface="DIN Alternate"/>
                <a:ea typeface="DIN Alternate"/>
                <a:cs typeface="DIN Alternate"/>
              </a:rPr>
              <a:t>02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40742DB-28CB-4B70-B8FE-7DED92F1A0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47925" y="2962275"/>
            <a:ext cx="9144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1350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决策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2E71656-7F30-4A5B-927B-356B34175B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28875" y="3286125"/>
            <a:ext cx="952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825" b="0">
                <a:solidFill>
                  <a:srgbClr val="FFFFFF">
                    <a:alpha val="72157"/>
                  </a:srgbClr>
                </a:solidFill>
                <a:latin typeface="PingFang SC"/>
                <a:ea typeface="PingFang SC"/>
                <a:cs typeface="PingFang SC"/>
              </a:defRPr>
            </a:pPr>
            <a:r>
              <a:rPr sz="825" b="0">
                <a:solidFill>
                  <a:srgbClr val="FFFFFF">
                    <a:alpha val="72157"/>
                  </a:srgbClr>
                </a:solidFill>
                <a:latin typeface="PingFang SC"/>
                <a:ea typeface="PingFang SC"/>
                <a:cs typeface="PingFang SC"/>
              </a:rPr>
              <a:t>人工确认</a:t>
            </a:r>
          </a:p>
          <a:p xmlns:a="http://schemas.openxmlformats.org/drawingml/2006/main">
            <a:pPr algn="ctr">
              <a:defRPr sz="825" b="0">
                <a:solidFill>
                  <a:srgbClr val="FFFFFF">
                    <a:alpha val="72157"/>
                  </a:srgbClr>
                </a:solidFill>
                <a:latin typeface="PingFang SC"/>
                <a:ea typeface="PingFang SC"/>
                <a:cs typeface="PingFang SC"/>
              </a:defRPr>
            </a:pPr>
            <a:r>
              <a:rPr sz="825" b="0">
                <a:solidFill>
                  <a:srgbClr val="FFFFFF">
                    <a:alpha val="72157"/>
                  </a:srgbClr>
                </a:solidFill>
                <a:latin typeface="PingFang SC"/>
                <a:ea typeface="PingFang SC"/>
                <a:cs typeface="PingFang SC"/>
              </a:rPr>
              <a:t>条件与底线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356CF77-BFE7-4AA6-B55A-1FAAC64936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3495675" y="3067050"/>
            <a:ext cx="7429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0955">
            <a:solidFill>
              <a:srgbClr val="A38BFF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E81CB6F-7B3F-471E-BBB0-E3D2AFB5B2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62375" y="2943225"/>
            <a:ext cx="3238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75" b="0">
                <a:solidFill>
                  <a:srgbClr val="A38BFF"/>
                </a:solidFill>
                <a:latin typeface="PingFang SC"/>
                <a:ea typeface="PingFang SC"/>
                <a:cs typeface="PingFang SC"/>
              </a:defRPr>
            </a:pPr>
            <a:r>
              <a:rPr sz="1575" b="0">
                <a:solidFill>
                  <a:srgbClr val="A38BFF"/>
                </a:solidFill>
                <a:latin typeface="PingFang SC"/>
                <a:ea typeface="PingFang SC"/>
                <a:cs typeface="PingFang SC"/>
              </a:rPr>
              <a:t>›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DF2ED53-F66B-4878-96A8-D9C42A6992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57675" y="2486025"/>
            <a:ext cx="1162050" cy="1162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7145">
            <a:solidFill>
              <a:srgbClr val="A38BFF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E6B80764-B77E-43B1-882A-380C14B0D9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05325" y="2724150"/>
            <a:ext cx="666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825" b="0">
                <a:solidFill>
                  <a:srgbClr val="A38BFF"/>
                </a:solidFill>
                <a:latin typeface="DIN Alternate"/>
                <a:ea typeface="DIN Alternate"/>
                <a:cs typeface="DIN Alternate"/>
              </a:defRPr>
            </a:pPr>
            <a:r>
              <a:rPr sz="825" b="0">
                <a:solidFill>
                  <a:srgbClr val="A38BFF"/>
                </a:solidFill>
                <a:latin typeface="DIN Alternate"/>
                <a:ea typeface="DIN Alternate"/>
                <a:cs typeface="DIN Alternate"/>
              </a:rPr>
              <a:t>03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7914306B-02DC-43DE-A31B-D965737814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0" y="2962275"/>
            <a:ext cx="9144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211D27"/>
                </a:solidFill>
                <a:latin typeface="PingFang SC"/>
                <a:ea typeface="PingFang SC"/>
                <a:cs typeface="PingFang SC"/>
              </a:defRPr>
            </a:pPr>
            <a:r>
              <a:rPr sz="1350" b="1">
                <a:solidFill>
                  <a:srgbClr val="211D27"/>
                </a:solidFill>
                <a:latin typeface="PingFang SC"/>
                <a:ea typeface="PingFang SC"/>
                <a:cs typeface="PingFang SC"/>
              </a:rPr>
              <a:t>执行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19BA2762-EFBE-412A-97A5-2A0B32AA66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62450" y="3286125"/>
            <a:ext cx="952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825" b="0">
                <a:solidFill>
                  <a:srgbClr val="665F6B"/>
                </a:solidFill>
                <a:latin typeface="PingFang SC"/>
                <a:ea typeface="PingFang SC"/>
                <a:cs typeface="PingFang SC"/>
              </a:defRPr>
            </a:pPr>
            <a:r>
              <a:rPr sz="825" b="0">
                <a:solidFill>
                  <a:srgbClr val="665F6B"/>
                </a:solidFill>
                <a:latin typeface="PingFang SC"/>
                <a:ea typeface="PingFang SC"/>
                <a:cs typeface="PingFang SC"/>
              </a:rPr>
              <a:t>场馆与审批</a:t>
            </a:r>
          </a:p>
          <a:p xmlns:a="http://schemas.openxmlformats.org/drawingml/2006/main">
            <a:pPr algn="ctr">
              <a:defRPr sz="825" b="0">
                <a:solidFill>
                  <a:srgbClr val="665F6B"/>
                </a:solidFill>
                <a:latin typeface="PingFang SC"/>
                <a:ea typeface="PingFang SC"/>
                <a:cs typeface="PingFang SC"/>
              </a:defRPr>
            </a:pPr>
            <a:r>
              <a:rPr sz="825" b="0">
                <a:solidFill>
                  <a:srgbClr val="665F6B"/>
                </a:solidFill>
                <a:latin typeface="PingFang SC"/>
                <a:ea typeface="PingFang SC"/>
                <a:cs typeface="PingFang SC"/>
              </a:rPr>
              <a:t>任务证据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A4D728C2-0FDC-4150-A5B4-B6BBFA0CD6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5429250" y="3067050"/>
            <a:ext cx="7429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0955">
            <a:solidFill>
              <a:srgbClr val="A38BFF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FA04F554-AE80-4623-AC05-EBA42D4EEF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95950" y="2943225"/>
            <a:ext cx="3238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75" b="0">
                <a:solidFill>
                  <a:srgbClr val="A38BFF"/>
                </a:solidFill>
                <a:latin typeface="PingFang SC"/>
                <a:ea typeface="PingFang SC"/>
                <a:cs typeface="PingFang SC"/>
              </a:defRPr>
            </a:pPr>
            <a:r>
              <a:rPr sz="1575" b="0">
                <a:solidFill>
                  <a:srgbClr val="A38BFF"/>
                </a:solidFill>
                <a:latin typeface="PingFang SC"/>
                <a:ea typeface="PingFang SC"/>
                <a:cs typeface="PingFang SC"/>
              </a:rPr>
              <a:t>›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CFB3F399-5D01-4E38-911A-491148683D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2486025"/>
            <a:ext cx="1162050" cy="1162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7145">
            <a:solidFill>
              <a:srgbClr val="A38BFF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7FC3731B-AC4B-422D-ABA5-FC745DBBD5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8900" y="2724150"/>
            <a:ext cx="666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825" b="0">
                <a:solidFill>
                  <a:srgbClr val="A38BFF"/>
                </a:solidFill>
                <a:latin typeface="DIN Alternate"/>
                <a:ea typeface="DIN Alternate"/>
                <a:cs typeface="DIN Alternate"/>
              </a:defRPr>
            </a:pPr>
            <a:r>
              <a:rPr sz="825" b="0">
                <a:solidFill>
                  <a:srgbClr val="A38BFF"/>
                </a:solidFill>
                <a:latin typeface="DIN Alternate"/>
                <a:ea typeface="DIN Alternate"/>
                <a:cs typeface="DIN Alternate"/>
              </a:rPr>
              <a:t>04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8E57AB18-A06A-4D59-A49E-244DA4FF1D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15075" y="2962275"/>
            <a:ext cx="9144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211D27"/>
                </a:solidFill>
                <a:latin typeface="PingFang SC"/>
                <a:ea typeface="PingFang SC"/>
                <a:cs typeface="PingFang SC"/>
              </a:defRPr>
            </a:pPr>
            <a:r>
              <a:rPr sz="1350" b="1">
                <a:solidFill>
                  <a:srgbClr val="211D27"/>
                </a:solidFill>
                <a:latin typeface="PingFang SC"/>
                <a:ea typeface="PingFang SC"/>
                <a:cs typeface="PingFang SC"/>
              </a:rPr>
              <a:t>售票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740F2CDB-9498-4DD2-980C-337B516BF3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96025" y="3286125"/>
            <a:ext cx="952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825" b="0">
                <a:solidFill>
                  <a:srgbClr val="665F6B"/>
                </a:solidFill>
                <a:latin typeface="PingFang SC"/>
                <a:ea typeface="PingFang SC"/>
                <a:cs typeface="PingFang SC"/>
              </a:defRPr>
            </a:pPr>
            <a:r>
              <a:rPr sz="825" b="0">
                <a:solidFill>
                  <a:srgbClr val="665F6B"/>
                </a:solidFill>
                <a:latin typeface="PingFang SC"/>
                <a:ea typeface="PingFang SC"/>
                <a:cs typeface="PingFang SC"/>
              </a:rPr>
              <a:t>销售曲线</a:t>
            </a:r>
          </a:p>
          <a:p xmlns:a="http://schemas.openxmlformats.org/drawingml/2006/main">
            <a:pPr algn="ctr">
              <a:defRPr sz="825" b="0">
                <a:solidFill>
                  <a:srgbClr val="665F6B"/>
                </a:solidFill>
                <a:latin typeface="PingFang SC"/>
                <a:ea typeface="PingFang SC"/>
                <a:cs typeface="PingFang SC"/>
              </a:defRPr>
            </a:pPr>
            <a:r>
              <a:rPr sz="825" b="0">
                <a:solidFill>
                  <a:srgbClr val="665F6B"/>
                </a:solidFill>
                <a:latin typeface="PingFang SC"/>
                <a:ea typeface="PingFang SC"/>
                <a:cs typeface="PingFang SC"/>
              </a:rPr>
              <a:t>退票与加场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7F30B00A-7AAC-4B99-9FFC-0D1DADA717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7362825" y="3067050"/>
            <a:ext cx="7429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0955">
            <a:solidFill>
              <a:srgbClr val="A38BFF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68F0AD94-7BD9-4C66-8742-E61E7DA51C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9525" y="2943225"/>
            <a:ext cx="3238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75" b="0">
                <a:solidFill>
                  <a:srgbClr val="A38BFF"/>
                </a:solidFill>
                <a:latin typeface="PingFang SC"/>
                <a:ea typeface="PingFang SC"/>
                <a:cs typeface="PingFang SC"/>
              </a:defRPr>
            </a:pPr>
            <a:r>
              <a:rPr sz="1575" b="0">
                <a:solidFill>
                  <a:srgbClr val="A38BFF"/>
                </a:solidFill>
                <a:latin typeface="PingFang SC"/>
                <a:ea typeface="PingFang SC"/>
                <a:cs typeface="PingFang SC"/>
              </a:rPr>
              <a:t>›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5CBC1886-0900-4E82-AABE-9762E3A98B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24825" y="2486025"/>
            <a:ext cx="1162050" cy="1162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7145">
            <a:solidFill>
              <a:srgbClr val="A38BFF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B1758751-A390-4F10-8D3D-A814F15309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72475" y="2724150"/>
            <a:ext cx="666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825" b="0">
                <a:solidFill>
                  <a:srgbClr val="A38BFF"/>
                </a:solidFill>
                <a:latin typeface="DIN Alternate"/>
                <a:ea typeface="DIN Alternate"/>
                <a:cs typeface="DIN Alternate"/>
              </a:defRPr>
            </a:pPr>
            <a:r>
              <a:rPr sz="825" b="0">
                <a:solidFill>
                  <a:srgbClr val="A38BFF"/>
                </a:solidFill>
                <a:latin typeface="DIN Alternate"/>
                <a:ea typeface="DIN Alternate"/>
                <a:cs typeface="DIN Alternate"/>
              </a:rPr>
              <a:t>05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080868F6-C89A-41D1-90CE-1DE26ACFD8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48650" y="2962275"/>
            <a:ext cx="9144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211D27"/>
                </a:solidFill>
                <a:latin typeface="PingFang SC"/>
                <a:ea typeface="PingFang SC"/>
                <a:cs typeface="PingFang SC"/>
              </a:defRPr>
            </a:pPr>
            <a:r>
              <a:rPr sz="1350" b="1">
                <a:solidFill>
                  <a:srgbClr val="211D27"/>
                </a:solidFill>
                <a:latin typeface="PingFang SC"/>
                <a:ea typeface="PingFang SC"/>
                <a:cs typeface="PingFang SC"/>
              </a:rPr>
              <a:t>结算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0E7B2D17-7024-4C5E-88DB-5E5AE4E9F2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3286125"/>
            <a:ext cx="952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825" b="0">
                <a:solidFill>
                  <a:srgbClr val="665F6B"/>
                </a:solidFill>
                <a:latin typeface="PingFang SC"/>
                <a:ea typeface="PingFang SC"/>
                <a:cs typeface="PingFang SC"/>
              </a:defRPr>
            </a:pPr>
            <a:r>
              <a:rPr sz="825" b="0">
                <a:solidFill>
                  <a:srgbClr val="665F6B"/>
                </a:solidFill>
                <a:latin typeface="PingFang SC"/>
                <a:ea typeface="PingFang SC"/>
                <a:cs typeface="PingFang SC"/>
              </a:rPr>
              <a:t>实际成本</a:t>
            </a:r>
          </a:p>
          <a:p xmlns:a="http://schemas.openxmlformats.org/drawingml/2006/main">
            <a:pPr algn="ctr">
              <a:defRPr sz="825" b="0">
                <a:solidFill>
                  <a:srgbClr val="665F6B"/>
                </a:solidFill>
                <a:latin typeface="PingFang SC"/>
                <a:ea typeface="PingFang SC"/>
                <a:cs typeface="PingFang SC"/>
              </a:defRPr>
            </a:pPr>
            <a:r>
              <a:rPr sz="825" b="0">
                <a:solidFill>
                  <a:srgbClr val="665F6B"/>
                </a:solidFill>
                <a:latin typeface="PingFang SC"/>
                <a:ea typeface="PingFang SC"/>
                <a:cs typeface="PingFang SC"/>
              </a:rPr>
              <a:t>最终利润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CCE84CA7-DEA2-4A41-B36B-0F4434121F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9296400" y="3067050"/>
            <a:ext cx="7429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0955">
            <a:solidFill>
              <a:srgbClr val="FF6B59"/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0620FD26-7C3D-4820-AFEB-AB2C1CF14C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63100" y="2943225"/>
            <a:ext cx="3238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75" b="0">
                <a:solidFill>
                  <a:srgbClr val="FF6B59"/>
                </a:solidFill>
                <a:latin typeface="PingFang SC"/>
                <a:ea typeface="PingFang SC"/>
                <a:cs typeface="PingFang SC"/>
              </a:defRPr>
            </a:pPr>
            <a:r>
              <a:rPr sz="1575" b="0">
                <a:solidFill>
                  <a:srgbClr val="FF6B59"/>
                </a:solidFill>
                <a:latin typeface="PingFang SC"/>
                <a:ea typeface="PingFang SC"/>
                <a:cs typeface="PingFang SC"/>
              </a:rPr>
              <a:t>›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18D126FA-515F-4781-90D0-5D8491E649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58400" y="2486025"/>
            <a:ext cx="1162050" cy="1162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6B59"/>
          </a:solidFill>
          <a:ln xmlns:a="http://schemas.openxmlformats.org/drawingml/2006/main" w="17145">
            <a:solidFill>
              <a:srgbClr val="FF6B59"/>
            </a:solidFill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A71B747E-09B7-45FE-9629-F8CD9BC188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06050" y="2724150"/>
            <a:ext cx="666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825" b="0">
                <a:solidFill>
                  <a:srgbClr val="FFFFFF">
                    <a:alpha val="72157"/>
                  </a:srgbClr>
                </a:solidFill>
                <a:latin typeface="DIN Alternate"/>
                <a:ea typeface="DIN Alternate"/>
                <a:cs typeface="DIN Alternate"/>
              </a:defRPr>
            </a:pPr>
            <a:r>
              <a:rPr sz="825" b="0">
                <a:solidFill>
                  <a:srgbClr val="FFFFFF">
                    <a:alpha val="72157"/>
                  </a:srgbClr>
                </a:solidFill>
                <a:latin typeface="DIN Alternate"/>
                <a:ea typeface="DIN Alternate"/>
                <a:cs typeface="DIN Alternate"/>
              </a:rPr>
              <a:t>06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7C3B7DFF-BB8E-4C1D-B658-3706B4FF39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82225" y="2962275"/>
            <a:ext cx="9144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1350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校准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635298B0-FA8A-4FEF-AD08-2ED3CC26D0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63175" y="3286125"/>
            <a:ext cx="952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825" b="0">
                <a:solidFill>
                  <a:srgbClr val="FFFFFF">
                    <a:alpha val="72157"/>
                  </a:srgbClr>
                </a:solidFill>
                <a:latin typeface="PingFang SC"/>
                <a:ea typeface="PingFang SC"/>
                <a:cs typeface="PingFang SC"/>
              </a:defRPr>
            </a:pPr>
            <a:r>
              <a:rPr sz="825" b="0">
                <a:solidFill>
                  <a:srgbClr val="FFFFFF">
                    <a:alpha val="72157"/>
                  </a:srgbClr>
                </a:solidFill>
                <a:latin typeface="PingFang SC"/>
                <a:ea typeface="PingFang SC"/>
                <a:cs typeface="PingFang SC"/>
              </a:rPr>
              <a:t>误差分析</a:t>
            </a:r>
          </a:p>
          <a:p xmlns:a="http://schemas.openxmlformats.org/drawingml/2006/main">
            <a:pPr algn="ctr">
              <a:defRPr sz="825" b="0">
                <a:solidFill>
                  <a:srgbClr val="FFFFFF">
                    <a:alpha val="72157"/>
                  </a:srgbClr>
                </a:solidFill>
                <a:latin typeface="PingFang SC"/>
                <a:ea typeface="PingFang SC"/>
                <a:cs typeface="PingFang SC"/>
              </a:defRPr>
            </a:pPr>
            <a:r>
              <a:rPr sz="825" b="0">
                <a:solidFill>
                  <a:srgbClr val="FFFFFF">
                    <a:alpha val="72157"/>
                  </a:srgbClr>
                </a:solidFill>
                <a:latin typeface="PingFang SC"/>
                <a:ea typeface="PingFang SC"/>
                <a:cs typeface="PingFang SC"/>
              </a:rPr>
              <a:t>版本化更新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E3CEFC4D-BD6F-4811-AD99-A1D228D8F3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10639425" y="3838575"/>
            <a:ext cx="0" cy="67627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FF6B59"/>
            </a:solidFill>
            <a:prstDash val="solid"/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BEF2B67F-F0FD-4422-A6B0-58B7E8BA75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1" flipV="0">
            <a:off x="971550" y="4514850"/>
            <a:ext cx="966787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FF6B59"/>
            </a:solidFill>
            <a:prstDash val="solid"/>
          </a:ln>
        </p:spPr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F4C88F92-B84D-40BB-9B24-D02D2ADF0E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1">
            <a:off x="971550" y="3838575"/>
            <a:ext cx="0" cy="67627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FF6B59"/>
            </a:solidFill>
            <a:prstDash val="solid"/>
          </a:ln>
        </p:spPr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A1FAF21A-1C0C-4C04-9B53-F0A2647037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72025" y="4324350"/>
            <a:ext cx="2095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FF6B59"/>
                </a:solidFill>
                <a:latin typeface="PingFang SC"/>
                <a:ea typeface="PingFang SC"/>
                <a:cs typeface="PingFang SC"/>
              </a:defRPr>
            </a:pPr>
            <a:r>
              <a:rPr sz="1200" b="1">
                <a:solidFill>
                  <a:srgbClr val="FF6B59"/>
                </a:solidFill>
                <a:latin typeface="PingFang SC"/>
                <a:ea typeface="PingFang SC"/>
                <a:cs typeface="PingFang SC"/>
              </a:rPr>
              <a:t>真实结果回流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7A32F1EA-28D4-41AB-88C1-30070315FF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5114925"/>
            <a:ext cx="4572000" cy="790575"/>
          </a:xfrm>
          <a:prstGeom xmlns:a="http://schemas.openxmlformats.org/drawingml/2006/main" prst="roundRect">
            <a:avLst>
              <a:gd name="adj" fmla="val 2168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0D8"/>
            </a:solidFill>
            <a:prstDash val="solid"/>
          </a:ln>
        </p:spPr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7CF551E6-8AEF-4A0C-B551-3D36B114F9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5238750"/>
            <a:ext cx="1809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211D27"/>
                </a:solidFill>
                <a:latin typeface="PingFang SC"/>
                <a:ea typeface="PingFang SC"/>
                <a:cs typeface="PingFang SC"/>
              </a:defRPr>
            </a:pPr>
            <a:r>
              <a:rPr sz="1125" b="1">
                <a:solidFill>
                  <a:srgbClr val="211D27"/>
                </a:solidFill>
                <a:latin typeface="PingFang SC"/>
                <a:ea typeface="PingFang SC"/>
                <a:cs typeface="PingFang SC"/>
              </a:rPr>
              <a:t>系统可以逐步学会</a:t>
            </a:r>
          </a:p>
        </p:txBody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44916A33-8B05-424E-AD54-1BB77CBEFE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5524500"/>
            <a:ext cx="400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665F6B"/>
                </a:solidFill>
                <a:latin typeface="PingFang SC"/>
                <a:ea typeface="PingFang SC"/>
                <a:cs typeface="PingFang SC"/>
              </a:defRPr>
            </a:pPr>
            <a:r>
              <a:rPr sz="1050" b="0">
                <a:solidFill>
                  <a:srgbClr val="665F6B"/>
                </a:solidFill>
                <a:latin typeface="PingFang SC"/>
                <a:ea typeface="PingFang SC"/>
                <a:cs typeface="PingFang SC"/>
              </a:rPr>
              <a:t>城市需求、价格弹性、场馆转换率、任务耗时和风险命中率</a:t>
            </a:r>
          </a:p>
        </p:txBody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4905C215-74D7-4075-9680-16DCB64C0B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0" y="5114925"/>
            <a:ext cx="4724400" cy="790575"/>
          </a:xfrm>
          <a:prstGeom xmlns:a="http://schemas.openxmlformats.org/drawingml/2006/main" prst="roundRect">
            <a:avLst>
              <a:gd name="adj" fmla="val 21687"/>
            </a:avLst>
          </a:prstGeom>
          <a:solidFill xmlns:a="http://schemas.openxmlformats.org/drawingml/2006/main">
            <a:srgbClr val="FF6B59">
              <a:alpha val="4314"/>
            </a:srgbClr>
          </a:solidFill>
          <a:ln xmlns:a="http://schemas.openxmlformats.org/drawingml/2006/main" w="9525">
            <a:solidFill>
              <a:srgbClr val="FF6B59">
                <a:alpha val="37647"/>
              </a:srgbClr>
            </a:solidFill>
            <a:prstDash val="solid"/>
          </a:ln>
        </p:spPr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B2F0BA7E-4CC7-4FC7-8C1F-289DF597E7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34100" y="5238750"/>
            <a:ext cx="1809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FF6B59"/>
                </a:solidFill>
                <a:latin typeface="PingFang SC"/>
                <a:ea typeface="PingFang SC"/>
                <a:cs typeface="PingFang SC"/>
              </a:defRPr>
            </a:pPr>
            <a:r>
              <a:rPr sz="1125" b="1">
                <a:solidFill>
                  <a:srgbClr val="FF6B59"/>
                </a:solidFill>
                <a:latin typeface="PingFang SC"/>
                <a:ea typeface="PingFang SC"/>
                <a:cs typeface="PingFang SC"/>
              </a:rPr>
              <a:t>系统不能自行改变</a:t>
            </a:r>
          </a:p>
        </p:txBody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5C350F1A-0222-469F-9002-7F33DFDAC0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34100" y="5524500"/>
            <a:ext cx="4171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665F6B"/>
                </a:solidFill>
                <a:latin typeface="PingFang SC"/>
                <a:ea typeface="PingFang SC"/>
                <a:cs typeface="PingFang SC"/>
              </a:defRPr>
            </a:pPr>
            <a:r>
              <a:rPr sz="1050" b="0">
                <a:solidFill>
                  <a:srgbClr val="665F6B"/>
                </a:solidFill>
                <a:latin typeface="PingFang SC"/>
                <a:ea typeface="PingFang SC"/>
                <a:cs typeface="PingFang SC"/>
              </a:rPr>
              <a:t>财务公式、审批门槛、合同权限、安全责任和租户边界</a:t>
            </a:r>
          </a:p>
        </p:txBody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CADF86E3-F1FF-47B1-B775-D734393425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63325" y="6467475"/>
            <a:ext cx="4000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A39CA8"/>
                </a:solidFill>
                <a:latin typeface="DIN Alternate"/>
                <a:ea typeface="DIN Alternate"/>
                <a:cs typeface="DIN Alternate"/>
              </a:defRPr>
            </a:pPr>
            <a:r>
              <a:rPr sz="900" b="0">
                <a:solidFill>
                  <a:srgbClr val="A39CA8"/>
                </a:solidFill>
                <a:latin typeface="DIN Alternate"/>
                <a:ea typeface="DIN Alternate"/>
                <a:cs typeface="DIN Alternate"/>
              </a:rPr>
              <a:t>08</a:t>
            </a:r>
          </a:p>
        </p:txBody>
      </p:sp>
    </p:spTree>
    <p:extLst>
      <p:ext uri="{BB962C8B-B14F-4D97-AF65-F5344CB8AC3E}">
        <p14:creationId xmlns:p14="http://schemas.microsoft.com/office/powerpoint/2010/main" val="956243863"/>
      </p:ext>
    </p:extLst>
  </p:cSld>
</p:sld>
</file>

<file path=ppt/slides/slide9.xml><?xml version="1.0" encoding="utf-8"?>
<p:sld xmlns:p="http://schemas.openxmlformats.org/presentationml/2006/main">
  <p:cSld>
    <p:bg>
      <p:bgPr>
        <a:gradFill xmlns:a="http://schemas.openxmlformats.org/drawingml/2006/main">
          <a:gsLst>
            <a:gs pos="0">
              <a:srgbClr val="0D0B14"/>
            </a:gs>
            <a:gs pos="100000">
              <a:srgbClr val="2A183B"/>
            </a:gs>
          </a:gsLst>
          <a:lin ang="0"/>
        </a:gra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C42699F4-27B3-4E73-86A8-BD5EEAD1C5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4000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A38BFF"/>
                </a:solidFill>
                <a:latin typeface="PingFang SC"/>
                <a:ea typeface="PingFang SC"/>
                <a:cs typeface="PingFang SC"/>
              </a:defRPr>
            </a:pPr>
            <a:r>
              <a:rPr sz="900" b="1">
                <a:solidFill>
                  <a:srgbClr val="A38BFF"/>
                </a:solidFill>
                <a:latin typeface="PingFang SC"/>
                <a:ea typeface="PingFang SC"/>
                <a:cs typeface="PingFang SC"/>
              </a:rPr>
              <a:t>产品演进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5C20FDD-96D5-4051-9D34-B80A658B5B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19125"/>
            <a:ext cx="108585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2550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自治范围随着数据和流程成熟逐步扩大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6AFF231-4FB7-4153-A918-FC98AE6ECD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33475"/>
            <a:ext cx="10572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FFFFFF">
                    <a:alpha val="72157"/>
                  </a:srgbClr>
                </a:solidFill>
                <a:latin typeface="PingFang SC"/>
                <a:ea typeface="PingFang SC"/>
                <a:cs typeface="PingFang SC"/>
              </a:defRPr>
            </a:pPr>
            <a:r>
              <a:rPr sz="1200" b="0">
                <a:solidFill>
                  <a:srgbClr val="FFFFFF">
                    <a:alpha val="72157"/>
                  </a:srgbClr>
                </a:solidFill>
                <a:latin typeface="PingFang SC"/>
                <a:ea typeface="PingFang SC"/>
                <a:cs typeface="PingFang SC"/>
              </a:rPr>
              <a:t>先证明判断质量，再开放低风险、可撤销的自动执行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CC8634F-69D1-48AF-923A-D59BA4023B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704850" y="2647950"/>
            <a:ext cx="22669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8100">
            <a:solidFill>
              <a:srgbClr val="A38BFF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4B2EDC6-FEEF-4377-A006-1ABD4C09C9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000250"/>
            <a:ext cx="8382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A38BFF"/>
                </a:solidFill>
                <a:latin typeface="DIN Alternate"/>
                <a:ea typeface="DIN Alternate"/>
                <a:cs typeface="DIN Alternate"/>
              </a:defRPr>
            </a:pPr>
            <a:r>
              <a:rPr sz="3000" b="1">
                <a:solidFill>
                  <a:srgbClr val="A38BFF"/>
                </a:solidFill>
                <a:latin typeface="DIN Alternate"/>
                <a:ea typeface="DIN Alternate"/>
                <a:cs typeface="DIN Alternate"/>
              </a:rPr>
              <a:t>V1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FF58253-2420-4517-95DF-7FD04D25A7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952750"/>
            <a:ext cx="2333625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1650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项目决策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14AA3DA-B126-41EA-A8B7-51B4D4A99A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3400425"/>
            <a:ext cx="22860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FFFFFF">
                    <a:alpha val="72157"/>
                  </a:srgbClr>
                </a:solidFill>
                <a:latin typeface="PingFang SC"/>
                <a:ea typeface="PingFang SC"/>
                <a:cs typeface="PingFang SC"/>
              </a:defRPr>
            </a:pPr>
            <a:r>
              <a:rPr sz="1125" b="0">
                <a:solidFill>
                  <a:srgbClr val="FFFFFF">
                    <a:alpha val="72157"/>
                  </a:srgbClr>
                </a:solidFill>
                <a:latin typeface="PingFang SC"/>
                <a:ea typeface="PingFang SC"/>
                <a:cs typeface="PingFang SC"/>
              </a:rPr>
              <a:t>资料、案例、盈亏、风险和人工确认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06DC9C6-D36B-4018-BC3B-074B5412E8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2486025"/>
            <a:ext cx="2476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800" b="0">
                <a:solidFill>
                  <a:srgbClr val="FFFFFF">
                    <a:alpha val="21961"/>
                  </a:srgbClr>
                </a:solidFill>
                <a:latin typeface="PingFang SC"/>
                <a:ea typeface="PingFang SC"/>
                <a:cs typeface="PingFang SC"/>
              </a:defRPr>
            </a:pPr>
            <a:r>
              <a:rPr sz="1800" b="0">
                <a:solidFill>
                  <a:srgbClr val="FFFFFF">
                    <a:alpha val="21961"/>
                  </a:srgbClr>
                </a:solidFill>
                <a:latin typeface="PingFang SC"/>
                <a:ea typeface="PingFang SC"/>
                <a:cs typeface="PingFang SC"/>
              </a:rPr>
              <a:t>›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E8F2F26-539C-42C4-8DA0-7A0DA72558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3514725" y="2647950"/>
            <a:ext cx="22669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8100">
            <a:solidFill>
              <a:srgbClr val="6DD7F5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03AC942-B46C-47AB-A3B9-3B66F9F96E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14725" y="2000250"/>
            <a:ext cx="8382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6DD7F5"/>
                </a:solidFill>
                <a:latin typeface="DIN Alternate"/>
                <a:ea typeface="DIN Alternate"/>
                <a:cs typeface="DIN Alternate"/>
              </a:defRPr>
            </a:pPr>
            <a:r>
              <a:rPr sz="3000" b="1">
                <a:solidFill>
                  <a:srgbClr val="6DD7F5"/>
                </a:solidFill>
                <a:latin typeface="DIN Alternate"/>
                <a:ea typeface="DIN Alternate"/>
                <a:cs typeface="DIN Alternate"/>
              </a:rPr>
              <a:t>V2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BC6F8D8-0694-4C8E-AC18-026A9C6CE8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14725" y="2952750"/>
            <a:ext cx="2333625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1650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持久项目 Agent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BB86B67-96E1-41C1-A298-8547710DE8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14725" y="3400425"/>
            <a:ext cx="22860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FFFFFF">
                    <a:alpha val="72157"/>
                  </a:srgbClr>
                </a:solidFill>
                <a:latin typeface="PingFang SC"/>
                <a:ea typeface="PingFang SC"/>
                <a:cs typeface="PingFang SC"/>
              </a:defRPr>
            </a:pPr>
            <a:r>
              <a:rPr sz="1125" b="0">
                <a:solidFill>
                  <a:srgbClr val="FFFFFF">
                    <a:alpha val="72157"/>
                  </a:srgbClr>
                </a:solidFill>
                <a:latin typeface="PingFang SC"/>
                <a:ea typeface="PingFang SC"/>
                <a:cs typeface="PingFang SC"/>
              </a:rPr>
              <a:t>持续跟进、内部任务、证据和升级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8CAFB19-A392-4569-8EBB-C0280CB660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34075" y="2486025"/>
            <a:ext cx="2476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800" b="0">
                <a:solidFill>
                  <a:srgbClr val="FFFFFF">
                    <a:alpha val="21961"/>
                  </a:srgbClr>
                </a:solidFill>
                <a:latin typeface="PingFang SC"/>
                <a:ea typeface="PingFang SC"/>
                <a:cs typeface="PingFang SC"/>
              </a:defRPr>
            </a:pPr>
            <a:r>
              <a:rPr sz="1800" b="0">
                <a:solidFill>
                  <a:srgbClr val="FFFFFF">
                    <a:alpha val="21961"/>
                  </a:srgbClr>
                </a:solidFill>
                <a:latin typeface="PingFang SC"/>
                <a:ea typeface="PingFang SC"/>
                <a:cs typeface="PingFang SC"/>
              </a:rPr>
              <a:t>›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BA0239B-9294-4D28-898C-4F5F38ED60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6324600" y="2647950"/>
            <a:ext cx="22669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8100">
            <a:solidFill>
              <a:srgbClr val="73E0BD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4817630-7651-4F82-9CA6-3F23197208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2000250"/>
            <a:ext cx="8382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73E0BD"/>
                </a:solidFill>
                <a:latin typeface="DIN Alternate"/>
                <a:ea typeface="DIN Alternate"/>
                <a:cs typeface="DIN Alternate"/>
              </a:defRPr>
            </a:pPr>
            <a:r>
              <a:rPr sz="3000" b="1">
                <a:solidFill>
                  <a:srgbClr val="73E0BD"/>
                </a:solidFill>
                <a:latin typeface="DIN Alternate"/>
                <a:ea typeface="DIN Alternate"/>
                <a:cs typeface="DIN Alternate"/>
              </a:rPr>
              <a:t>V3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4785D36-DAAB-41EB-8793-91E433AAC4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2952750"/>
            <a:ext cx="2333625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1650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全国巡演编排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F42AFED1-E7F9-448D-8E73-5AD02724D4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3400425"/>
            <a:ext cx="22860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FFFFFF">
                    <a:alpha val="72157"/>
                  </a:srgbClr>
                </a:solidFill>
                <a:latin typeface="PingFang SC"/>
                <a:ea typeface="PingFang SC"/>
                <a:cs typeface="PingFang SC"/>
              </a:defRPr>
            </a:pPr>
            <a:r>
              <a:rPr sz="1125" b="0">
                <a:solidFill>
                  <a:srgbClr val="FFFFFF">
                    <a:alpha val="72157"/>
                  </a:srgbClr>
                </a:solidFill>
                <a:latin typeface="PingFang SC"/>
                <a:ea typeface="PingFang SC"/>
                <a:cs typeface="PingFang SC"/>
              </a:rPr>
              <a:t>多城市路线、现金流和资源优化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E76935F6-964C-4588-B12A-DE32C1D41A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43950" y="2486025"/>
            <a:ext cx="2476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800" b="0">
                <a:solidFill>
                  <a:srgbClr val="FFFFFF">
                    <a:alpha val="21961"/>
                  </a:srgbClr>
                </a:solidFill>
                <a:latin typeface="PingFang SC"/>
                <a:ea typeface="PingFang SC"/>
                <a:cs typeface="PingFang SC"/>
              </a:defRPr>
            </a:pPr>
            <a:r>
              <a:rPr sz="1800" b="0">
                <a:solidFill>
                  <a:srgbClr val="FFFFFF">
                    <a:alpha val="21961"/>
                  </a:srgbClr>
                </a:solidFill>
                <a:latin typeface="PingFang SC"/>
                <a:ea typeface="PingFang SC"/>
                <a:cs typeface="PingFang SC"/>
              </a:rPr>
              <a:t>›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E0FD5893-85B5-4AFF-A390-248D3AEB5B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9134475" y="2647950"/>
            <a:ext cx="22669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8100">
            <a:solidFill>
              <a:srgbClr val="FF6B59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3368EE20-5EC5-4EDD-A437-8E65166485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34475" y="2000250"/>
            <a:ext cx="8382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FF6B59"/>
                </a:solidFill>
                <a:latin typeface="DIN Alternate"/>
                <a:ea typeface="DIN Alternate"/>
                <a:cs typeface="DIN Alternate"/>
              </a:defRPr>
            </a:pPr>
            <a:r>
              <a:rPr sz="3000" b="1">
                <a:solidFill>
                  <a:srgbClr val="FF6B59"/>
                </a:solidFill>
                <a:latin typeface="DIN Alternate"/>
                <a:ea typeface="DIN Alternate"/>
                <a:cs typeface="DIN Alternate"/>
              </a:rPr>
              <a:t>V4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BE087260-058C-4285-81B7-F0ED523150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34475" y="2952750"/>
            <a:ext cx="2333625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1650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选择性自治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1ED2C63F-B54D-449C-AB0A-4F7666E5AA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34475" y="3400425"/>
            <a:ext cx="22860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FFFFFF">
                    <a:alpha val="72157"/>
                  </a:srgbClr>
                </a:solidFill>
                <a:latin typeface="PingFang SC"/>
                <a:ea typeface="PingFang SC"/>
                <a:cs typeface="PingFang SC"/>
              </a:defRPr>
            </a:pPr>
            <a:r>
              <a:rPr sz="1125" b="0">
                <a:solidFill>
                  <a:srgbClr val="FFFFFF">
                    <a:alpha val="72157"/>
                  </a:srgbClr>
                </a:solidFill>
                <a:latin typeface="PingFang SC"/>
                <a:ea typeface="PingFang SC"/>
                <a:cs typeface="PingFang SC"/>
              </a:rPr>
              <a:t>模板询价、预约和低风险操作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3633A772-4043-4C23-B8B3-1B269C7A5D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4772025"/>
            <a:ext cx="2762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1500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长期保留的人工硬门禁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024F4E94-383F-4152-BB46-9213D799B3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5257800"/>
            <a:ext cx="1466850" cy="2857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F6B59">
              <a:alpha val="7843"/>
            </a:srgbClr>
          </a:solidFill>
          <a:ln xmlns:a="http://schemas.openxmlformats.org/drawingml/2006/main" w="9525">
            <a:solidFill>
              <a:srgbClr val="FF6B59">
                <a:alpha val="37647"/>
              </a:srgbClr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E5B2C5CE-DD06-4170-A2F4-13345D75F5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5257800"/>
            <a:ext cx="12763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FF6B59"/>
                </a:solidFill>
                <a:latin typeface="PingFang SC"/>
                <a:ea typeface="PingFang SC"/>
                <a:cs typeface="PingFang SC"/>
              </a:defRPr>
            </a:pPr>
            <a:r>
              <a:rPr sz="900" b="1">
                <a:solidFill>
                  <a:srgbClr val="FF6B59"/>
                </a:solidFill>
                <a:latin typeface="PingFang SC"/>
                <a:ea typeface="PingFang SC"/>
                <a:cs typeface="PingFang SC"/>
              </a:rPr>
              <a:t>政策审批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F99B3AB4-B56E-457D-A4BE-F04FD6F96E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66975" y="5257800"/>
            <a:ext cx="1466850" cy="2857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F6B59">
              <a:alpha val="7843"/>
            </a:srgbClr>
          </a:solidFill>
          <a:ln xmlns:a="http://schemas.openxmlformats.org/drawingml/2006/main" w="9525">
            <a:solidFill>
              <a:srgbClr val="FF6B59">
                <a:alpha val="37647"/>
              </a:srgbClr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36DCF5D0-A44C-4B47-A801-693F7A7ACB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62225" y="5257800"/>
            <a:ext cx="12763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FF6B59"/>
                </a:solidFill>
                <a:latin typeface="PingFang SC"/>
                <a:ea typeface="PingFang SC"/>
                <a:cs typeface="PingFang SC"/>
              </a:defRPr>
            </a:pPr>
            <a:r>
              <a:rPr sz="900" b="1">
                <a:solidFill>
                  <a:srgbClr val="FF6B59"/>
                </a:solidFill>
                <a:latin typeface="PingFang SC"/>
                <a:ea typeface="PingFang SC"/>
                <a:cs typeface="PingFang SC"/>
              </a:rPr>
              <a:t>场地安全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ECB1F617-F31B-45EB-8A5C-48F48C4CD4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29100" y="5257800"/>
            <a:ext cx="1466850" cy="2857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F6B59">
              <a:alpha val="7843"/>
            </a:srgbClr>
          </a:solidFill>
          <a:ln xmlns:a="http://schemas.openxmlformats.org/drawingml/2006/main" w="9525">
            <a:solidFill>
              <a:srgbClr val="FF6B59">
                <a:alpha val="37647"/>
              </a:srgbClr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492E0119-70D1-42C0-9003-F5F6550193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24350" y="5257800"/>
            <a:ext cx="12763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FF6B59"/>
                </a:solidFill>
                <a:latin typeface="PingFang SC"/>
                <a:ea typeface="PingFang SC"/>
                <a:cs typeface="PingFang SC"/>
              </a:defRPr>
            </a:pPr>
            <a:r>
              <a:rPr sz="900" b="1">
                <a:solidFill>
                  <a:srgbClr val="FF6B59"/>
                </a:solidFill>
                <a:latin typeface="PingFang SC"/>
                <a:ea typeface="PingFang SC"/>
                <a:cs typeface="PingFang SC"/>
              </a:rPr>
              <a:t>艺人授权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3AD8A906-F147-49BD-85E4-E3F1950FB1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91225" y="5257800"/>
            <a:ext cx="1466850" cy="2857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F6B59">
              <a:alpha val="7843"/>
            </a:srgbClr>
          </a:solidFill>
          <a:ln xmlns:a="http://schemas.openxmlformats.org/drawingml/2006/main" w="9525">
            <a:solidFill>
              <a:srgbClr val="FF6B59">
                <a:alpha val="37647"/>
              </a:srgbClr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F8294BEB-615F-4F2D-ADA8-171E0917D7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86475" y="5257800"/>
            <a:ext cx="12763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FF6B59"/>
                </a:solidFill>
                <a:latin typeface="PingFang SC"/>
                <a:ea typeface="PingFang SC"/>
                <a:cs typeface="PingFang SC"/>
              </a:defRPr>
            </a:pPr>
            <a:r>
              <a:rPr sz="900" b="1">
                <a:solidFill>
                  <a:srgbClr val="FF6B59"/>
                </a:solidFill>
                <a:latin typeface="PingFang SC"/>
                <a:ea typeface="PingFang SC"/>
                <a:cs typeface="PingFang SC"/>
              </a:rPr>
              <a:t>资金拨付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30BA3370-C539-48EF-87B1-170B5A815B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53350" y="5257800"/>
            <a:ext cx="1466850" cy="2857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F6B59">
              <a:alpha val="7843"/>
            </a:srgbClr>
          </a:solidFill>
          <a:ln xmlns:a="http://schemas.openxmlformats.org/drawingml/2006/main" w="9525">
            <a:solidFill>
              <a:srgbClr val="FF6B59">
                <a:alpha val="37647"/>
              </a:srgbClr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D8975BB6-0262-450C-A297-E746C52C37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48600" y="5257800"/>
            <a:ext cx="12763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FF6B59"/>
                </a:solidFill>
                <a:latin typeface="PingFang SC"/>
                <a:ea typeface="PingFang SC"/>
                <a:cs typeface="PingFang SC"/>
              </a:defRPr>
            </a:pPr>
            <a:r>
              <a:rPr sz="900" b="1">
                <a:solidFill>
                  <a:srgbClr val="FF6B59"/>
                </a:solidFill>
                <a:latin typeface="PingFang SC"/>
                <a:ea typeface="PingFang SC"/>
                <a:cs typeface="PingFang SC"/>
              </a:rPr>
              <a:t>合同责任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8561A48A-978A-48ED-A857-E4AC706E64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5953125"/>
            <a:ext cx="10153650" cy="438150"/>
          </a:xfrm>
          <a:prstGeom xmlns:a="http://schemas.openxmlformats.org/drawingml/2006/main" prst="roundRect">
            <a:avLst>
              <a:gd name="adj" fmla="val 30435"/>
            </a:avLst>
          </a:prstGeom>
          <a:solidFill xmlns:a="http://schemas.openxmlformats.org/drawingml/2006/main">
            <a:srgbClr val="FFFFFF">
              <a:alpha val="3922"/>
            </a:srgbClr>
          </a:solidFill>
          <a:ln xmlns:a="http://schemas.openxmlformats.org/drawingml/2006/main" w="9525">
            <a:solidFill>
              <a:srgbClr val="FFFFFF">
                <a:alpha val="21961"/>
              </a:srgbClr>
            </a:solidFill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727FCB11-C4EA-4D8D-8C2D-CF7B14A8BF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975" y="6048375"/>
            <a:ext cx="96774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FFFFFF"/>
                </a:solidFill>
                <a:latin typeface="Songti SC"/>
                <a:ea typeface="Songti SC"/>
                <a:cs typeface="Songti SC"/>
              </a:defRPr>
            </a:pPr>
            <a:r>
              <a:rPr sz="1275" b="1">
                <a:solidFill>
                  <a:srgbClr val="FFFFFF"/>
                </a:solidFill>
                <a:latin typeface="Songti SC"/>
                <a:ea typeface="Songti SC"/>
                <a:cs typeface="Songti SC"/>
              </a:rPr>
              <a:t>锐音场最终形态：每个演出主办方拥有一位长期负责利润、风险和项目进度的数字制片人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EF7C8BB7-5159-4AB8-86B5-271466C870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63325" y="6467475"/>
            <a:ext cx="4000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FFFFFF">
                    <a:alpha val="47843"/>
                  </a:srgbClr>
                </a:solidFill>
                <a:latin typeface="DIN Alternate"/>
                <a:ea typeface="DIN Alternate"/>
                <a:cs typeface="DIN Alternate"/>
              </a:defRPr>
            </a:pPr>
            <a:r>
              <a:rPr sz="900" b="0">
                <a:solidFill>
                  <a:srgbClr val="FFFFFF">
                    <a:alpha val="47843"/>
                  </a:srgbClr>
                </a:solidFill>
                <a:latin typeface="DIN Alternate"/>
                <a:ea typeface="DIN Alternate"/>
                <a:cs typeface="DIN Alternate"/>
              </a:rPr>
              <a:t>09</a:t>
            </a:r>
          </a:p>
        </p:txBody>
      </p:sp>
    </p:spTree>
    <p:extLst>
      <p:ext uri="{BB962C8B-B14F-4D97-AF65-F5344CB8AC3E}">
        <p14:creationId xmlns:p14="http://schemas.microsoft.com/office/powerpoint/2010/main" val="1958582379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2026-09-19T17:06:52.7060000Z</dcterms:created>
  <dcterms:modified xsi:type="dcterms:W3CDTF">2026-09-19T17:06:52.7060000Z</dcterms:modified>
</coreProperties>
</file>