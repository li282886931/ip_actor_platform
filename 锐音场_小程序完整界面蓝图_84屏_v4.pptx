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e5ca1eda84ee4" /><Relationship Type="http://schemas.openxmlformats.org/officeDocument/2006/relationships/extended-properties" Target="/docProps/app.xml" Id="R7fb68638f1884734" /><Relationship Type="http://schemas.openxmlformats.org/officeDocument/2006/relationships/officeDocument" Target="/ppt/presentation.xml" Id="Rd07f487ffddc44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320f1bf6f47d9"/>
  </p:sldMasterIdLst>
  <p:notesMasterIdLst>
    <p:notesMasterId xmlns:r="http://schemas.openxmlformats.org/officeDocument/2006/relationships" r:id="Rb39e771a0021448a"/>
  </p:notesMasterIdLst>
  <p:sldIdLst>
    <p:sldId xmlns:r="http://schemas.openxmlformats.org/officeDocument/2006/relationships" id="256" r:id="R8beed9a50c7f4552"/>
    <p:sldId xmlns:r="http://schemas.openxmlformats.org/officeDocument/2006/relationships" id="257" r:id="R2b6fdf5b53464d80"/>
    <p:sldId xmlns:r="http://schemas.openxmlformats.org/officeDocument/2006/relationships" id="258" r:id="R25eff775e41147d9"/>
    <p:sldId xmlns:r="http://schemas.openxmlformats.org/officeDocument/2006/relationships" id="259" r:id="R07968635b3554833"/>
    <p:sldId xmlns:r="http://schemas.openxmlformats.org/officeDocument/2006/relationships" id="260" r:id="R252bab7cb03f491e"/>
    <p:sldId xmlns:r="http://schemas.openxmlformats.org/officeDocument/2006/relationships" id="261" r:id="R775384636d114161"/>
    <p:sldId xmlns:r="http://schemas.openxmlformats.org/officeDocument/2006/relationships" id="262" r:id="R9a668b07da514f9a"/>
    <p:sldId xmlns:r="http://schemas.openxmlformats.org/officeDocument/2006/relationships" id="263" r:id="R3655ea00c1dc4a65"/>
    <p:sldId xmlns:r="http://schemas.openxmlformats.org/officeDocument/2006/relationships" id="264" r:id="R28a2dda843c1403f"/>
    <p:sldId xmlns:r="http://schemas.openxmlformats.org/officeDocument/2006/relationships" id="265" r:id="R0e32118ed1624f5a"/>
    <p:sldId xmlns:r="http://schemas.openxmlformats.org/officeDocument/2006/relationships" id="266" r:id="R5f6e1af3ede342b8"/>
    <p:sldId xmlns:r="http://schemas.openxmlformats.org/officeDocument/2006/relationships" id="267" r:id="Ra3ed7d209e6747b5"/>
    <p:sldId xmlns:r="http://schemas.openxmlformats.org/officeDocument/2006/relationships" id="268" r:id="Rdca1b3127c4549b0"/>
    <p:sldId xmlns:r="http://schemas.openxmlformats.org/officeDocument/2006/relationships" id="269" r:id="R3da21e1ddcd249df"/>
    <p:sldId xmlns:r="http://schemas.openxmlformats.org/officeDocument/2006/relationships" id="270" r:id="Ref132d60094645c1"/>
    <p:sldId xmlns:r="http://schemas.openxmlformats.org/officeDocument/2006/relationships" id="271" r:id="R9e7ac7fa1f684761"/>
    <p:sldId xmlns:r="http://schemas.openxmlformats.org/officeDocument/2006/relationships" id="272" r:id="R32410e9bf02d4331"/>
    <p:sldId xmlns:r="http://schemas.openxmlformats.org/officeDocument/2006/relationships" id="273" r:id="R85ea968c66034dc8"/>
    <p:sldId xmlns:r="http://schemas.openxmlformats.org/officeDocument/2006/relationships" id="274" r:id="R8beb82cf9a554a87"/>
    <p:sldId xmlns:r="http://schemas.openxmlformats.org/officeDocument/2006/relationships" id="275" r:id="R1e41539a07f3474a"/>
    <p:sldId xmlns:r="http://schemas.openxmlformats.org/officeDocument/2006/relationships" id="276" r:id="Rf5bea960dce547a2"/>
    <p:sldId xmlns:r="http://schemas.openxmlformats.org/officeDocument/2006/relationships" id="277" r:id="R87aa23ab4e9f42bf"/>
    <p:sldId xmlns:r="http://schemas.openxmlformats.org/officeDocument/2006/relationships" id="278" r:id="Rc4fbbca040b44235"/>
    <p:sldId xmlns:r="http://schemas.openxmlformats.org/officeDocument/2006/relationships" id="279" r:id="R6bd63e7146b049d8"/>
    <p:sldId xmlns:r="http://schemas.openxmlformats.org/officeDocument/2006/relationships" id="280" r:id="R90ac4b0e5e8045c5"/>
    <p:sldId xmlns:r="http://schemas.openxmlformats.org/officeDocument/2006/relationships" id="281" r:id="Re91977d27cf14d00"/>
    <p:sldId xmlns:r="http://schemas.openxmlformats.org/officeDocument/2006/relationships" id="282" r:id="R901dfe75f2bc45e0"/>
    <p:sldId xmlns:r="http://schemas.openxmlformats.org/officeDocument/2006/relationships" id="283" r:id="R84b202f3f61a406a"/>
    <p:sldId xmlns:r="http://schemas.openxmlformats.org/officeDocument/2006/relationships" id="284" r:id="R1daba4959a664bc7"/>
    <p:sldId xmlns:r="http://schemas.openxmlformats.org/officeDocument/2006/relationships" id="285" r:id="Rbbce6d6f335e4aff"/>
    <p:sldId xmlns:r="http://schemas.openxmlformats.org/officeDocument/2006/relationships" id="286" r:id="R8f33c75fc1a2400e"/>
    <p:sldId xmlns:r="http://schemas.openxmlformats.org/officeDocument/2006/relationships" id="287" r:id="R7ae4291b219e437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26fb1dba834e3c" /><Relationship Type="http://schemas.openxmlformats.org/officeDocument/2006/relationships/slideMaster" Target="/ppt/slideMasters/slideMaster1.xml" Id="Ra58320f1bf6f47d9" /><Relationship Type="http://schemas.openxmlformats.org/officeDocument/2006/relationships/notesMaster" Target="/ppt/notesMasters/notesMaster1.xml" Id="Rb39e771a0021448a" /><Relationship Type="http://schemas.openxmlformats.org/officeDocument/2006/relationships/presProps" Target="/ppt/presProps.xml" Id="Re9f117eccf4e440f" /><Relationship Type="http://schemas.openxmlformats.org/officeDocument/2006/relationships/tableStyles" Target="/ppt/tableStyles.xml" Id="Reabf490428624629" /><Relationship Type="http://schemas.openxmlformats.org/officeDocument/2006/relationships/slide" Target="/ppt/slides/slide1.xml" Id="R8beed9a50c7f4552" /><Relationship Type="http://schemas.openxmlformats.org/officeDocument/2006/relationships/slide" Target="/ppt/slides/slide2.xml" Id="R2b6fdf5b53464d80" /><Relationship Type="http://schemas.openxmlformats.org/officeDocument/2006/relationships/slide" Target="/ppt/slides/slide3.xml" Id="R25eff775e41147d9" /><Relationship Type="http://schemas.openxmlformats.org/officeDocument/2006/relationships/slide" Target="/ppt/slides/slide4.xml" Id="R07968635b3554833" /><Relationship Type="http://schemas.openxmlformats.org/officeDocument/2006/relationships/slide" Target="/ppt/slides/slide5.xml" Id="R252bab7cb03f491e" /><Relationship Type="http://schemas.openxmlformats.org/officeDocument/2006/relationships/slide" Target="/ppt/slides/slide6.xml" Id="R775384636d114161" /><Relationship Type="http://schemas.openxmlformats.org/officeDocument/2006/relationships/slide" Target="/ppt/slides/slide7.xml" Id="R9a668b07da514f9a" /><Relationship Type="http://schemas.openxmlformats.org/officeDocument/2006/relationships/slide" Target="/ppt/slides/slide8.xml" Id="R3655ea00c1dc4a65" /><Relationship Type="http://schemas.openxmlformats.org/officeDocument/2006/relationships/slide" Target="/ppt/slides/slide9.xml" Id="R28a2dda843c1403f" /><Relationship Type="http://schemas.openxmlformats.org/officeDocument/2006/relationships/slide" Target="/ppt/slides/slide10.xml" Id="R0e32118ed1624f5a" /><Relationship Type="http://schemas.openxmlformats.org/officeDocument/2006/relationships/slide" Target="/ppt/slides/slide11.xml" Id="R5f6e1af3ede342b8" /><Relationship Type="http://schemas.openxmlformats.org/officeDocument/2006/relationships/slide" Target="/ppt/slides/slide12.xml" Id="Ra3ed7d209e6747b5" /><Relationship Type="http://schemas.openxmlformats.org/officeDocument/2006/relationships/slide" Target="/ppt/slides/slide13.xml" Id="Rdca1b3127c4549b0" /><Relationship Type="http://schemas.openxmlformats.org/officeDocument/2006/relationships/slide" Target="/ppt/slides/slide14.xml" Id="R3da21e1ddcd249df" /><Relationship Type="http://schemas.openxmlformats.org/officeDocument/2006/relationships/slide" Target="/ppt/slides/slide15.xml" Id="Ref132d60094645c1" /><Relationship Type="http://schemas.openxmlformats.org/officeDocument/2006/relationships/slide" Target="/ppt/slides/slide16.xml" Id="R9e7ac7fa1f684761" /><Relationship Type="http://schemas.openxmlformats.org/officeDocument/2006/relationships/slide" Target="/ppt/slides/slide17.xml" Id="R32410e9bf02d4331" /><Relationship Type="http://schemas.openxmlformats.org/officeDocument/2006/relationships/slide" Target="/ppt/slides/slide18.xml" Id="R85ea968c66034dc8" /><Relationship Type="http://schemas.openxmlformats.org/officeDocument/2006/relationships/slide" Target="/ppt/slides/slide19.xml" Id="R8beb82cf9a554a87" /><Relationship Type="http://schemas.openxmlformats.org/officeDocument/2006/relationships/slide" Target="/ppt/slides/slide20.xml" Id="R1e41539a07f3474a" /><Relationship Type="http://schemas.openxmlformats.org/officeDocument/2006/relationships/slide" Target="/ppt/slides/slide21.xml" Id="Rf5bea960dce547a2" /><Relationship Type="http://schemas.openxmlformats.org/officeDocument/2006/relationships/slide" Target="/ppt/slides/slide22.xml" Id="R87aa23ab4e9f42bf" /><Relationship Type="http://schemas.openxmlformats.org/officeDocument/2006/relationships/slide" Target="/ppt/slides/slide23.xml" Id="Rc4fbbca040b44235" /><Relationship Type="http://schemas.openxmlformats.org/officeDocument/2006/relationships/slide" Target="/ppt/slides/slide24.xml" Id="R6bd63e7146b049d8" /><Relationship Type="http://schemas.openxmlformats.org/officeDocument/2006/relationships/slide" Target="/ppt/slides/slide25.xml" Id="R90ac4b0e5e8045c5" /><Relationship Type="http://schemas.openxmlformats.org/officeDocument/2006/relationships/slide" Target="/ppt/slides/slide26.xml" Id="Re91977d27cf14d00" /><Relationship Type="http://schemas.openxmlformats.org/officeDocument/2006/relationships/slide" Target="/ppt/slides/slide27.xml" Id="R901dfe75f2bc45e0" /><Relationship Type="http://schemas.openxmlformats.org/officeDocument/2006/relationships/slide" Target="/ppt/slides/slide28.xml" Id="R84b202f3f61a406a" /><Relationship Type="http://schemas.openxmlformats.org/officeDocument/2006/relationships/slide" Target="/ppt/slides/slide29.xml" Id="R1daba4959a664bc7" /><Relationship Type="http://schemas.openxmlformats.org/officeDocument/2006/relationships/slide" Target="/ppt/slides/slide30.xml" Id="Rbbce6d6f335e4aff" /><Relationship Type="http://schemas.openxmlformats.org/officeDocument/2006/relationships/slide" Target="/ppt/slides/slide31.xml" Id="R8f33c75fc1a2400e" /><Relationship Type="http://schemas.openxmlformats.org/officeDocument/2006/relationships/slide" Target="/ppt/slides/slide32.xml" Id="R7ae4291b219e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4a29d7762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6be93ace148da" /><Relationship Type="http://schemas.openxmlformats.org/officeDocument/2006/relationships/notesMaster" Target="/ppt/notesMasters/notesMaster1.xml" Id="R88f7f94386dc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abffc2d634908" /><Relationship Type="http://schemas.openxmlformats.org/officeDocument/2006/relationships/notesMaster" Target="/ppt/notesMasters/notesMaster1.xml" Id="Ra65d6f8e49d44e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4db8a853fe49a5" /><Relationship Type="http://schemas.openxmlformats.org/officeDocument/2006/relationships/notesMaster" Target="/ppt/notesMasters/notesMaster1.xml" Id="R9416950bbcc0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66a1cb17384d5f" /><Relationship Type="http://schemas.openxmlformats.org/officeDocument/2006/relationships/notesMaster" Target="/ppt/notesMasters/notesMaster1.xml" Id="R6d9bca3168eb4e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ed3419110f4702" /><Relationship Type="http://schemas.openxmlformats.org/officeDocument/2006/relationships/notesMaster" Target="/ppt/notesMasters/notesMaster1.xml" Id="Re27aa68dc371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90f8167c74269" /><Relationship Type="http://schemas.openxmlformats.org/officeDocument/2006/relationships/notesMaster" Target="/ppt/notesMasters/notesMaster1.xml" Id="R38fb6b0143ca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242880ff7457c" /><Relationship Type="http://schemas.openxmlformats.org/officeDocument/2006/relationships/notesMaster" Target="/ppt/notesMasters/notesMaster1.xml" Id="R8ba06cb519124d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95e06754834453" /><Relationship Type="http://schemas.openxmlformats.org/officeDocument/2006/relationships/notesMaster" Target="/ppt/notesMasters/notesMaster1.xml" Id="R2e808a4943dc4d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f95aaec3d34d04" /><Relationship Type="http://schemas.openxmlformats.org/officeDocument/2006/relationships/notesMaster" Target="/ppt/notesMasters/notesMaster1.xml" Id="R84340914d31444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2221dbf9a04dbf" /><Relationship Type="http://schemas.openxmlformats.org/officeDocument/2006/relationships/notesMaster" Target="/ppt/notesMasters/notesMaster1.xml" Id="Rc3ae2265941640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7467c446648ef" /><Relationship Type="http://schemas.openxmlformats.org/officeDocument/2006/relationships/notesMaster" Target="/ppt/notesMasters/notesMaster1.xml" Id="R2d221898a9804e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757d9c469946a9" /><Relationship Type="http://schemas.openxmlformats.org/officeDocument/2006/relationships/notesMaster" Target="/ppt/notesMasters/notesMaster1.xml" Id="R4b8a4942a1b345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7a960e3d364dbd" /><Relationship Type="http://schemas.openxmlformats.org/officeDocument/2006/relationships/notesMaster" Target="/ppt/notesMasters/notesMaster1.xml" Id="Rbf966b373f644d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6b2a22c3264daf" /><Relationship Type="http://schemas.openxmlformats.org/officeDocument/2006/relationships/notesMaster" Target="/ppt/notesMasters/notesMaster1.xml" Id="Rf9ea687cbe7a4e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bfa6ef1e8b4e1e" /><Relationship Type="http://schemas.openxmlformats.org/officeDocument/2006/relationships/notesMaster" Target="/ppt/notesMasters/notesMaster1.xml" Id="R2ef92cfee7664b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dc36b897a34f15" /><Relationship Type="http://schemas.openxmlformats.org/officeDocument/2006/relationships/notesMaster" Target="/ppt/notesMasters/notesMaster1.xml" Id="R5142b569a60549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61c6b537e54927" /><Relationship Type="http://schemas.openxmlformats.org/officeDocument/2006/relationships/notesMaster" Target="/ppt/notesMasters/notesMaster1.xml" Id="Rb935b7c9ab9f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3fa8bde9564868" /><Relationship Type="http://schemas.openxmlformats.org/officeDocument/2006/relationships/notesMaster" Target="/ppt/notesMasters/notesMaster1.xml" Id="R232ba14d187740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04523888f442f1" /><Relationship Type="http://schemas.openxmlformats.org/officeDocument/2006/relationships/notesMaster" Target="/ppt/notesMasters/notesMaster1.xml" Id="Rbbafc9f8fcd549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cf09198a214884" /><Relationship Type="http://schemas.openxmlformats.org/officeDocument/2006/relationships/notesMaster" Target="/ppt/notesMasters/notesMaster1.xml" Id="R48be70db089e48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a85b962d73487e" /><Relationship Type="http://schemas.openxmlformats.org/officeDocument/2006/relationships/notesMaster" Target="/ppt/notesMasters/notesMaster1.xml" Id="R06441ba72d2340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bb80e284d948b7" /><Relationship Type="http://schemas.openxmlformats.org/officeDocument/2006/relationships/notesMaster" Target="/ppt/notesMasters/notesMaster1.xml" Id="R672339d339484e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e43c7cdad54c0c" /><Relationship Type="http://schemas.openxmlformats.org/officeDocument/2006/relationships/notesMaster" Target="/ppt/notesMasters/notesMaster1.xml" Id="R597e8b1a43624e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44bd10ac4e48b2" /><Relationship Type="http://schemas.openxmlformats.org/officeDocument/2006/relationships/notesMaster" Target="/ppt/notesMasters/notesMaster1.xml" Id="Rf0907eb9fa3741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fb5a555cf045af" /><Relationship Type="http://schemas.openxmlformats.org/officeDocument/2006/relationships/notesMaster" Target="/ppt/notesMasters/notesMaster1.xml" Id="R1e3aae23c5ad4e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2b6ef7aa254264" /><Relationship Type="http://schemas.openxmlformats.org/officeDocument/2006/relationships/notesMaster" Target="/ppt/notesMasters/notesMaster1.xml" Id="R2992705f49c447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27c1b5274746f6" /><Relationship Type="http://schemas.openxmlformats.org/officeDocument/2006/relationships/notesMaster" Target="/ppt/notesMasters/notesMaster1.xml" Id="R577b7c2de55643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4af66e3324442d" /><Relationship Type="http://schemas.openxmlformats.org/officeDocument/2006/relationships/notesMaster" Target="/ppt/notesMasters/notesMaster1.xml" Id="Rf58b93225b5a4d5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3aa6e464d74ef7" /><Relationship Type="http://schemas.openxmlformats.org/officeDocument/2006/relationships/notesMaster" Target="/ppt/notesMasters/notesMaster1.xml" Id="R715666da8a4c458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3465af669c4327" /><Relationship Type="http://schemas.openxmlformats.org/officeDocument/2006/relationships/notesMaster" Target="/ppt/notesMasters/notesMaster1.xml" Id="R5fbe16f6c6264c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bc893991af440c2" /><Relationship Type="http://schemas.openxmlformats.org/officeDocument/2006/relationships/notesMaster" Target="/ppt/notesMasters/notesMaster1.xml" Id="R8aa3148977254d7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54ce940483041f8" /><Relationship Type="http://schemas.openxmlformats.org/officeDocument/2006/relationships/notesMaster" Target="/ppt/notesMasters/notesMaster1.xml" Id="Rb2124c5bb81b48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完整界面设计稿，覆盖现有评估链路及用户提出的长期产品方向。本文呈现交互与视觉设计，不代表全部扩展能力已经上线。案例、人名、艺人、财务与事件数据均为示意。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页面索引。现有代码入口 app.json 包含 projects、project-create、project-detail、scenarios、assessment、confirmation、settings 七页。界面蓝图对现有长页面进行了移动端分屏设计，并补全规划功能与状态。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产品主流程。原生小程序主要入口维持在四个底部导航。硬门禁不能由模型推理自动通过。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A01：登录、客户空间与授权。阶段：扩展规划。S01 登录；可前往 S02、S03</a:t>
            </a:r>
          </a:p>
          <a:p xmlns:a="http://schemas.openxmlformats.org/drawingml/2006/main">
            <a:r>
              <a:t>S02 选择客户空间；可前往 S04、S72</a:t>
            </a:r>
          </a:p>
          <a:p xmlns:a="http://schemas.openxmlformats.org/drawingml/2006/main">
            <a:r>
              <a:t>S03 隐私与授权；可前往 S01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A02：发现首页与案例入口。阶段：扩展规划。S04 发现首页；可前往 S06、S08、S13</a:t>
            </a:r>
          </a:p>
          <a:p xmlns:a="http://schemas.openxmlformats.org/drawingml/2006/main">
            <a:r>
              <a:t>S05 已登录首页；可前往 S11、S52、S13</a:t>
            </a:r>
          </a:p>
          <a:p xmlns:a="http://schemas.openxmlformats.org/drawingml/2006/main">
            <a:r>
              <a:t>S06 案例库；可前往 S07、S09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A03：案例、机会与搜索。阶段：扩展规划。S07 案例详情；可前往 S13、S38</a:t>
            </a:r>
          </a:p>
          <a:p xmlns:a="http://schemas.openxmlformats.org/drawingml/2006/main">
            <a:r>
              <a:t>S08 机会详情；可前往 S19、S21、S13</a:t>
            </a:r>
          </a:p>
          <a:p xmlns:a="http://schemas.openxmlformats.org/drawingml/2006/main">
            <a:r>
              <a:t>S09 搜索与筛选；可前往 S06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A04：项目列表、详情与历史。阶段：现有链路重设计。S10 项目列表；可前往 S11、S13、S73</a:t>
            </a:r>
          </a:p>
          <a:p xmlns:a="http://schemas.openxmlformats.org/drawingml/2006/main">
            <a:r>
              <a:t>S11 项目详情；可前往 S34、S25、S12、S55</a:t>
            </a:r>
          </a:p>
          <a:p xmlns:a="http://schemas.openxmlformats.org/drawingml/2006/main">
            <a:r>
              <a:t>S12 判断历史；可前往 S34、S49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A05：创建项目：身份、地点与资金。阶段：现有链路重设计。S13 创建·基本信息；可前往 S14</a:t>
            </a:r>
          </a:p>
          <a:p xmlns:a="http://schemas.openxmlformats.org/drawingml/2006/main">
            <a:r>
              <a:t>S14 创建·地点时间；可前往 S15、S22、S23、S24</a:t>
            </a:r>
          </a:p>
          <a:p xmlns:a="http://schemas.openxmlformats.org/drawingml/2006/main">
            <a:r>
              <a:t>S15 创建·规模资金；可前往 S16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A06：创建项目：成本、确认与草稿。阶段：现有链路重设计。S16 创建·已知成本；可前往 S17</a:t>
            </a:r>
          </a:p>
          <a:p xmlns:a="http://schemas.openxmlformats.org/drawingml/2006/main">
            <a:r>
              <a:t>S17 创建·确认；可前往 S25</a:t>
            </a:r>
          </a:p>
          <a:p xmlns:a="http://schemas.openxmlformats.org/drawingml/2006/main">
            <a:r>
              <a:t>S18 草稿恢复；可前往 S13、S10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A07：艺人候选、详情与组合比较。阶段：扩展规划。S19 艺人候选；可前往 S20、S21</a:t>
            </a:r>
          </a:p>
          <a:p xmlns:a="http://schemas.openxmlformats.org/drawingml/2006/main">
            <a:r>
              <a:t>S20 艺人详情；可前往 S21、S38</a:t>
            </a:r>
          </a:p>
          <a:p xmlns:a="http://schemas.openxmlformats.org/drawingml/2006/main">
            <a:r>
              <a:t>S21 组合对比；可前往 S25、S22、S24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A08：城市、档期与场馆选择。阶段：扩展规划。S22 城市对比；可前往 S23</a:t>
            </a:r>
          </a:p>
          <a:p xmlns:a="http://schemas.openxmlformats.org/drawingml/2006/main">
            <a:r>
              <a:t>S23 档期选择；可前往 S24</a:t>
            </a:r>
          </a:p>
          <a:p xmlns:a="http://schemas.openxmlformats.org/drawingml/2006/main">
            <a:r>
              <a:t>S24 场馆选择；可前往 S21、S25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B09：财务假设录入。阶段：现有链路重设计。S25 情景输入；可前往 S26、S27、S28、S74</a:t>
            </a:r>
          </a:p>
          <a:p xmlns:a="http://schemas.openxmlformats.org/drawingml/2006/main">
            <a:r>
              <a:t>S26 票档编辑；可前往 S25</a:t>
            </a:r>
          </a:p>
          <a:p xmlns:a="http://schemas.openxmlformats.org/drawingml/2006/main">
            <a:r>
              <a:t>S27 成本明细；可前往 S25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B10：三种财务结果。阶段：现有链路重设计。S28 保守结果；可前往 S29、S30、S31</a:t>
            </a:r>
          </a:p>
          <a:p xmlns:a="http://schemas.openxmlformats.org/drawingml/2006/main">
            <a:r>
              <a:t>S29 中性结果；可前往 S28、S30、S34</a:t>
            </a:r>
          </a:p>
          <a:p xmlns:a="http://schemas.openxmlformats.org/drawingml/2006/main">
            <a:r>
              <a:t>S30 乐观结果；可前往 S29、S31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B11：关键财务边界。阶段：现有链路重设计。S31 保本线；可前往 S32、S33</a:t>
            </a:r>
          </a:p>
          <a:p xmlns:a="http://schemas.openxmlformats.org/drawingml/2006/main">
            <a:r>
              <a:t>S32 敏感性；可前往 S25</a:t>
            </a:r>
          </a:p>
          <a:p xmlns:a="http://schemas.openxmlformats.org/drawingml/2006/main">
            <a:r>
              <a:t>S33 资金缺口；可前往 S40、S55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B12：判断与解释。阶段：现有链路重设计。S34 判断总览；可前往 S35、S37、S43、S47</a:t>
            </a:r>
          </a:p>
          <a:p xmlns:a="http://schemas.openxmlformats.org/drawingml/2006/main">
            <a:r>
              <a:t>S35 建议解释；可前往 S36、S37</a:t>
            </a:r>
          </a:p>
          <a:p xmlns:a="http://schemas.openxmlformats.org/drawingml/2006/main">
            <a:r>
              <a:t>S36 假设管理；可前往 S25、S40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B13：事实与证据链。阶段：现有链路重设计 + 扩展规划。S37 事实列表；可前往 S38、S39、S40</a:t>
            </a:r>
          </a:p>
          <a:p xmlns:a="http://schemas.openxmlformats.org/drawingml/2006/main">
            <a:r>
              <a:t>S38 证据详情；可前往 S37</a:t>
            </a:r>
          </a:p>
          <a:p xmlns:a="http://schemas.openxmlformats.org/drawingml/2006/main">
            <a:r>
              <a:t>S39 冲突消解；可前往 S41、S40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B14：资料补充与核验。阶段：现有链路重设计 + 扩展规划。S40 资料缺口；可前往 S41、S55</a:t>
            </a:r>
          </a:p>
          <a:p xmlns:a="http://schemas.openxmlformats.org/drawingml/2006/main">
            <a:r>
              <a:t>S41 上传资料；可前往 S42</a:t>
            </a:r>
          </a:p>
          <a:p xmlns:a="http://schemas.openxmlformats.org/drawingml/2006/main">
            <a:r>
              <a:t>S42 抽取确认；可前往 S37、S74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B15：风险与人工门禁。阶段：现有链路重设计 + 扩展规划。S43 风险列表；可前往 S44、S45</a:t>
            </a:r>
          </a:p>
          <a:p xmlns:a="http://schemas.openxmlformats.org/drawingml/2006/main">
            <a:r>
              <a:t>S44 风险详情；可前往 S55、S45</a:t>
            </a:r>
          </a:p>
          <a:p xmlns:a="http://schemas.openxmlformats.org/drawingml/2006/main">
            <a:r>
              <a:t>S45 人工门禁；可前往 S46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B16：确认与留痕。阶段：现有链路重设计。S46 门禁确认；可前往 S45、S47</a:t>
            </a:r>
          </a:p>
          <a:p xmlns:a="http://schemas.openxmlformats.org/drawingml/2006/main">
            <a:r>
              <a:t>S47 负责人决策；可前往 S48、S78</a:t>
            </a:r>
          </a:p>
          <a:p xmlns:a="http://schemas.openxmlformats.org/drawingml/2006/main">
            <a:r>
              <a:t>S48 确认完成；可前往 S11、S50、S53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C17：判断版本与决策报告。阶段：现有链路重设计 + 扩展规划。S49 版本对比；可前往 S34、S47</a:t>
            </a:r>
          </a:p>
          <a:p xmlns:a="http://schemas.openxmlformats.org/drawingml/2006/main">
            <a:r>
              <a:t>S50 报告预览；可前往 S51</a:t>
            </a:r>
          </a:p>
          <a:p xmlns:a="http://schemas.openxmlformats.org/drawingml/2006/main">
            <a:r>
              <a:t>S51 报告共享；可前往 S50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C18：客户专职 Agent。阶段：扩展规划。S52 Agent 工作台；可前往 S53、S54、S55、S59</a:t>
            </a:r>
          </a:p>
          <a:p xmlns:a="http://schemas.openxmlformats.org/drawingml/2006/main">
            <a:r>
              <a:t>S53 计划确认；可前往 S55</a:t>
            </a:r>
          </a:p>
          <a:p xmlns:a="http://schemas.openxmlformats.org/drawingml/2006/main">
            <a:r>
              <a:t>S54 Agent 对话；可前往 S53、S25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C19：人工任务与证据回传。阶段：扩展规划。S55 任务中心；可前往 S56</a:t>
            </a:r>
          </a:p>
          <a:p xmlns:a="http://schemas.openxmlformats.org/drawingml/2006/main">
            <a:r>
              <a:t>S56 任务详情；可前往 S57、S58</a:t>
            </a:r>
          </a:p>
          <a:p xmlns:a="http://schemas.openxmlformats.org/drawingml/2006/main">
            <a:r>
              <a:t>S57 提交任务结果；可前往 S55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C20：阻塞处理与授权边界。阶段：扩展规划。S58 任务阻塞；可前往 S55</a:t>
            </a:r>
          </a:p>
          <a:p xmlns:a="http://schemas.openxmlformats.org/drawingml/2006/main">
            <a:r>
              <a:t>S59 项目变化提醒；可前往 S49、S53</a:t>
            </a:r>
          </a:p>
          <a:p xmlns:a="http://schemas.openxmlformats.org/drawingml/2006/main">
            <a:r>
              <a:t>S60 Agent 授权；可前往 S52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C21：全国巡演与城市协同。阶段：扩展规划。S61 巡演总览；可前往 S62、S63</a:t>
            </a:r>
          </a:p>
          <a:p xmlns:a="http://schemas.openxmlformats.org/drawingml/2006/main">
            <a:r>
              <a:t>S62 巡演路线；可前往 S61</a:t>
            </a:r>
          </a:p>
          <a:p xmlns:a="http://schemas.openxmlformats.org/drawingml/2006/main">
            <a:r>
              <a:t>S63 城市站点；可前往 S11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C22：经营数据与结果复盘。阶段：扩展规划，依赖经营数据接入。S64 售票跟踪；可前往 S59、S65</a:t>
            </a:r>
          </a:p>
          <a:p xmlns:a="http://schemas.openxmlformats.org/drawingml/2006/main">
            <a:r>
              <a:t>S65 项目结算；可前往 S66</a:t>
            </a:r>
          </a:p>
          <a:p xmlns:a="http://schemas.openxmlformats.org/drawingml/2006/main">
            <a:r>
              <a:t>S66 项目复盘；可前往 S07、S80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C23：客户空间与团队协作。阶段：扩展规划。S67 我的；可前往 S68、S60、S71、S70、S69</a:t>
            </a:r>
          </a:p>
          <a:p xmlns:a="http://schemas.openxmlformats.org/drawingml/2006/main">
            <a:r>
              <a:t>S68 团队成员；可前往 S72</a:t>
            </a:r>
          </a:p>
          <a:p xmlns:a="http://schemas.openxmlformats.org/drawingml/2006/main">
            <a:r>
              <a:t>S69 消息通知；可前往 S59、S56、S34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C24：设置、资料授权与邀请。阶段：扩展规划。S70 应用设置；可前往 S82、S83、S84</a:t>
            </a:r>
          </a:p>
          <a:p xmlns:a="http://schemas.openxmlformats.org/drawingml/2006/main">
            <a:r>
              <a:t>S71 数据授权；可前往 S67</a:t>
            </a:r>
          </a:p>
          <a:p xmlns:a="http://schemas.openxmlformats.org/drawingml/2006/main">
            <a:r>
              <a:t>S72 邀请成员；可前往 S68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C25：首次进入、处理中与连接失败。阶段：通用状态设计。S73 项目空状态；可前往 S13</a:t>
            </a:r>
          </a:p>
          <a:p xmlns:a="http://schemas.openxmlformats.org/drawingml/2006/main">
            <a:r>
              <a:t>S74 生成处理中；可前往 S34、S11</a:t>
            </a:r>
          </a:p>
          <a:p xmlns:a="http://schemas.openxmlformats.org/drawingml/2006/main">
            <a:r>
              <a:t>S75 网络失败；可前往 S11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C26：依据缺失、无权限与旧版本。阶段：通用状态设计。S76 数据上下文不可用；可前往 S74、S11</a:t>
            </a:r>
          </a:p>
          <a:p xmlns:a="http://schemas.openxmlformats.org/drawingml/2006/main">
            <a:r>
              <a:t>S77 权限不足；可前往 S02、S67</a:t>
            </a:r>
          </a:p>
          <a:p xmlns:a="http://schemas.openxmlformats.org/drawingml/2006/main">
            <a:r>
              <a:t>S78 版本已变化；可前往 S49、S47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C27：表单校验与退出确认。阶段：通用状态设计。S79 表单校验；可前往 S25</a:t>
            </a:r>
          </a:p>
          <a:p xmlns:a="http://schemas.openxmlformats.org/drawingml/2006/main">
            <a:r>
              <a:t>S80 归档确认；可前往 S10</a:t>
            </a:r>
          </a:p>
          <a:p xmlns:a="http://schemas.openxmlformats.org/drawingml/2006/main">
            <a:r>
              <a:t>S81 登录已过期；可前往 S01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界面组 C28：联调、通知与个人隐私。阶段：现有联调设置 + 扩展规划。S82 开发者联调；可前往 S70</a:t>
            </a:r>
          </a:p>
          <a:p xmlns:a="http://schemas.openxmlformats.org/drawingml/2006/main">
            <a:r>
              <a:t>S83 通知偏好；可前往 S70</a:t>
            </a:r>
          </a:p>
          <a:p xmlns:a="http://schemas.openxmlformats.org/drawingml/2006/main">
            <a:r>
              <a:t>S84 个人隐私；可前往 S03、S81</a:t>
            </a:r>
          </a:p>
          <a:p xmlns:a="http://schemas.openxmlformats.org/drawingml/2006/main">
            <a:r>
              <a:t>所有人物、案例、事件和数字均为设计示例。界面结构基于 decision-app/miniprogram 与 docs 下的架构、模型、API和决策规则。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规划系统架构。当前 decision-app 具备项目、财务、上下文API适配和人工确认链路。案例发现、优化、长期Agent、工作流、团队授权、票务数据和巡演管理需按阶段实现。财务公式、权限和硬门禁不由大模型修改。小程序不保存供应商密钥或直连数据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a9d6c16f84e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5159776184734" /><Relationship Type="http://schemas.openxmlformats.org/officeDocument/2006/relationships/slideLayout" Target="/ppt/slideLayouts/slideLayout1.xml" Id="Rcb4f67b227eb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f67b227eb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ed661801d4cc0" /><Relationship Type="http://schemas.openxmlformats.org/officeDocument/2006/relationships/notesSlide" Target="/ppt/notesSlides/notesSlide1.xml" Id="R8531115f57a34a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ab7c0400c4837" /><Relationship Type="http://schemas.openxmlformats.org/officeDocument/2006/relationships/notesSlide" Target="/ppt/notesSlides/notesSlide2.xml" Id="Rf3a2be1eef00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9e003488c4596" /><Relationship Type="http://schemas.openxmlformats.org/officeDocument/2006/relationships/notesSlide" Target="/ppt/notesSlides/notesSlide3.xml" Id="R83e4c28e2718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08fdaced24c59" /><Relationship Type="http://schemas.openxmlformats.org/officeDocument/2006/relationships/notesSlide" Target="/ppt/notesSlides/notesSlide4.xml" Id="R130ccc99b7e14a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c832fa8b4065" /><Relationship Type="http://schemas.openxmlformats.org/officeDocument/2006/relationships/notesSlide" Target="/ppt/notesSlides/notesSlide5.xml" Id="R0542b303beaa45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8ed2528c7427d" /><Relationship Type="http://schemas.openxmlformats.org/officeDocument/2006/relationships/notesSlide" Target="/ppt/notesSlides/notesSlide6.xml" Id="R7d2a7b2c3fa2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9bfd6f9c74551" /><Relationship Type="http://schemas.openxmlformats.org/officeDocument/2006/relationships/notesSlide" Target="/ppt/notesSlides/notesSlide7.xml" Id="Rcf42fce5dbff42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cd8eabfe4708" /><Relationship Type="http://schemas.openxmlformats.org/officeDocument/2006/relationships/notesSlide" Target="/ppt/notesSlides/notesSlide8.xml" Id="R32835d62efbb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1abcdac54bd4" /><Relationship Type="http://schemas.openxmlformats.org/officeDocument/2006/relationships/notesSlide" Target="/ppt/notesSlides/notesSlide9.xml" Id="Rdf4a4d3aff9a42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d1a6e5a8c485c" /><Relationship Type="http://schemas.openxmlformats.org/officeDocument/2006/relationships/notesSlide" Target="/ppt/notesSlides/notesSlide10.xml" Id="R171d25e0a71742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de35f82cc4f79" /><Relationship Type="http://schemas.openxmlformats.org/officeDocument/2006/relationships/notesSlide" Target="/ppt/notesSlides/notesSlide11.xml" Id="R8d081a0178b347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4451edf5645c7" /><Relationship Type="http://schemas.openxmlformats.org/officeDocument/2006/relationships/notesSlide" Target="/ppt/notesSlides/notesSlide12.xml" Id="Rc28d52d6e64345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0e4489c074a4d" /><Relationship Type="http://schemas.openxmlformats.org/officeDocument/2006/relationships/notesSlide" Target="/ppt/notesSlides/notesSlide13.xml" Id="R47dddd7778ab4f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18f3314e14a1e" /><Relationship Type="http://schemas.openxmlformats.org/officeDocument/2006/relationships/notesSlide" Target="/ppt/notesSlides/notesSlide14.xml" Id="R8ba11495399d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053014124645" /><Relationship Type="http://schemas.openxmlformats.org/officeDocument/2006/relationships/notesSlide" Target="/ppt/notesSlides/notesSlide15.xml" Id="R5569c204ff7847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1c4512a9441c2" /><Relationship Type="http://schemas.openxmlformats.org/officeDocument/2006/relationships/notesSlide" Target="/ppt/notesSlides/notesSlide16.xml" Id="R594ab2b455ab4a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3be43a9ae48b1" /><Relationship Type="http://schemas.openxmlformats.org/officeDocument/2006/relationships/notesSlide" Target="/ppt/notesSlides/notesSlide17.xml" Id="R8e6d55dee3be42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b6794489c4328" /><Relationship Type="http://schemas.openxmlformats.org/officeDocument/2006/relationships/notesSlide" Target="/ppt/notesSlides/notesSlide18.xml" Id="R306593e85e4d48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b8c9cf95345b8" /><Relationship Type="http://schemas.openxmlformats.org/officeDocument/2006/relationships/notesSlide" Target="/ppt/notesSlides/notesSlide19.xml" Id="R40d56ef4ddb94e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2a6acb6db4678" /><Relationship Type="http://schemas.openxmlformats.org/officeDocument/2006/relationships/notesSlide" Target="/ppt/notesSlides/notesSlide20.xml" Id="Ra6899d23180944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9179051e422b" /><Relationship Type="http://schemas.openxmlformats.org/officeDocument/2006/relationships/notesSlide" Target="/ppt/notesSlides/notesSlide21.xml" Id="R27332f17fc7a49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7496242ea42aa" /><Relationship Type="http://schemas.openxmlformats.org/officeDocument/2006/relationships/notesSlide" Target="/ppt/notesSlides/notesSlide22.xml" Id="R14d592b5a80b49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f6f2979474b15" /><Relationship Type="http://schemas.openxmlformats.org/officeDocument/2006/relationships/notesSlide" Target="/ppt/notesSlides/notesSlide23.xml" Id="Rba9bc652838340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8e2bddad24f31" /><Relationship Type="http://schemas.openxmlformats.org/officeDocument/2006/relationships/notesSlide" Target="/ppt/notesSlides/notesSlide24.xml" Id="R6c88ce7081d04e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1d8dfeb8f45b6" /><Relationship Type="http://schemas.openxmlformats.org/officeDocument/2006/relationships/notesSlide" Target="/ppt/notesSlides/notesSlide25.xml" Id="Rd44718ce6dc7491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a818ac1ac4e32" /><Relationship Type="http://schemas.openxmlformats.org/officeDocument/2006/relationships/notesSlide" Target="/ppt/notesSlides/notesSlide26.xml" Id="R7d1f0f78fabc41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c999fa2e4e52" /><Relationship Type="http://schemas.openxmlformats.org/officeDocument/2006/relationships/notesSlide" Target="/ppt/notesSlides/notesSlide27.xml" Id="Rc9e96064348e48c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2bdb18ca449b0" /><Relationship Type="http://schemas.openxmlformats.org/officeDocument/2006/relationships/notesSlide" Target="/ppt/notesSlides/notesSlide28.xml" Id="R0ed50ec9aef24b6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33dbe8f9d4794" /><Relationship Type="http://schemas.openxmlformats.org/officeDocument/2006/relationships/notesSlide" Target="/ppt/notesSlides/notesSlide29.xml" Id="Rd3fef52f7cf344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8c805c22346fb" /><Relationship Type="http://schemas.openxmlformats.org/officeDocument/2006/relationships/notesSlide" Target="/ppt/notesSlides/notesSlide30.xml" Id="R6b0ff7ecedaa42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b9463d0da4944" /><Relationship Type="http://schemas.openxmlformats.org/officeDocument/2006/relationships/notesSlide" Target="/ppt/notesSlides/notesSlide31.xml" Id="Rff9c416eb9c64a8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d29f0ae0b45a6" /><Relationship Type="http://schemas.openxmlformats.org/officeDocument/2006/relationships/notesSlide" Target="/ppt/notesSlides/notesSlide32.xml" Id="R0682c45a9c13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5C23297-1DC6-4ED9-9ED3-3053B88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B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2E35E-F726-4483-8808-2CC18F7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60007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D83F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9D83F7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71FD4-03A7-4652-A05F-952ED76D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524750" cy="95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57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小程序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04BAC-C54C-42F4-803A-3BA7E34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1803"/>
            <a:ext cx="7524750" cy="95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57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完整界面蓝图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F80AF-8A81-4E1C-A4B3-1073574E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3B8D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3B8D1"/>
                </a:solidFill>
                <a:latin typeface="PingFang SC"/>
                <a:ea typeface="PingFang SC"/>
                <a:cs typeface="PingFang SC"/>
              </a:rPr>
              <a:t>从第一次判断，到每一场演出的结果复盘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19B89-77CB-4945-9372-7580D01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238750"/>
            <a:ext cx="642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37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7A2E6-DE30-43CD-8B5D-24B867E1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388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defRPr>
            </a:pPr>
            <a:r>
              <a:rPr sz="7500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F2211-76AA-4591-B7A8-F2284F4A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191250"/>
            <a:ext cx="43624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5DD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E5DDED"/>
                </a:solidFill>
                <a:latin typeface="PingFang SC"/>
                <a:ea typeface="PingFang SC"/>
                <a:cs typeface="PingFang SC"/>
              </a:rPr>
              <a:t>个界面与关键状态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114CD-CD57-46F0-96CA-97F5007F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019925"/>
            <a:ext cx="64579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4A7C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4A7C3"/>
                </a:solidFill>
                <a:latin typeface="PingFang SC"/>
                <a:ea typeface="PingFang SC"/>
                <a:cs typeface="PingFang SC"/>
              </a:rPr>
              <a:t>28 组流程 / 原生微信交互 / 可编辑设计稿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7D8EB-C886-495A-A98E-963A5D26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981950"/>
            <a:ext cx="6457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D83F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D83F7"/>
                </a:solidFill>
                <a:latin typeface="PingFang SC"/>
                <a:ea typeface="PingFang SC"/>
                <a:cs typeface="PingFang SC"/>
              </a:rPr>
              <a:t>现有链路重设计 + 长期产品规划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1E2B3-F4A0-496F-A9EC-B039E7D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791575"/>
            <a:ext cx="64293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98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398B2"/>
                </a:solidFill>
                <a:latin typeface="PingFang SC"/>
                <a:ea typeface="PingFang SC"/>
                <a:cs typeface="PingFang SC"/>
              </a:rPr>
              <a:t>案例、金额及任务均为产品示意。正式数据由授权数据源提供。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B48E-9586-47DA-B12E-1334E8D7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24025"/>
            <a:ext cx="2697480" cy="5638038"/>
          </a:xfrm>
          <a:prstGeom xmlns:a="http://schemas.openxmlformats.org/drawingml/2006/main" prst="roundRect">
            <a:avLst>
              <a:gd name="adj" fmla="val 10240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64791-597B-40CC-94D5-4047E383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526030" cy="5466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04C97-8939-4908-B630-FD149B2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121" y="1887474"/>
            <a:ext cx="453390" cy="1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66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31CFD-FF3B-42FC-942B-260C6B1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8721"/>
            <a:ext cx="15545" cy="2590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284D4-BC86-42DF-82C6-56B51F4F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158" y="1939290"/>
            <a:ext cx="15545" cy="4533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67E52-679A-4576-9C47-04E6349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066" y="1919859"/>
            <a:ext cx="15545" cy="6477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20C76-AB5A-4EC2-A1FC-6EEFA32C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974" y="1900428"/>
            <a:ext cx="15545" cy="8420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CB4E4-2729-49ED-8D61-A6FA06B8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899" y="1913382"/>
            <a:ext cx="161925" cy="77724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7772">
            <a:solidFill>
              <a:srgbClr val="F8F5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9CB11-39B6-4764-A6AE-B9FAAF1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330" y="1932813"/>
            <a:ext cx="116586" cy="3886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8344F-F86C-4E65-A3CE-EE0E880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301" y="1939290"/>
            <a:ext cx="12954" cy="25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4BAC4-7F95-4ADA-8748-5F23AB2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092" y="2159508"/>
            <a:ext cx="139255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C5400-8926-4365-8F0E-6C05D8B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434" y="2127123"/>
            <a:ext cx="492252" cy="1943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6477">
            <a:solidFill>
              <a:srgbClr val="3B30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162A3-DF7E-40CB-895C-DEC06FE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76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1788F-E6FD-43AF-BD0A-8EC82F58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792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DDD54-FA1B-4D69-B24D-7D0213A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608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D6D5E-6D09-4BBA-993F-C0795DD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08945" y="2172462"/>
            <a:ext cx="0" cy="103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EA1E8-3273-4B57-89AD-E55D82C5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238" y="2185416"/>
            <a:ext cx="77724" cy="777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772">
            <a:solidFill>
              <a:srgbClr val="F8F5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C5E67-51D6-4B3B-BFFB-F2EEDFBE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146" y="2211324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21DA5-1009-4AAF-A4C4-7CCD2E3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598" y="2450973"/>
            <a:ext cx="2215134" cy="224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42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找到下一场好生意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33590-C3FE-4BF6-A273-5A4CB55D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598" y="2721193"/>
            <a:ext cx="2215134" cy="126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案例、城市与市场机会 · 数据均为产品示例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8068F-2E94-4EC9-8DD6-924F0092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192" y="2957604"/>
            <a:ext cx="1947946" cy="1013843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33A92A-0F9F-4A1D-9B5B-61EC3FD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15" y="3043040"/>
            <a:ext cx="1742899" cy="8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3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493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PROFIT WITH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CC1ED-A5F8-408E-AD92-4077B52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15" y="3191130"/>
            <a:ext cx="1742899" cy="199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1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121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一个更接近盈利的项目组合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891FB-D24B-4747-A8EE-74F3E46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15" y="3430351"/>
            <a:ext cx="1742899" cy="111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62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从艺人、城市、档期、场馆与成本共同判断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93F433-1033-4026-A479-EAEA4752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15" y="3618311"/>
            <a:ext cx="1224586" cy="271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2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52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 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6B8A9C-3AED-4981-8355-480A067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169" y="3766400"/>
            <a:ext cx="598054" cy="9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3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53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示例 · 中性利润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0CBAB0-C479-42E6-AD0C-D575FB2C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192" y="4039796"/>
            <a:ext cx="1947946" cy="1201803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5696">
            <a:solidFill>
              <a:srgbClr val="3B304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74C8D-0976-4782-8CAD-401CF41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4113841"/>
            <a:ext cx="1765682" cy="11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示例项目收益曲线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36BE85-BC51-4DE7-833B-3E2B9CF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84501" y="5013769"/>
            <a:ext cx="1549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96">
            <a:solidFill>
              <a:srgbClr val="3B30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7F3D3F-501C-4972-A511-93407CC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062" y="4962507"/>
            <a:ext cx="170872" cy="7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12E0F6-475C-4953-A27A-B74BCF0F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84501" y="4680568"/>
            <a:ext cx="1549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96">
            <a:solidFill>
              <a:srgbClr val="3B30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ABF947-ECA2-4A15-ACFC-505AA06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062" y="4629306"/>
            <a:ext cx="170872" cy="7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ACFB-FF92-4432-8526-D843A1A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84501" y="4347367"/>
            <a:ext cx="1549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96">
            <a:solidFill>
              <a:srgbClr val="3B30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C1BADD-A332-44F1-B900-74918BB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062" y="4296105"/>
            <a:ext cx="170872" cy="7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C0337C-3690-4B67-85E0-16E764DD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984501" y="4884247"/>
            <a:ext cx="309849" cy="116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39">
            <a:solidFill>
              <a:srgbClr val="BAA6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99CCD4-AC3C-4AA7-8F6D-1197913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294349" y="4767254"/>
            <a:ext cx="309849" cy="116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39">
            <a:solidFill>
              <a:srgbClr val="BA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6EA5E7-5F58-42F7-B8CF-19D5213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04198" y="4650260"/>
            <a:ext cx="309849" cy="116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39">
            <a:solidFill>
              <a:srgbClr val="BAA6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7C7493-A90B-49CB-9EE1-91DE0B1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14047" y="4533266"/>
            <a:ext cx="309849" cy="116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39">
            <a:solidFill>
              <a:srgbClr val="BAA6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CC5E88-6581-4B6D-8039-436240A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223896" y="4416273"/>
            <a:ext cx="309849" cy="116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39">
            <a:solidFill>
              <a:srgbClr val="BAA6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0C4A51-DC8F-4F83-A651-16C69788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413" y="4984154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84D4F8-61DF-4485-AD83-B398AD4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98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3A068B-17E6-4DDD-A8CD-E92542C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262" y="4867160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23C450-526F-48C4-B846-6926123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347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8A719A-B676-4314-B3D2-AE203D9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111" y="4750166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84B9CE-F0D4-47BA-8B7A-888B6DBB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96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F2304E-64CC-48A2-8CC6-5FDDE5F0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960" y="4633173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6EA54C-81E6-426A-B546-C988BF37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045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BFE810-DDF1-4E61-94EA-E0E1908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808" y="4516179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6E3B9C-248E-4546-A727-0EB4CAA7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893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C03C7D-7D55-42FB-8327-95839F9F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6657" y="4399185"/>
            <a:ext cx="34174" cy="34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5696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25F148-C978-4959-8376-F2782B2E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742" y="5053639"/>
            <a:ext cx="262004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A68AD2-83B1-4748-9E30-A69D109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92881" y="4347367"/>
            <a:ext cx="0" cy="666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96">
            <a:solidFill>
              <a:srgbClr val="FF8174"/>
            </a:solidFill>
            <a:prstDash val="dash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4FDEF5-A148-4F05-8B54-EFFFB9AB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664" y="4330279"/>
            <a:ext cx="541096" cy="7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8" b="0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448" b="0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FF43BF-5562-462C-8F25-40F30F7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92" y="4244843"/>
            <a:ext cx="854362" cy="7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0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78FA97-DCBE-412F-BAD2-F136BAE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5121988"/>
            <a:ext cx="1765682" cy="7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448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调整票价与上座率，实时查看盈亏边界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BA6493-D577-4744-8030-758EF740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192" y="5309948"/>
            <a:ext cx="1947946" cy="774622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5696">
            <a:solidFill>
              <a:srgbClr val="3B304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58C470-2938-45F2-BCFA-A7877441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5383993"/>
            <a:ext cx="1241673" cy="11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城市剧场项目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4AEE45-DFE2-4714-99D0-78CEF0D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5526387"/>
            <a:ext cx="1241673" cy="9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3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53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通过缩小规模降低资金风险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FD9C15-429C-4850-9C99-2B846A5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955" y="5440950"/>
            <a:ext cx="455660" cy="111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8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628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ROI 18%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9BEF9C-97A3-4769-BBFA-1A30429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9324" y="5697259"/>
            <a:ext cx="176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96">
            <a:solidFill>
              <a:srgbClr val="3B30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F2A952-24C3-4BC9-82D2-89DE437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5771304"/>
            <a:ext cx="1241673" cy="11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6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音乐节组合项目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D45C69-1E10-408F-B258-F19CF33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324" y="5913698"/>
            <a:ext cx="1241673" cy="95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3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53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通过档期调整减少同城竞争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DC31B9-1A57-4E93-8BC2-885D793A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955" y="5828261"/>
            <a:ext cx="455660" cy="111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8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628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回正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197B55-56F9-4E8F-96FE-CA4B030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598" y="6162294"/>
            <a:ext cx="2215134" cy="31089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DF6E6B-87F7-4F12-BC9C-E9A0069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322" y="6246495"/>
            <a:ext cx="2059686" cy="145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开始评估我的项目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66DCA6-D629-438D-A67C-4CF7D1A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598" y="6486144"/>
            <a:ext cx="2215134" cy="28498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6477">
            <a:solidFill>
              <a:srgbClr val="3B304A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598E74-2D8A-43CE-A865-45170EFB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322" y="6557391"/>
            <a:ext cx="2059686" cy="1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浏览更多案例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B17156D-FB15-4F5F-82CE-1F0A0433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771132"/>
            <a:ext cx="252603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02FC88-6703-4A5E-8770-9D39C24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39150" y="6771132"/>
            <a:ext cx="25260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2823A3-2F78-4F85-97DF-0666D2FA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707" y="6855333"/>
            <a:ext cx="90678" cy="906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BAA6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9E5C80-47F7-438B-BBD6-5F41D915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30615" y="6881241"/>
            <a:ext cx="38862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BA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00A8D6-5020-4EF2-A937-8A9F4B12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35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561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E4C566-012B-49D3-B983-214CC97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215" y="6861810"/>
            <a:ext cx="97155" cy="84201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43BE49-1B1F-488A-8461-306D2EEA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62123" y="6894195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8E849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D7B60D-69C7-429E-A154-AC5F1C1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62123" y="6913626"/>
            <a:ext cx="323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8E849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BAF0FB-A380-46BE-9EDA-B1D504F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043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D1E3FC-0B95-4F60-B852-2CEA8D9A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6848856"/>
            <a:ext cx="103632" cy="1036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684225-93BC-4CE8-ABAA-F795D6B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35" y="688642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6477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CD4BAB6-842A-40C3-B223-2B1A051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20" y="688642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6477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1B8BF1-6ABE-4742-89B5-BC679716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630" y="6920103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8E849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AEED78-0FA0-408D-82EC-117FAE57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13A8B0F-1193-4B47-A252-75FF3053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661" y="6855333"/>
            <a:ext cx="51816" cy="5181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8CACC5-5F70-427D-9632-EA7F6A7A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99230" y="692010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4DBAD7F-83D5-4ADD-870A-C42C692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12184" y="6920103"/>
            <a:ext cx="647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6222F6-58F8-4FD5-8868-C0957C81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76954" y="692010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00EB77-8B82-4A56-901D-F38F3F2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058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21EB6F-2E15-4094-93F9-4EF4E45B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976" y="7192137"/>
            <a:ext cx="738378" cy="259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CA5C73-BC32-4AE2-84EC-058F1BB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466975"/>
            <a:ext cx="2697480" cy="5638038"/>
          </a:xfrm>
          <a:prstGeom xmlns:a="http://schemas.openxmlformats.org/drawingml/2006/main" prst="roundRect">
            <a:avLst>
              <a:gd name="adj" fmla="val 10240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E8D9B9-8C13-49BF-A9E5-8E86CF28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552700"/>
            <a:ext cx="2526030" cy="5466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975BE06-D588-4C4C-B125-7B4C3CA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996" y="2630424"/>
            <a:ext cx="453390" cy="1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6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851198-F4AE-4A2D-B630-ACB09538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701671"/>
            <a:ext cx="15545" cy="2590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292CB12-AAF7-4D83-BE54-23182760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9033" y="2682240"/>
            <a:ext cx="15545" cy="4533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4ECD448-BD78-42B2-84C2-A9EDFDA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941" y="2662809"/>
            <a:ext cx="15545" cy="6477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EC9FAA-0D7B-4181-8518-BF889D6F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0849" y="2643378"/>
            <a:ext cx="15545" cy="8420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5230AAE-FF6F-4159-BF42-2CAC5CF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774" y="2656332"/>
            <a:ext cx="161925" cy="77724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7772">
            <a:solidFill>
              <a:srgbClr val="20192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E7BE6D-3D60-4028-A94A-549D392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2205" y="2675763"/>
            <a:ext cx="116586" cy="3886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F268A5D-AD11-4179-86B9-6C53D48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1176" y="2682240"/>
            <a:ext cx="12954" cy="25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AD4633-F4E2-4342-B8B6-C6BD75C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967" y="2902458"/>
            <a:ext cx="139255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4F6924-B813-440B-B653-2C9307A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1309" y="2870073"/>
            <a:ext cx="492252" cy="1943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477">
            <a:solidFill>
              <a:srgbClr val="E1DBE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1B0CD7-990B-48FC-B811-0B341D3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851" y="295556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6477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88F494-E1BD-458C-BFD4-2ED7962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667" y="295556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6477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1DC3559-1979-4FB3-B1B0-2F25A958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483" y="295556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6477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71C1154-904A-473D-B00B-C1DB0CED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99820" y="2915412"/>
            <a:ext cx="0" cy="103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E1DB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D42E33-9FB4-41B4-A1B4-918926CC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113" y="2928366"/>
            <a:ext cx="77724" cy="777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772">
            <a:solidFill>
              <a:srgbClr val="20192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2643C11-149C-4843-A6CB-D749D59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4021" y="2954274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6477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0660BE-4EDA-4A29-87FF-0995770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73" y="3193923"/>
            <a:ext cx="2215134" cy="224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42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中性情况：有空间，但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A81B30-1D78-4E67-96E5-F833360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73" y="3418804"/>
            <a:ext cx="2215134" cy="224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42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要带条件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16EF9D8-08E5-49F2-9CEC-3CDEB5CB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73" y="3689025"/>
            <a:ext cx="2215134" cy="126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80% 上座率 / finance-v1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C3349A-4C35-4728-B111-AEBC89F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35" y="3925435"/>
            <a:ext cx="2013211" cy="1047811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5C8E4C0-D7B9-4393-95BF-4A1BC15B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393" y="4013734"/>
            <a:ext cx="1801294" cy="90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510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NEUTRAL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6515C31-7254-499C-9EA3-57D08FD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393" y="4166785"/>
            <a:ext cx="1801294" cy="20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9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159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当前判断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AC44D9F-1C94-4C9F-B8DF-6470B1A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393" y="4414022"/>
            <a:ext cx="1801294" cy="11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64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财务可行不代表门禁已经通过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CB07071-25C6-4F5F-8C75-2BF55C9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393" y="4608279"/>
            <a:ext cx="1265615" cy="280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57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D47220F-C4F2-448C-8364-0822131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823" y="4761330"/>
            <a:ext cx="618091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56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预计利润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25337C-92BC-46F4-A9BC-A97B0030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35" y="5043886"/>
            <a:ext cx="2013211" cy="512133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87">
            <a:solidFill>
              <a:srgbClr val="E1DBE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2EF3803-BFA1-4497-9A59-205247A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074" y="5126298"/>
            <a:ext cx="529792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总收入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4EF347-75F2-4FD5-B26E-1C5CD1A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074" y="5261689"/>
            <a:ext cx="529792" cy="188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058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712.80 万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3E57CF2-B3E5-42F0-A9DC-7D2C946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57505" y="5149844"/>
            <a:ext cx="0" cy="300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87">
            <a:solidFill>
              <a:srgbClr val="E1DB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EBA62F1-8390-4E14-9080-A02E295F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8144" y="5126298"/>
            <a:ext cx="529792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B6CBAE6-3101-493C-ACA4-539686D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8144" y="5261689"/>
            <a:ext cx="529792" cy="188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8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058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594.61 万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B9B8C25-CDD2-464F-A3DC-020CC951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28575" y="5149844"/>
            <a:ext cx="0" cy="300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87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5EDE07-BA10-46FD-8AD5-E28EB598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214" y="5126298"/>
            <a:ext cx="529792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ROI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466F713-61EF-4B88-8365-23E0BC54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214" y="5261689"/>
            <a:ext cx="529792" cy="189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06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19.88%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AA1F602-8ED7-4832-B199-22E6E55F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435" y="5626657"/>
            <a:ext cx="2013211" cy="1200863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887">
            <a:solidFill>
              <a:srgbClr val="E1DBE8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5A1FEC2-AF2F-430C-87C5-286990D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5703183"/>
            <a:ext cx="1283275" cy="12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预计售票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EB6F475-0312-4C77-BF7F-CC070FD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5850347"/>
            <a:ext cx="1283275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12,000 × 80%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811160C-23EE-4111-A023-E17608BF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760" y="5762049"/>
            <a:ext cx="470927" cy="11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9,600 张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98C823-24C2-441C-A69D-8B86C90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80620" y="6026945"/>
            <a:ext cx="1824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87">
            <a:solidFill>
              <a:srgbClr val="E1DB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34F05A0-447A-421B-B8E5-05C23048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6103470"/>
            <a:ext cx="1283275" cy="12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保本线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573E54-E0E8-4E05-9D26-2594F4D7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6250635"/>
            <a:ext cx="1283275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低于该上座率需重新测算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2BDBA2-4E21-4994-A31A-6D57A0F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760" y="6162336"/>
            <a:ext cx="470927" cy="11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63.2%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59FDCDD-F5E8-4CD3-8E77-BA300D2F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80620" y="6427232"/>
            <a:ext cx="1824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87">
            <a:solidFill>
              <a:srgbClr val="E1DB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4D9AED-46C3-4EBC-94C1-7831F1E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6503758"/>
            <a:ext cx="1283275" cy="123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9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最大资金缺口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F018BF6-047C-4188-9FEA-D0CE3F2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620" y="6650923"/>
            <a:ext cx="1283275" cy="98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55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全部成本先于回款的保守口径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07BFD0-27A1-4489-99EF-FEA57F7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760" y="6562624"/>
            <a:ext cx="470927" cy="11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94.61 万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0DBAD1A-2DEE-40DF-A033-B295025D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73" y="6905244"/>
            <a:ext cx="2215134" cy="31089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53FC4B3-654D-4FC1-AD09-1BC6E35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197" y="6989445"/>
            <a:ext cx="2059686" cy="145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查看完整判断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5A4E5C3-77BA-4B97-A463-3B6A988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73" y="7229094"/>
            <a:ext cx="2215134" cy="28498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477">
            <a:solidFill>
              <a:srgbClr val="E1DBE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7885E0-2CD7-40BB-B3F0-BD354DAA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197" y="7300341"/>
            <a:ext cx="2059686" cy="1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调整中性假设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B7FB3FE-CD58-4363-B7B1-A0E58961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514082"/>
            <a:ext cx="252603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ED476D-3DA8-498C-8627-02A2FA2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30025" y="7514082"/>
            <a:ext cx="25260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E1DBE8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8ED3E0E-A136-4821-B4A1-09F9D5E7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582" y="7598283"/>
            <a:ext cx="90678" cy="906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1976D69-13D1-4E64-BA7C-02F5840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21490" y="7624191"/>
            <a:ext cx="38862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2DE6784-CC22-4853-B1FD-87DA1A0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410" y="774077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D22D699-D639-44F6-BF8A-6BE9D62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090" y="7604760"/>
            <a:ext cx="97155" cy="84201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1011">
            <a:solidFill>
              <a:srgbClr val="7954C6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83BAFE8-4F96-4448-B31E-05F52BAA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52998" y="7637145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7954C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44FC14D-AF21-498B-AF8B-E4839A9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52998" y="7656576"/>
            <a:ext cx="323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7954C6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2C85D9A-5CC2-49B1-B1BA-DCCBEAD8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918" y="774077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561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D62CE73-E2C3-4962-9898-A5CD75FD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120" y="7591806"/>
            <a:ext cx="103632" cy="1036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FB2C28B-33C9-4498-8CC1-1F1AFD7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3210" y="762937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6477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5F2B7E7-11E8-4512-B291-55539381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5595" y="762937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6477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FE2D13B-7C27-483F-BDF4-589D54A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84505" y="7663053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958D9F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5E1B6E-1760-43D6-94E9-996DC027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774077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3173E66-95FA-425D-BE7B-65006206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536" y="7598283"/>
            <a:ext cx="51816" cy="5181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B87C44E-14F4-43C0-A358-673E2719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790105" y="766305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EC423D4-7AC9-4151-935C-01A64EF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059" y="7663053"/>
            <a:ext cx="647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06395F5-EA0E-4935-BD95-3D855286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67829" y="766305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958D9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F041A87-FFFD-4005-9608-09996818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933" y="774077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93413B6-4527-4345-BEF9-F7CF22A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851" y="7935087"/>
            <a:ext cx="738378" cy="259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5C1B663-7D0D-4C4E-8A82-A59A9B9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1724025"/>
            <a:ext cx="2697480" cy="5638038"/>
          </a:xfrm>
          <a:prstGeom xmlns:a="http://schemas.openxmlformats.org/drawingml/2006/main" prst="roundRect">
            <a:avLst>
              <a:gd name="adj" fmla="val 10240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9DFFB45-E60D-40DD-9D97-34EA261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1809750"/>
            <a:ext cx="2526030" cy="5466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282A90B-D201-4CF7-8599-1E3E3E52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71" y="1887474"/>
            <a:ext cx="453390" cy="1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66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AD0B9E8-FA9F-4CA6-B22A-DA34712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1958721"/>
            <a:ext cx="15545" cy="2590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D7D1E74-E07D-4EEC-8821-F6556AD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9908" y="1939290"/>
            <a:ext cx="15545" cy="4533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F521A53-109F-497F-8237-99B2C67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816" y="1919859"/>
            <a:ext cx="15545" cy="6477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11D601B-960A-4032-A9E4-F4514609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1724" y="1900428"/>
            <a:ext cx="15545" cy="8420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FC8DF40-4468-460F-9E0E-1D586E7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3649" y="1913382"/>
            <a:ext cx="161925" cy="77724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7772">
            <a:solidFill>
              <a:srgbClr val="F8F5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5C12C12-7E89-40BE-B13E-CD0DD07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3080" y="1932813"/>
            <a:ext cx="116586" cy="3886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344E188-B4A6-4266-9AAE-0864A24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2051" y="1939290"/>
            <a:ext cx="12954" cy="25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2403444-9F5F-49A0-B084-9844468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842" y="2159508"/>
            <a:ext cx="139255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9ACD815-6B21-413F-BAEE-746E0C2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2184" y="2127123"/>
            <a:ext cx="492252" cy="1943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6477">
            <a:solidFill>
              <a:srgbClr val="3B304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127467A-B376-4F42-BD1E-389723A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4726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B7418A9-F1DA-4505-BD54-2165502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42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1DC2733-E2D9-4159-A2EC-47B9699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8358" y="2212619"/>
            <a:ext cx="23317" cy="233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61941A8-4140-439E-8409-1104CD6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90695" y="2172462"/>
            <a:ext cx="0" cy="103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D960631-EC0C-4F40-9F5E-14716C68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8988" y="2185416"/>
            <a:ext cx="77724" cy="777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772">
            <a:solidFill>
              <a:srgbClr val="F8F5FF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EE0366-8B0F-4AC5-9791-632D7EC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4896" y="2211324"/>
            <a:ext cx="25908" cy="259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6477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C16CD2D-F3E7-4E09-A9BE-06F6605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2450973"/>
            <a:ext cx="2215134" cy="224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42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今天最值得处理的事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7F67058-6D74-4107-9E26-FC58587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2721193"/>
            <a:ext cx="2215134" cy="126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星河演出 / 专职 Agent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2BD2949-C854-4A4E-94DB-5DA078E4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2957604"/>
            <a:ext cx="2215134" cy="1152906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FE0AEE5-3E62-4960-BDCF-5FC75B1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934" y="3054759"/>
            <a:ext cx="1981962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1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561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YOUR PROJECT AGENT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402EF08-856B-481D-B9CC-35994CBC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934" y="3223161"/>
            <a:ext cx="1981962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南京站需要补齐资金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CD1F113-B6EC-49F4-A21D-05442D3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934" y="3495195"/>
            <a:ext cx="1981962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中性情景资金缺口 94.61 万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84D4693-6F1F-48B0-A243-5D6AA36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934" y="3708936"/>
            <a:ext cx="1392555" cy="308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34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734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3 项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82DA5C0-B7F5-42A7-9B94-E710E8E2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1857" y="3877338"/>
            <a:ext cx="680085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关键待办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52C316-8362-4E00-A62F-2CD98A6D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4188234"/>
            <a:ext cx="2215134" cy="132130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6477">
            <a:solidFill>
              <a:srgbClr val="3B304A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09D206D-A457-47C5-BD20-5A80ED2B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4272435"/>
            <a:ext cx="1411986" cy="136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确认新增资金安排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2200A57-B863-47A1-BEEE-067D0BB4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4434360"/>
            <a:ext cx="141198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财务负责人 / 今天 18:00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AC39691-30D7-4C6E-A2A4-F522B0E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36" y="4337205"/>
            <a:ext cx="518160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4" b="1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优先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EBB3E80-3573-4CB5-8B8E-02885076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079980" y="4628670"/>
            <a:ext cx="20078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F5B3059-B1C2-470D-92C8-A046207F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4712871"/>
            <a:ext cx="1411986" cy="136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补充艺人授权文件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94AB9E6-16D6-4D4A-B559-0F0735D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4874796"/>
            <a:ext cx="141198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商务负责人 / 明天 12:00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DFFC5AD-EBED-4F9B-AC11-BBD1335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36" y="4777641"/>
            <a:ext cx="518160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4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待证据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EE97079-782F-42BE-B42C-66E90DFF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079980" y="5069106"/>
            <a:ext cx="20078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07E7610-B8EB-4072-814E-02E7461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5153307"/>
            <a:ext cx="1411986" cy="136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核对场馆报价口径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556B475-8DC4-4EBE-9D06-B22345D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5315232"/>
            <a:ext cx="141198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地方执行 / 明天 18:00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CDF8FD1-7507-46F0-B9B8-77D47FA8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36" y="5218077"/>
            <a:ext cx="518160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4060E7A-0C4B-4358-AC7E-5745062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5587266"/>
            <a:ext cx="2215134" cy="308305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F272AA0-5CF9-4667-9D9B-42CFB4D1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5652036"/>
            <a:ext cx="19431" cy="17876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AA6FF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EA9CB31-1A71-4B20-9E90-29E9B5E3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80" y="5677944"/>
            <a:ext cx="199491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持续跟进功能示意。自动任务在授权后启用。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B89A861-B494-4E3D-9F56-793BD043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348" y="6369558"/>
            <a:ext cx="2215134" cy="31089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47B952B-331D-4C5F-9B23-FBB3549C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072" y="6453759"/>
            <a:ext cx="2059686" cy="145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16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查看今日计划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39FAF41-EC0B-4AC2-9DE1-3451396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6771132"/>
            <a:ext cx="2526030" cy="5052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6650090-1B80-4737-BC7C-B5EC5B2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20900" y="6771132"/>
            <a:ext cx="25260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477">
            <a:solidFill>
              <a:srgbClr val="3B304A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2C0A3F4-36DD-49D7-98C5-B97FF77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457" y="6855333"/>
            <a:ext cx="90678" cy="906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58358BE-71A6-48C4-8DCB-9FCA0C32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112365" y="6881241"/>
            <a:ext cx="38862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CB9D10D-6104-49D6-8227-01E32001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3285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8642982-827E-4683-BE21-056EA45C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965" y="6861810"/>
            <a:ext cx="97155" cy="84201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3F7397-59CF-4157-8464-DEC23C76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43873" y="6894195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8E849C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F812012-5F7E-44C3-9769-56BC6E1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43873" y="6913626"/>
            <a:ext cx="323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8E849C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0B9631F-5756-4613-85D1-0F85D139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793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F71B313-D9C8-451C-94BA-5170179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995" y="6848856"/>
            <a:ext cx="103632" cy="1036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BAA6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82D34F9-404D-4DA4-82DB-FC2FB5A7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085" y="688642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6477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617E4E5-D490-452B-8F4C-243AEE8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6470" y="6886423"/>
            <a:ext cx="15545" cy="1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6477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7B518EC-ABF6-4F6F-819F-80FEDFA8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375380" y="6920103"/>
            <a:ext cx="453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68">
            <a:solidFill>
              <a:srgbClr val="BAA6FF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D671750-6EEA-419B-81EE-C05A288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561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4953669-368E-443E-A3A2-A18A13A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411" y="6855333"/>
            <a:ext cx="51816" cy="5181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2230CFA-0B93-47E7-93C1-50A00FAD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980980" y="692010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E787270-32D7-4127-A587-6E9EBF2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993934" y="6920103"/>
            <a:ext cx="647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B68FFDA-64DD-44B6-BF10-127019C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058704" y="6920103"/>
            <a:ext cx="12954" cy="32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1">
            <a:solidFill>
              <a:srgbClr val="8E849C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F2CFAB9-5D02-4039-84CB-901B6FA9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808" y="6997827"/>
            <a:ext cx="566738" cy="99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61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783338C-3FF0-48C0-92E1-625FF5BA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4726" y="7192137"/>
            <a:ext cx="738378" cy="259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2759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ADEA07-86C6-4CFD-9009-407DA5D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84D8E-5B95-48A0-B60B-F6D54533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2F1BC-4252-4464-AB49-B9FFFC7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四个主入口，覆盖完整项目周期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469E2-FC99-411C-BF7E-43287262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主要操作保持一致：查看依据、比较方案、处理任务、人工确认。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CEA1-64BD-4AE0-88CB-ECFA99C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9108B-A6CF-48E8-A2E1-0790471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产品设计蓝图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09B8B-A054-477B-8BEB-195B61EF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21DE7-4D0B-47CA-B6EB-D70AE192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10025" cy="4514850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B148D-98F1-4776-A48E-8724C92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9825"/>
            <a:ext cx="352425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9DFD-F298-4F34-9730-81A4702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95625"/>
            <a:ext cx="3505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案例库 / 机会发现 / 艺人组合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AB92-8295-4495-B5C8-8F208F10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67175"/>
            <a:ext cx="350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rPr>
              <a:t>S04–S09、S19–S24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F6D3B-1321-4E01-9992-B3EBBE73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3925" y="4619625"/>
            <a:ext cx="3533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F92A4-D6BD-4BD7-A0D4-E5077C1D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958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主入口 S04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DEC72-5D07-4730-AED5-32159801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305425"/>
            <a:ext cx="3505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新用户先看价值，快速创建项目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84E9E-4790-46F2-8CF7-61AEC1F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4010025" cy="4514850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48695-3F2A-492B-8885-204ACF2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9825"/>
            <a:ext cx="352425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E058-A595-4DE1-A7B4-5DB6890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95625"/>
            <a:ext cx="3505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项目资料 / 财务 / 证据 / 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09102-79FD-49FF-8591-51DB4A29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67175"/>
            <a:ext cx="350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rPr>
              <a:t>S10–S51、S61–S66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63CD5-2283-4D04-A300-447061A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0175" y="4619625"/>
            <a:ext cx="3533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20FB6-23ED-4067-B4E1-F142AD98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8958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主入口 S10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F95E9-0324-4BB0-AA1C-060AEC41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05425"/>
            <a:ext cx="3505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每一项结论都能展开查看输入和依据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8A2E7-58F4-488E-B79B-3E6CD836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4010025" cy="4514850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271C38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42643-FD6A-4D97-8B74-20E636E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09825"/>
            <a:ext cx="352425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BD9A4-A795-44C9-A263-8F48B377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95625"/>
            <a:ext cx="3505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ABCE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ABCE1"/>
                </a:solidFill>
                <a:latin typeface="PingFang SC"/>
                <a:ea typeface="PingFang SC"/>
                <a:cs typeface="PingFang SC"/>
              </a:rPr>
              <a:t>长期跟进 / 计划 / 任务 / 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215B1-7EDF-44FE-869A-F796950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67175"/>
            <a:ext cx="350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3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83F7"/>
                </a:solidFill>
                <a:latin typeface="PingFang SC"/>
                <a:ea typeface="PingFang SC"/>
                <a:cs typeface="PingFang SC"/>
              </a:rPr>
              <a:t>S52–S60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21A79-F358-41F6-9167-5E2C55B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96425" y="4619625"/>
            <a:ext cx="3533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45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A4406-FFE1-4B04-A739-D431E1C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8958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ABC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ABCE1"/>
                </a:solidFill>
                <a:latin typeface="PingFang SC"/>
                <a:ea typeface="PingFang SC"/>
                <a:cs typeface="PingFang SC"/>
              </a:rPr>
              <a:t>主入口 S52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03B8A-8F05-4231-9CB5-E1F3D7C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305425"/>
            <a:ext cx="3505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按客户授权推进计划，主动提示变化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84798-A51E-4F8E-AD70-9B05829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133600"/>
            <a:ext cx="4010025" cy="4514850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711E3-22F7-48B6-8523-C0DA184D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2409825"/>
            <a:ext cx="352425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25C96-1F3B-4641-B670-43C708E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095625"/>
            <a:ext cx="3505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客户空间 / 团队 / 权限 / 设置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45189-2F41-4CAD-B4D1-2E828FA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067175"/>
            <a:ext cx="35052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F7CA5"/>
                </a:solidFill>
                <a:latin typeface="PingFang SC"/>
                <a:ea typeface="PingFang SC"/>
                <a:cs typeface="PingFang SC"/>
              </a:rPr>
              <a:t>S67–S72、S82–S84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3E89DD-A7F1-45AC-9B91-805BA3F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82675" y="4619625"/>
            <a:ext cx="3533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DB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E9E1F-2E53-453B-993F-7A9012F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8958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主入口 S67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79A079-15FF-4A62-B458-CEE2C30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5305425"/>
            <a:ext cx="3505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服务端根据角色与项目范围判断权限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07C15-557C-485E-9FB2-7B6B272B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0425"/>
            <a:ext cx="33337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全局流程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ADAEC9-13B4-43C5-B551-A55D7A21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34300"/>
            <a:ext cx="166211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46A8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46A81"/>
                </a:solidFill>
                <a:latin typeface="PingFang SC"/>
                <a:ea typeface="PingFang SC"/>
                <a:cs typeface="PingFang SC"/>
              </a:rPr>
              <a:t>登录与空间选择 S01–S03    首次与异常状态 S73–S81    原有 7 页均有对应设计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9EBE4-5B0A-416A-A641-E6CE82D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86775"/>
            <a:ext cx="166211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6A8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46A81"/>
                </a:solidFill>
                <a:latin typeface="PingFang SC"/>
                <a:ea typeface="PingFang SC"/>
                <a:cs typeface="PingFang SC"/>
              </a:rPr>
              <a:t>每个手机图有唯一编号，可在网页图册中搜索、放大和沿跳转路径预览。</a:t>
            </a:r>
          </a:p>
        </p:txBody>
      </p:sp>
    </p:spTree>
    <p:extLst>
      <p:ext uri="{BB962C8B-B14F-4D97-AF65-F5344CB8AC3E}">
        <p14:creationId xmlns:p14="http://schemas.microsoft.com/office/powerpoint/2010/main" val="799864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94FE6C-AB74-418D-AB03-A3896B0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2F65-29E5-488A-BEAC-64A91373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DD123-4D6C-48DF-A827-576DE55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从项目想法到可追溯决策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D946A-7BAC-458F-962F-924D306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主流程 8 步；信息变更后可重算，已确认记录始终保留。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091FC-627F-4F2F-A940-50883AA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69D50-C975-4F83-8BDD-C4462571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产品设计蓝图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B56D7-B3E3-40E2-A855-B8475F1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D41DE-A9A2-47FF-81EC-58390F2F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E92E6-4F08-465D-B1BD-C47BCEF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6E504-7E74-4AF6-957C-8CD4A0F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发现机会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E7B8E-7E2F-47F1-A6A4-ADC4A873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案例与候选方向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A8AFE-CC0E-453A-8B30-780DAF32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S04–S09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CAEC1-FB7B-4AC5-BA02-DCD4D444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95800" y="3352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C57E2-3A3A-4FF6-BF0E-8EBBFC9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62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EDBA5-4C62-4974-85D1-9ED0917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43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AB935-A62F-4EC3-91FB-4759D56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505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75A2A-B64C-46B4-A097-EC62A05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62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输入资源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08817-25F7-4522-8DE3-B94FBD3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67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艺人、城市、档期、资金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2381D-DF1B-44F1-99E3-6FBAE02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05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S13–S18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0661B-7E65-41E3-BDD5-96DFCF0F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72525" y="3352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6E858-0D9B-4E13-9DA1-51B82E8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A5FAD-0DE4-425B-815A-426948DB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BF68C-D013-4919-88F7-134FC3F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05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BC174-939E-48F4-B25A-B2CA3111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62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比较组合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8A2E2-CE8F-4E0B-954E-CBFE4BB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艺人、场馆、日期方案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90ABB-9ACC-48F0-BCA1-30A763C2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S19–S24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E174A1-FF43-4204-B990-E9519EB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49250" y="3352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0F170-EE14-466C-9F97-502FAAE6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3162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117E2-4D7F-4644-8536-3B98AEF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2343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F69A1-4AE2-451B-AADB-1F7ADF1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2505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12C29-1A3B-446B-B9BA-8A8DCEC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2962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计算盈亏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C5708-AF9A-42D4-A4EF-B40FD637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467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三情景、保本、资金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116043-0334-49F6-A2A9-7124FCE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3905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S25–S33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35A2C-701E-4F0E-967A-E4A56CA0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AF10-54D0-4DC4-A8F1-2A172E4F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80101E-6290-45A2-93BE-7571BA5E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查看依据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C45A46-5E69-428B-A6A4-650E415E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事实、假设、冲突、缺口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15FB7E-F979-456F-80C8-49100C19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72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S34–S42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057B17-3535-4553-A1F2-48858A97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95800" y="6019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6877DB-63ED-4EC4-B7F8-99A51F9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29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E636BE-6C43-4DFF-A24E-320FB0F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010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3CCC31-643A-4379-9376-EB132A43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72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5C45D1-69AE-4204-BA30-9F374E83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629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控制风险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0DE58A-C51A-453F-A68B-90E9913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134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风险与人工硬门禁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BB4FE4-EF13-4938-831E-5E0CFF42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572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S43–S46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6BDE9F-977D-4898-88F1-388030CE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72525" y="6019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B84C2D-6A24-4B08-8491-A4D4B600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29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EAF4D1-1F77-4514-9CEE-B240EE4C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0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291D3B"/>
          </a:solidFill>
          <a:ln xmlns:a="http://schemas.openxmlformats.org/drawingml/2006/main" w="9525">
            <a:solidFill>
              <a:srgbClr val="9D83F7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261D84-FDCC-4A71-BDBE-6654E23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72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456D5D-0152-40B8-ABAF-E8CD1C28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29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负责人决定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18518D-A5C2-4F9A-9BE9-EF29DE3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34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CE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9CEE6"/>
                </a:solidFill>
                <a:latin typeface="PingFang SC"/>
                <a:ea typeface="PingFang SC"/>
                <a:cs typeface="PingFang SC"/>
              </a:rPr>
              <a:t>条件、理由、版本与分享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6FEDE1-1A26-4060-81B6-324BA92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72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S47–S51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380946-266B-4133-9D9C-78F987B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49250" y="60198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90C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7CE28D-F331-4799-AEB7-5824D43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5829300"/>
            <a:ext cx="2667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8E6DC4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9FBE9E-8B72-4B5D-98A0-AC1497C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010150"/>
            <a:ext cx="3790950" cy="20574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D96A00-8D2D-4157-9A0A-97A360E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5172075"/>
            <a:ext cx="7429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defRPr>
            </a:pPr>
            <a:r>
              <a:rPr sz="2100" b="1">
                <a:solidFill>
                  <a:srgbClr val="9D83F7"/>
                </a:solidFill>
                <a:latin typeface="DIN Alternate"/>
                <a:ea typeface="DIN Alternate"/>
                <a:cs typeface="DIN Alternate"/>
              </a:rPr>
              <a:t>08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5B15A8-F335-4A8E-8BA7-2843718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5629275"/>
            <a:ext cx="33718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跟进与复盘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17BF74-48AC-48B3-BC30-1781AC0D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61341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677C"/>
                </a:solidFill>
                <a:latin typeface="PingFang SC"/>
                <a:ea typeface="PingFang SC"/>
                <a:cs typeface="PingFang SC"/>
              </a:rPr>
              <a:t>任务、变化、结算与校准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75BC7E-0B3B-4E58-AB1A-C3D4806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6572250"/>
            <a:ext cx="3371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C8199"/>
                </a:solidFill>
                <a:latin typeface="PingFang SC"/>
                <a:ea typeface="PingFang SC"/>
                <a:cs typeface="PingFang SC"/>
              </a:rPr>
              <a:t>S52–S66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5C754A-90E2-478B-9269-F03D8F9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91475"/>
            <a:ext cx="16621125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BE5F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56ED04-760C-4218-B0D4-51037F9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1724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45A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6745A0"/>
                </a:solidFill>
                <a:latin typeface="PingFang SC"/>
                <a:ea typeface="PingFang SC"/>
                <a:cs typeface="PingFang SC"/>
              </a:rPr>
              <a:t>人工确认始终绑定具体版本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6E4871-3809-4BFD-9B34-4BCB470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591550"/>
            <a:ext cx="159067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4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56483"/>
                </a:solidFill>
                <a:latin typeface="PingFang SC"/>
                <a:ea typeface="PingFang SC"/>
                <a:cs typeface="PingFang SC"/>
              </a:rPr>
              <a:t>政策审批、场地安全、艺人授权、资金拨付与合同责任保留具名负责人确认。</a:t>
            </a:r>
          </a:p>
        </p:txBody>
      </p:sp>
    </p:spTree>
    <p:extLst>
      <p:ext uri="{BB962C8B-B14F-4D97-AF65-F5344CB8AC3E}">
        <p14:creationId xmlns:p14="http://schemas.microsoft.com/office/powerpoint/2010/main" val="510062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4E62533-6416-4890-B17D-52AA23E4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8BABC-1473-4186-BCBE-CAD5187C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71D33-37A2-4A0F-A7DA-D894F9A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登录、客户空间与授权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B68A8-ECA2-43D6-91C2-0208047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先建立可信身份，再进入隔离的客户工作空间。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A8F5-38C0-44D1-96E1-921731C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85BDA-CD54-472E-A7FF-1AAF5EF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4BCF6-08EE-44C6-92B1-9932D382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BFDEE-9E16-46B1-B2EE-A66762A8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S01  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2A05-BAC3-4974-A026-EE5C5BC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7DC5D-FA5E-4157-8BD9-FF29FAD4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5322F-6A1A-447B-8719-3495E72A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87F34-BB77-4354-900B-EB433451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FAD66-C263-44BC-81CE-560BC9F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79F50-85FF-4179-94A5-4EBC7F4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A21F5-C594-4D84-A9A0-4C3DC769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13823-14D4-49C9-A315-89A91D02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0F469-E5E7-4A35-AD03-1C9709FD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FA4D0-D36F-40AE-9A05-5BFD9F88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85797-2DB1-4CA5-926A-7662625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登录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040FD-E1F1-46DA-AB0E-6C1E314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6EE59-02C9-4239-9C63-A1D4D5AA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F35CD-03CD-465A-991E-E8451784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42220-AF2C-4802-8B9B-9F0A8E7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C306C-C217-47D2-A42C-2DD37B1D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A611F-31DF-4AF4-9EAB-292259A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8E824-2C8E-476F-AE50-5AAD978B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35C58-108A-4F11-878F-A4745280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登录锐音场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EEC60-5E5E-42E5-8B72-7BF33A5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锐音场 · 演出项目决策系统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C4F0A-9307-4356-A9D1-9D561299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66564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CDB90-F5C7-4180-897D-C7517020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3879250"/>
            <a:ext cx="2521172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MAKE THE RIGHT 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EA30D-400E-4E30-B18E-2AA242E7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093467"/>
            <a:ext cx="2521172" cy="28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发现机会，也守住亏损边界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6F64B-38E9-41AC-AE8D-6F7669F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43951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用案例、数据和可复算模型辅助项目判断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062FF0-4AF9-45B7-AF44-0EF06261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12918" y="4851466"/>
            <a:ext cx="2521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5745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60A10D-7FCE-479A-A7F3-F687561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950336"/>
            <a:ext cx="252117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AI 辅助判断 · 最终由负责人确认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DE668-1D16-4405-810B-740E343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321096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0F8C8-E246-4434-9216-77C5113E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5436444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项目评估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40C4CF-33BC-48E2-A2C9-FD88B3C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5625944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rPr>
              <a:t>全程留痕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FE37CF-68DB-4837-B89E-E8C5223F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5469401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8BE9F-C1C7-48AB-AF52-F34D37E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5436444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财务测算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7E084-8D10-455D-944A-307FE88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5625944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rPr>
              <a:t>可复算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DBD56F-6C5C-4283-A07D-22E29F9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136770"/>
            <a:ext cx="2817781" cy="601456"/>
          </a:xfrm>
          <a:prstGeom xmlns:a="http://schemas.openxmlformats.org/drawingml/2006/main" prst="roundRect">
            <a:avLst>
              <a:gd name="adj" fmla="val 24658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5B2603-E822-479B-918C-AD61CAC1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243878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我已阅读并同意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5B641E-9A7B-44F9-A2DA-0C299BAF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58096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《用户协议》与《隐私政策》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14E6C7-63D8-4649-B35A-05D2532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286" y="6326270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2C6E5A-0758-4563-9FD5-EEEFAE67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49" y="6350987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18113-95CC-4614-AE64-A509B01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EBAD74-E485-4C9C-983A-D2304E8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微信安全登录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2E71D-FCE2-4EAD-A1DA-F2B75EA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EE39B9-6EB6-476B-AC68-6F3A92B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先看看成功案例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D6EAD3-34D8-410C-9D13-E67ABF58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FFB4A3-507C-4481-B1D8-B5126EA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4E7316-B88E-46D0-BEA8-CF7F2F6B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S02  选择客户空间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9E47AD-46BD-4225-826B-E3E9184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B7835D-AE65-4671-A36A-866B1EA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5D9FA2-6632-4A67-BEBE-E1B3EC98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5DA650-1582-4D62-832B-AC199805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FEC5FA-65B6-48FD-BC4F-1EDEDAC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110D93-B6B3-4459-B540-0D7C240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EA761E-D9F3-44CE-923B-4CF84471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9B8E6E-9D63-4711-8158-7BEF73C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630B45-B1FE-430D-860C-1796C5A7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D57DED-9B34-4AB5-B940-17AA9AE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890487-460F-45A2-9113-6014317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3D9664-4184-4711-AA95-BF7AE29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428612-3D91-44A7-9165-8CB7874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选择客户空间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01EE20-7EB7-4209-BD81-712D2505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49B57C-563F-4241-9ADD-181EDEC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5C7DC5-1D5E-4F79-BAC5-0073C8F6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FE6BAC-60D6-4138-A0C1-D5B879FB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D855E1-9FC4-4478-B46A-4E0AA72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3A9EE4-3537-4522-BEB4-0882771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F27E5A-BE31-4329-A473-494015E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2F9BCF-D96A-4532-A5FC-26BA8BF5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你要进入哪个客户空间？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4CAEB7-84DF-490E-8CE2-B9766C3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项目、资料与 Agent 均按客户隔离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B476B1-A2C6-4239-A4C9-531F9F77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你的客户空间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B4C79E-AF6B-4849-9F2C-F9B027C6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068749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4D0EF0-8B68-4BE6-8176-7A9B1F14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175858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星河演出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9A7B29-2CB6-46C7-B237-4788745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381836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客户管理员 · 3 个进行中项目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F30689-8866-4569-BB61-8A540F1F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258249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当前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F58076-CDC1-47CA-8C53-4A2B00D2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629010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7D35E9-A2B2-4749-98DC-EE52196A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736119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南岸文化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40B48E-A63D-4F37-ADB8-48749B2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942097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项目成员 · 1 个进行中项目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748D4D-48B9-48DE-938E-9B9F29F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818510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进入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000BDC-ADDB-4D04-96F8-864C942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288140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02B5F6-DA8E-4B2E-8C6E-EC71F82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419966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每个客户空间的资料各自独立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3408CB-76C8-4A59-A313-C6E68401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68197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项目、草稿和私有资料只在所属客户空间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EF0E2E-47A4-4D59-9B6C-A1E83E65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84345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内使用。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3A36957-0083-4266-B008-41A83EFB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087335"/>
            <a:ext cx="618017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88D10B-C5EB-4B7B-AECD-C89A6B9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6112052"/>
            <a:ext cx="48619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租户隔离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BFC543-F41C-48E4-B096-758D612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499291"/>
            <a:ext cx="2817781" cy="39218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B191CB-B538-4DDA-8DB7-864D9BC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581683"/>
            <a:ext cx="24717" cy="227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BEBF7C-776E-4E36-B5B6-04C7DE3D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61463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没有客户空间？请由客户管理员发出邀请。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94C7041-A202-4481-B444-044951B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A93C54-83CE-4BE9-9147-930DD0A1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进入星河演出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6E8F3C-8109-4E0A-BB82-6711C085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2889724-524D-4116-9DFD-25C50227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申请加入其他客户空间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850CCF5-F4D3-4C90-965C-E22DE3E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A1DABD7-74D4-40A2-A49B-EB24197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3D5853-FE82-44EB-85A7-3560006B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S03  隐私与授权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98E6EF-A03F-4CEC-8731-4760B2A5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991F84-03F2-49DE-B110-0D69607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A34107-E17D-4BE7-8BC4-2B65957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0D805B-1376-4375-8BFC-A2A7E8B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46BD6F6-1F93-4E5F-BE2A-17E8410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B016D0-4008-4A0B-A0B6-47D94D3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6673195-1857-43BA-A9BE-E9085C03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38C8A5-8B38-4D0A-A6AA-274B91C4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A5BEE6-930F-4C80-9067-200F0A9B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0A4B25-B287-4982-9585-0403B6E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89ABB7D-AADA-4D30-B2DF-027ABFE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41D8C0C-4D8D-4B1C-BD58-9AF04B8A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B822017-281B-48E9-821E-95BD0BA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隐私与授权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25A0BDC-C3F4-4D92-AEA6-E762EE6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C99CDA-E2AC-4CAB-BE1C-78719B54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0D2240-E89C-4B5E-AC00-007A919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216189E-1C04-4791-9CFD-9DA1FBD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7EC1FC3-EED8-40F9-8251-C7A0631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F2F6237-70DC-4FBE-8D54-91BED079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BD0C2F-7AD5-4F42-ABA6-EE4247FC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11C8F34-430D-4D89-AC45-D462309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确认资料使用范围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0D5B408-7536-4304-A156-5C84124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星河演出 · 首次进入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D25CB94-F0BC-4D6E-A604-89D0985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804368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B1A34E-369C-478E-BC39-1079749D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3862771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用于项目评估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59BFA18-57B3-4DAD-A1A5-B9ADB74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076989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读取当前空间已授权资料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15F9C30-59A7-417A-B407-75784320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3945163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78AC5B1-4741-4725-B082-48B0DEA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149" y="3969880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AC4C21-B01F-423E-ADDD-C2D221C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357119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A4BBBF2-5AB9-4611-B697-2865A96C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464227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用于 AI 辅助解释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5079348-764E-4D1D-98E8-69C1461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78445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仅发送完成任务所需内容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4E00F3E-C354-43B7-9718-EC4898D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4546619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E73297F-C6BE-47D4-B353-6033676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149" y="4571336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7A84C10-E0F9-4461-8C4C-83F0852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9585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812DE43-B005-4D01-B1C7-A30DFABA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6568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用于跨客户案例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8CAF29-97F4-4AF3-866F-3DE83FB7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7990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需另行匿名化并再次授权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5959B04-9DE4-491D-B057-9D7B5AEB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514807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F7F2FD7-FA2A-4381-A1C6-EC2C0DEF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323" y="5172792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13D89C4-5F4B-4696-9708-26D4D15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658901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34180F0-002E-424C-A024-92D9ABA3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790727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你的私有数据不会跨客户使用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08F8F03-3E7E-452F-B0E0-BA20CBC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05273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项目输入、成本、合同与负责人决定只在被授权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541CB6-70E0-407F-ACD8-F6361461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214218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范围内可见。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0F7ECBE-46E7-4EF8-8138-9A322A1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458096"/>
            <a:ext cx="81987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1FE4BFF-8480-4359-B3DB-283B9F55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6482813"/>
            <a:ext cx="68804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默认最小权限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58F01A0-5B3D-4A33-9A9C-604A9A5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870052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5A54912-A18C-4A0C-8DE5-231A752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52443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C3D8132-4C8F-4C33-AE2B-C20632AB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9854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政策审批、艺人授权、场地安全、资金拨付和合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77FEABA-4861-4053-BE7F-5987D8C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146887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同责任仍由人工确认。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6938377-075F-4BF9-80E4-1C5E10E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5897B27-876B-4981-BF60-067A04E0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同意并进入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FF7BB96-FC77-45B5-B027-36C475F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B0FF9D5-1F39-470C-A180-10DE8EB3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查看完整隐私说明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E01E529-84C0-46ED-94CF-32C7249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7616CEA-E9F1-498C-BAF0-859A4F0D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1267079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41A44C7-2539-4221-8D22-A2C4A8BE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46E2C-6DBE-46EB-9122-FACC883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867DF-F9F6-4B9C-A19A-0A786CC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发现首页与案例入口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BFB8-441A-4BA5-A40A-5ABF9CF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先用案例证明价值，再引导用户发现项目机会。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B7F56-F708-432A-B2E8-F33FCFD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4138D-43B2-4D84-92EF-434E447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98208-20AE-4EBE-B271-0D86320D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125FD-2CD7-4AE6-853F-F9271038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S04  发现首页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AE1E2-577D-4619-B0B6-76D420E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70D1B-CA12-4B4B-A0F8-4907C2B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00B7-3F69-466A-B79B-F0251E7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8205D-FBD1-4245-BA69-9476C204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1175F-EECA-46D7-BE7A-121F98F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C8EE8-575B-4EB1-8678-C7DD5E19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55582-BFC5-4553-871D-E96E86B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49B9F-EF50-499F-A2B8-57DAAD0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B08C7-9CB4-4564-B491-C3B9E05C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8CE12-D741-4D3E-941F-BDEBDD5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2C370-F181-4A39-9487-7A01CCD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EAD75-A7DB-4800-BA52-9BEA989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290C3-34B6-405B-86C6-76727BB9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164D5-B39C-44A7-835D-8A7B28F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833F0-5E1C-4945-B840-C0D22EF9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33744-4AD3-4A15-973F-8FFB0867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CE520-6CE8-49C2-BABF-6BF47421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8EEF1-070F-4219-BE76-B813C0D8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04BB0-EC17-481F-890A-45C999C7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找到下一场好生意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76EBC-2861-4AB2-9CE6-D125C7B4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案例、城市与市场机会 · 数据均为产品示例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E690F-A3F4-4E08-8E07-0AC4C2F2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53" y="3755663"/>
            <a:ext cx="2477902" cy="128966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C6AD7-C960-4F08-BAED-52C7DDE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69" y="3864343"/>
            <a:ext cx="2217070" cy="11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PROFIT WITH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95FC3-6EF4-45BA-B675-C8C39ACA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69" y="4052721"/>
            <a:ext cx="2217070" cy="253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一个更接近盈利的项目组合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66A0D-BC0C-4EBF-B59D-67A0D0A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69" y="4357025"/>
            <a:ext cx="2217070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从艺人、城市、档期、场馆与成本共同判断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94EFE-B85E-4145-8AD5-CD19D6A0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969" y="4596121"/>
            <a:ext cx="1557745" cy="344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 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3932D-7999-4FBA-9FA6-0B34DD21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789" y="4784499"/>
            <a:ext cx="76075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示例 · 中性利润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B9BC26-B762-4559-8234-A4E8C8C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53" y="5132275"/>
            <a:ext cx="2477902" cy="1528764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45">
            <a:solidFill>
              <a:srgbClr val="3B30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6CA98-37D8-4288-A6B0-FDAC696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5226464"/>
            <a:ext cx="2246052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示例项目收益曲线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6FC864-1863-4E3A-B554-1EB4CD88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0593" y="6371226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1E17ED-499C-4630-9DEC-CDFF046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271" y="6306018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3F3E6-E842-403C-BFE4-FE2D07D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0593" y="5947374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41DD88-027A-40AA-8D08-F751896A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271" y="5882166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248AB1-CDF0-4073-B975-BFBFBAE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0593" y="5523523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43DF8B-A96C-497F-9A0A-0D72F87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271" y="5458315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9CCFD3-BEAB-47B4-BE02-ADF01E9B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60593" y="6206466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130E27-A736-4FAE-BDD4-5E355F4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54739" y="6057644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390455-A6D7-4974-B182-C1F3F55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8885" y="5908821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2AD741-EC8B-4BCD-B1A7-629FAB54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43031" y="5759998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A6B2E5-2542-4E5B-BF3F-842F4CA7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37176" y="5611175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5BFDA-CFE6-4749-B44B-02A2FE6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857" y="6333553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A87708-09EC-4A2D-811F-D937DAB7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51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C4EE80-6E4A-4D8F-979E-0BFABF81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003" y="6184730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EFF378-5681-41CB-909B-BD0060E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096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5BE3E0-88F3-4670-B3A6-D9F67742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149" y="6035908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CE754F-BE30-4D6C-982F-EDB7092E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42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AB072E-3126-4EF4-8C39-6AED49B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295" y="5887085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549868-CAEF-48FF-B207-7E36FBC4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388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BF7B76-4D11-420D-B65C-E813254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440" y="5738262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43FCEC-6735-4F30-8290-D6EF24D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534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1E3407-F1F4-4B69-B843-E58B26C4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586" y="5589439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9838BA-C395-44DC-AA34-C054BED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680" y="6421943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350E4C-2F7D-482E-A839-37745F5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80077" y="5523523"/>
            <a:ext cx="0" cy="8477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FF8174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373E28-80C9-4647-96C7-1E825FCC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059" y="5501787"/>
            <a:ext cx="688306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F1080C-8E68-4FB6-9B0A-9FACFCE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084" y="5393107"/>
            <a:ext cx="1086799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3D1BFD-C2A8-4E77-854B-AD179C58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6508887"/>
            <a:ext cx="2246052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调整票价与上座率，实时查看盈亏边界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B04CAF-4F2A-4B64-BA5A-09B8801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553" y="6747983"/>
            <a:ext cx="2477902" cy="985365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45">
            <a:solidFill>
              <a:srgbClr val="3B304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94C274-E24C-4EC9-86DF-AB95EBA0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6842172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城市剧场项目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50CD7C-3C05-4267-BE45-A51ED8F2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7023305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通过缩小规模降低资金风险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98A4EC-B1FC-4C53-8C25-D3944AA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413" y="6914625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ROI 18%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DC8487-48FB-4215-8F7B-3ADF1D2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0479" y="7240665"/>
            <a:ext cx="2246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BD54CE-1B2A-4802-BFC9-BB1DEF97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7334854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音乐节组合项目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2E2122-F31B-43C8-B934-1A5B19FF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479" y="7515988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通过档期调整减少同城竞争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3BBA76-A1A2-445A-8FF2-941D0C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413" y="7407308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回正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7F0694-37D8-4954-8C9F-ECE89D0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A35CF3-21E5-4014-83D5-A0A2AE0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开始评估我的项目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687318-734B-4699-AD2C-564DA83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FD5A50-7D27-475B-A04B-DB25838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浏览更多案例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3ADC77-DACB-437A-9CFB-EBF707A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2802A51-ED0E-4904-8247-FE96AE66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80350C-07F9-4FF6-9ED9-C2CCC9B9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7772AF-C635-4381-8495-97A18BE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045FF6-BA00-461B-B25A-0A45339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8ED49C-5300-43B4-B0F7-4D36D4D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817060-B260-44FE-B3A3-7C68A84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B9C813-2B3D-4A56-9927-CDB7420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5D2E4B-7C6B-474E-A65A-DA21446A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FEEC70-CE60-420A-B1F8-8E88AEDA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79A125-CDF7-4035-A113-CADD8B6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CCAB73-A4CD-4A71-B235-3079B30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E9826B-CE77-4678-9622-E3EB853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3F0D9E-B25D-4BB4-9D59-3176B246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D10DF2-C1C2-4D10-99DC-F6733982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696039-CEFA-4514-B00C-4645269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371EC9-1F22-47A0-A994-2635FA39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4089A6D-DD24-429B-8532-72C0F89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29D6C1-3562-4764-B2CE-71CBB145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46B88F-C7DE-46B3-BB82-80F2F5E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D1396AD-81C0-42C0-9433-5142ABF2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DB8D49-C174-4786-836C-3D2D89A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S05  已登录首页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926097-7B08-4B12-9A72-2989CF3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2AD52C-10C2-4FEC-8917-E1735655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20D3AA-88C6-4D0C-897A-663FD873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151206-64AF-4905-8242-2E3034CD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FF1C86-51CB-4B21-B451-FB0F6761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ABA43E-7542-4761-BEF3-5EF9DE5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5B07FA-DD39-4506-B238-FA77DCC4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269BAD-DB8A-4495-A389-A7FC713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78244CD-9884-4B0E-9371-4FC08A11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3664105-8169-4B98-9D53-06DD8421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6C9566-1AD7-4BEC-9811-5A9E7BE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A0EADC-3D0B-465B-9B35-5C49B43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F7A1CE-17EB-4EE7-B5E0-ADC7432A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B179C1-124F-429B-B60A-FC66BA9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9818AF-ACFA-484C-8274-88C44A5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00BE10-D1F2-4E6E-9B01-E4A7A47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80FE175-4CD8-422B-8D4C-60455737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9C8E87-DFD3-4755-BE73-61B97329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EF499B-C4BE-4D7B-93B0-6998ADE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今天，先做好关键决定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6848011-163B-4BBE-A503-6C5F4E8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星河演出 · 基于你可访问的项目与资料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0D7AF5D-7B5E-420A-8739-F2A2AC81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79" y="3755663"/>
            <a:ext cx="2462651" cy="128173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BE956C-B7DF-4185-8393-1168096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3863674"/>
            <a:ext cx="2203424" cy="11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2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YOUR DECISION DESK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BDD8F7-EA8A-46C1-9FB4-60D8AF0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4050893"/>
            <a:ext cx="2203424" cy="252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7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17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星河计划·南京站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0FECF3B-6FC5-42B5-9FBD-24550F5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4353324"/>
            <a:ext cx="2203424" cy="14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4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94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资金与场馆条件更新后需要重新判断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D5EBBAB-3B27-4C45-B1E5-86AD67D8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4590948"/>
            <a:ext cx="1548158" cy="342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28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28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2 项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BA7D8BC-5998-48D6-B24B-1944C95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338" y="4778167"/>
            <a:ext cx="756077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0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关键条件待处理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A0FD313-FF0A-4DAB-8E9A-340E368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79" y="5123802"/>
            <a:ext cx="2462651" cy="62646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01">
            <a:solidFill>
              <a:srgbClr val="3B304A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0D3B4E1-5795-4849-B7A3-616A478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188" y="5224612"/>
            <a:ext cx="1058508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中性利润示例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9E66558-470A-47C3-9BA1-EF71BDD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188" y="5390229"/>
            <a:ext cx="1058508" cy="231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4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defRPr>
            </a:pPr>
            <a:r>
              <a:rPr sz="1304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rPr>
              <a:t>118 万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8AF139-CDC1-4810-A629-0245E47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36104" y="5253415"/>
            <a:ext cx="0" cy="3672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1">
            <a:solidFill>
              <a:srgbClr val="3B304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F89D03B-E692-45C7-AB76-F4C4F5EE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513" y="5224612"/>
            <a:ext cx="1058508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保本上座率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3CFDD5-1641-48D8-AC69-D26C1FA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513" y="5390229"/>
            <a:ext cx="1058508" cy="231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4" b="1">
                <a:solidFill>
                  <a:srgbClr val="F0C476"/>
                </a:solidFill>
                <a:latin typeface="DIN Alternate"/>
                <a:ea typeface="DIN Alternate"/>
                <a:cs typeface="DIN Alternate"/>
              </a:defRPr>
            </a:pPr>
            <a:r>
              <a:rPr sz="1304" b="1">
                <a:solidFill>
                  <a:srgbClr val="F0C476"/>
                </a:solidFill>
                <a:latin typeface="DIN Alternate"/>
                <a:ea typeface="DIN Alternate"/>
                <a:cs typeface="DIN Alternate"/>
              </a:rPr>
              <a:t>63.2%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43B1944-89F3-44A3-A932-969453B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79" y="5836674"/>
            <a:ext cx="2462651" cy="9793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01">
            <a:solidFill>
              <a:srgbClr val="3B304A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89DB05D-38E2-495F-B9C6-69BDDF3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991" y="5930284"/>
            <a:ext cx="1569760" cy="151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补充场馆正式报价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BE19F18-364A-4916-8F53-ACAFE05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991" y="6110302"/>
            <a:ext cx="1569760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将影响固定成本与保本线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784B57B-23BF-4273-AA29-A6FA1F2A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758" y="6002291"/>
            <a:ext cx="576059" cy="14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4" b="1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794" b="1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高优先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000B24-6358-4AA3-9C47-32D06D4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9991" y="6326324"/>
            <a:ext cx="22322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1">
            <a:solidFill>
              <a:srgbClr val="3B304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1BEDB09-AE46-4461-BF2E-A0A8EF2C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991" y="6419934"/>
            <a:ext cx="1569760" cy="151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0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核验艺人授权范围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F48DD3C-FAFC-4F7D-9BA5-630B410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991" y="6599952"/>
            <a:ext cx="1569760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0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商务负责人 · 明天 12:00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57B2799-A270-462F-BAB8-04AD8A5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758" y="6491941"/>
            <a:ext cx="576059" cy="14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4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794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9180168-C93A-496C-BF1D-FEE805D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779" y="6902383"/>
            <a:ext cx="2462651" cy="830965"/>
          </a:xfrm>
          <a:prstGeom xmlns:a="http://schemas.openxmlformats.org/drawingml/2006/main" prst="roundRect">
            <a:avLst>
              <a:gd name="adj" fmla="val 15598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01">
            <a:solidFill>
              <a:srgbClr val="3B304A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2031E68-FE46-4D2B-A284-05285D56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7017595"/>
            <a:ext cx="2203424" cy="171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4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64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Agent 今日建议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AB148B-A96E-4432-BD9A-E443059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7246578"/>
            <a:ext cx="2203424" cy="14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4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94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先锁定资金与场馆底线，再讨论加大宣发预算。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60FB29A-806D-444C-87ED-0D99F4E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92" y="7459720"/>
            <a:ext cx="919174" cy="1872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02D8F20-3037-49DD-96EA-1099BF3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98" y="7481322"/>
            <a:ext cx="803962" cy="120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0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680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依据 4 条项目变化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D2F68A6-F643-4E73-9AF4-6E7065B2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6BC0319-3FB0-4245-966E-EFFBC64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继续南京站判断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138BC74-A7EA-490C-B144-E94DDC46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F12A162-E374-450D-A5D0-09FEC5A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创建新项目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F4C24F8-EDBA-4F09-80FA-B5C8706F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365C9F6-E5E8-433E-BCD5-E6B44E3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2594675-3BBA-42D5-8196-8E2A7C2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F85E912-BAEA-440E-9FE6-7231DEA0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D2845D9-0A88-4606-822C-63C6567F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63037E7-203A-4539-893C-2F9586F0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599BEA7-A2D0-4C03-A94D-0BB37EA4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2A624F8-5BBB-4CF6-B7AF-79AAEA2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5D094A5-0735-4D28-AF8F-985DD82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E0C41BB-FB75-42F0-AE1C-60BE2EF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C6777F8-1D87-4ABB-94DD-F99E210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01BFCEA-3BC6-4BF4-B4C0-6EEC6E1E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5381A8-44BE-4DBA-B14E-9D3ED04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7CC437-EFEF-4C0C-A87E-E64E290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E08C613-10FA-43DB-938E-DBE8D9E0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6D46FB4-C9A6-4F66-ADB6-41E0ACCC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22C383F-FAEC-4178-98AF-E65CA0E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EFCABCD-BD24-4BC1-BE89-381C62B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0FAF3D1-9088-44CE-B969-60688BD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B0FE541-9E9A-4ACD-9348-80A2F1D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1825EF8-BE62-4E51-A930-54468A0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B79BD8-FB54-4B1E-8358-87B059EB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S06  案例库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6A38DF0-AB68-4782-81CD-20D6EBE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12C38A1-5217-48DD-BC61-6E26CD8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94FF791-B9A8-4B56-B20E-42FC66FF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59DD33B-4A08-4571-90B8-DF18487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E3E71BD-2E94-4BA6-950F-292F369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7581C43-B14F-4F31-89C0-598B5C3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9B4697E-7615-47BE-BE5C-3E47A5C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78FFF96-44ED-407A-B61D-C3336BA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7B4FC76-8F30-409C-B573-CE7E0B9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8A5E1AE-3AEE-437E-8388-23B0C4F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C0761D6-D486-4072-AAFC-2551C2C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30D25E8-9A4A-445F-BBB8-928D8180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FBF5A7A-93D1-4B09-ACC4-F90A7BF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071A352-83E7-425C-B0A2-239510F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41554CF-B0E2-41C1-915B-DA5C7C2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AAE8E3E-87FA-47D8-BD24-8C7B6121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A89F981-35C4-438C-B5A6-33BAFD6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EFCA8F9-8492-4C54-84D9-9D1A1D0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F2B0BA7-E059-4C93-9EF4-05847CD8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看看类似项目怎么做成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AB4C15A-4BB9-4344-9FF1-3454367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仅展示你有权限访问且来源可追溯的案例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AF12F44-DF95-4D1B-AD43-9AF0739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15D11BE-318C-4E91-99E1-C7FEAA8C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771" y="3788619"/>
            <a:ext cx="638532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8B6ADE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87CA8F9-0FC9-4C6D-8012-861372D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249" y="3854532"/>
            <a:ext cx="605576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推荐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2323458-0337-4817-BD97-8C4A62E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694" y="3854532"/>
            <a:ext cx="605576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同艺人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30CB7F5-8B20-4DCF-A8D5-73220CA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8139" y="3854532"/>
            <a:ext cx="605576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同城市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CA985CB-5AEA-44F4-8B64-F22417F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584" y="3854532"/>
            <a:ext cx="605576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同规模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2B196C7-4482-4AEC-950D-E8C0C219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225293"/>
            <a:ext cx="467653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908659B-F67F-4560-B5F6-CE596E4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727" y="4250010"/>
            <a:ext cx="335827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演唱会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07E94B4-C1D0-408D-BE73-D4DEA05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901" y="4225293"/>
            <a:ext cx="428434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7ABE677-2983-4874-8017-ABFD0BD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814" y="4250010"/>
            <a:ext cx="29660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FFECD99-F790-4142-B176-FD61641C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771" y="4225293"/>
            <a:ext cx="742263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DE40802-6DF9-46DE-8A36-53AFF4D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0684" y="4250010"/>
            <a:ext cx="610437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8千–1.5万席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F355F4D-CC6B-4BAF-BFE7-B3B314A7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468" y="4225293"/>
            <a:ext cx="467653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38A344E-8852-4580-900C-32E8DE98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2381" y="4250010"/>
            <a:ext cx="335827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已结算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EEDFBBC-C4F7-4600-B438-72BA18A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79575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8ACC822-9207-4675-B212-E0E352F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8668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华东万人场案例 A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9096CC9-581C-4338-AF29-9DBBEBEA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89266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南京 · 12,000 席 · 已核验结算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6805557-C199-4C39-9805-EE5E621C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476907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盈利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8AC7BCB-54CB-417B-972C-A6B3647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13983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8423364-4C51-41ED-8E19-06804858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4694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华东万人场案例 B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DE49EDE-47DF-4D54-BCAF-7983AC79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45292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杭州 · 10,500 席 · 已核验结算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5968034-C555-4BC4-9382-F58FB6C8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3293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保本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DBAAAF3-584B-4FD8-9305-465822D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70009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DEB6DCB-F350-4EAE-9D14-FFAF438A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07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同档期案例 C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2D58A6A-6268-404F-9F0E-9B3FC15A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13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苏州 · 8,000 席 · 部分资料缺失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AC1BC94-FA03-4D86-8622-3240068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889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参考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5E504AA-5C3F-475D-8194-549E0FE8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359226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C5382B3-C2E4-4ADC-9148-85EE993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441617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AA6FF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2D53870-EA4F-4337-8AE0-9646F4B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474574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案例利润、艺人费用和合同信息按可见范围脱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7C70B98-259C-477D-9025-EF1E95C9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636061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敏；未核验内容不会作为正式事实。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077C5E3-822C-4481-B1C5-61F34709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7FDCD46-ABFE-4EDF-BFB5-113DA891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用筛选结果创建项目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566C46F-40A1-47F0-A125-9A542BA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872B182-B62C-4AA4-93AF-4A8CFCDE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搜索案例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36F1773-ED24-4698-A529-C807D316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D9FAA78-4CB2-40EF-B2E9-4946F10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A23DAA0-59A8-4540-8A75-AC8959BC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42E2261-C42B-4BBD-A1D9-0BA98387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A013CD6-47F2-44A9-8C13-618385E9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BAD66A6-209F-4D03-ADBF-7B1DC215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5738BD2-6A07-41E8-9B2E-8DD136F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F71A436-3047-4D99-853F-3630674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BEBEA5D-40E8-47C4-AA4A-D1A76DA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6B49CE5-7060-4CD9-87FA-687430E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F1CD766-3CD2-4637-AC88-2B15D988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94F40F7-53E0-4254-959A-632944A7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928A3A3-AC4F-49BF-9E5E-C3C49EA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8C99FDE-D925-4E1C-ADF8-8250A446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F3BB6A2-BE7A-4B5A-9EC0-3402EA6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00C0033-FE52-4A24-972D-CA753D50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7E02AC8-10AC-4200-B912-6DD946F6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C7C38A3-25DC-43A2-A87A-F5AB987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9C745BD-7129-4CA7-A2FF-EF68C0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608E0644-F7A7-42EF-A772-BC7B8B5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C4BC0C8-4FC0-4385-B030-5514D37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</p:spTree>
    <p:extLst>
      <p:ext uri="{BB962C8B-B14F-4D97-AF65-F5344CB8AC3E}">
        <p14:creationId xmlns:p14="http://schemas.microsoft.com/office/powerpoint/2010/main" val="1269202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914C56A1-D368-4873-8508-D1D1B51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B5862-08B7-4B68-BE22-06E7F8E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C8CA7-1998-4C6C-8760-0DEED151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案例、机会与搜索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71C8D-53BA-4AA3-9B38-93C70AC7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把结果、依据与可迁移条件放在同一条阅读路径。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2DED1-8E6E-44BE-A85D-856C721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C3EAA-D86F-4D11-935D-D64B5623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665D-1891-44A4-A624-AEFA435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660F2-F9B8-4C2F-B8E6-41ECBB3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S07  案例详情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FDE99-59F6-44C0-BD68-61793D87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A961B-B678-452C-803D-77589A85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0B2DE-251D-4921-8B25-F3A30FED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88E5-8CAD-496D-940E-85AAD3B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4E821-CE80-4B91-9CE9-5043E27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FB4CA-8EB4-4EAF-9687-3A12B35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3D681-0BE2-4933-8214-882E9EEB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51B9B-DEA1-43C2-A73B-896F2B81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91F03-B0D9-4926-9138-787E9AC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1736E-0A7E-4CB1-B01A-36551F0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76177-6CB2-477A-8C93-3B0BDD3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DECA6-6BDD-4417-B9C0-CB47A489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583DB-2CAB-4E68-B9EE-5323AA9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F5A4B-DBA2-4F77-B447-33171CC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D556B-0519-44B1-87DD-8B518B2E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2AD2A-A56F-4A76-A167-EDF5201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637D8-1427-4C08-91DD-ECA1BF4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FD20E-8C83-4187-8190-FDB6A7F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74AD3-E24A-45F2-952C-765D3E05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华东万人场案例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91627-0539-4740-AC76-C26D523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已结算案例 · 信息均为产品示例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DADEE-07E1-4988-8915-B473908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379" y="3755663"/>
            <a:ext cx="2586251" cy="657906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562">
            <a:solidFill>
              <a:srgbClr val="3B30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DD655-540F-476E-BB85-7F612ED9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24" y="3861533"/>
            <a:ext cx="680592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可售规模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C2A44F-6D6F-44CF-AB11-FA7F65E3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124" y="4035462"/>
            <a:ext cx="680592" cy="243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defRPr>
            </a:pPr>
            <a:r>
              <a:rPr sz="1370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rPr>
              <a:t>12,000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23D21-5BD9-4469-91BD-2EA6CF83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2462" y="3891781"/>
            <a:ext cx="0" cy="385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2">
            <a:solidFill>
              <a:srgbClr val="3B30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6D13E-D0F7-4925-AEAB-6090B941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208" y="3861533"/>
            <a:ext cx="680592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最终利润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E7993-271F-4334-AF0A-D23EA93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208" y="4035462"/>
            <a:ext cx="680592" cy="243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defRPr>
            </a:pPr>
            <a:r>
              <a:rPr sz="1370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rPr>
              <a:t>105 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25F150-03CF-41E6-98AA-B3E6728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4546" y="3891781"/>
            <a:ext cx="0" cy="385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2">
            <a:solidFill>
              <a:srgbClr val="3B30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BDFC9-2298-42E8-8815-FD3E6663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292" y="3861533"/>
            <a:ext cx="680592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上座率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70BDCD-933A-49B2-8C81-FFD6AC0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292" y="4035462"/>
            <a:ext cx="680592" cy="243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defRPr>
            </a:pPr>
            <a:r>
              <a:rPr sz="1370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rPr>
              <a:t>79.2%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0041B1-8392-431F-BC1B-150FA0C9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379" y="4504314"/>
            <a:ext cx="2586251" cy="1595611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562">
            <a:solidFill>
              <a:srgbClr val="3B304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C486D1-ADA2-4D80-B436-3A827D3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4602622"/>
            <a:ext cx="2344263" cy="15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预测与实际结果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3F2B83-CE54-43B3-A786-8158C436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935" y="4784114"/>
            <a:ext cx="2283766" cy="105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5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95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0CC8FB-E7E1-496C-BF7F-D7E14B0D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935" y="4950481"/>
            <a:ext cx="325172" cy="137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4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4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E205A1-0F9B-40D0-A902-285EB39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604" y="4965605"/>
            <a:ext cx="1845162" cy="907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E920CE-9F98-4107-8805-89344CA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604" y="4965605"/>
            <a:ext cx="1604488" cy="907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A6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83693B-DF62-4C8A-9BA0-B54DCE3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280" y="4935356"/>
            <a:ext cx="325172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5" b="0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118.19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9C8199-12AC-432B-BDC7-FEC63206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935" y="5230280"/>
            <a:ext cx="325172" cy="137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4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4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实际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691932-C266-4367-A464-8C0DD7FD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604" y="5245404"/>
            <a:ext cx="1845162" cy="907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B7DBF4-D895-4250-B92B-F68AF80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604" y="5245404"/>
            <a:ext cx="1425404" cy="9074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DB805B-2D74-4576-BC03-3C40943C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280" y="5215155"/>
            <a:ext cx="325172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5" b="0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105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A4F690-940C-4697-AC1C-77C9365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5941121"/>
            <a:ext cx="2344263" cy="105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5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95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预测利润 118.19 万 / 实际利润 105 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F57413-3887-469B-89C2-D14BA7A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379" y="6190671"/>
            <a:ext cx="2586251" cy="1542676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562">
            <a:solidFill>
              <a:srgbClr val="3B304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D99363-4BBD-427E-8E9E-BE42B4F0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6288979"/>
            <a:ext cx="2147647" cy="15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成功条件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819E0-0EE4-4D98-A093-91D0C1E7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6478033"/>
            <a:ext cx="2147647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艺人受众与城市消费人群重合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ACA7F4-0654-4C39-84BB-2CCF9E9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328" y="6357038"/>
            <a:ext cx="105870" cy="232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1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131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B71C74-5422-4A60-A7BE-C56F9DF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01373" y="6704897"/>
            <a:ext cx="23442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2">
            <a:solidFill>
              <a:srgbClr val="3B30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CDBB12-35F0-4C2F-91F3-708727B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6803204"/>
            <a:ext cx="1648546" cy="15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主要偏差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2526E4-9BC0-4F6D-89ED-1AC2371B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6992258"/>
            <a:ext cx="1648546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临时执行成本高于预测 5.39 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C8EAF3-7298-4AE8-A5DE-1216EEA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540" y="6878826"/>
            <a:ext cx="604971" cy="148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34" b="1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834" b="1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+5.39 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E16228-4A1D-4A1D-A4E2-EB5533A3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01373" y="7219122"/>
            <a:ext cx="23442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2">
            <a:solidFill>
              <a:srgbClr val="3B304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9CE7C2-09CB-43B4-AC63-B9BE2E83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7317430"/>
            <a:ext cx="2147647" cy="158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可迁移经验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1A7F36-96F5-4AED-900C-429057A5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73" y="7506483"/>
            <a:ext cx="2147647" cy="12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场馆容量与票价带适合万人场项目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0CB087-BB2F-4F4F-9FCB-E69CCFC8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328" y="7385489"/>
            <a:ext cx="105870" cy="232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1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131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C1C464-748F-49BB-B07C-807C084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369583-A84C-4C0C-82F9-97D748A1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参考此案例创建项目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3C09A1-7F2A-40D2-BCD9-A242C273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0E09AC-3218-4784-A003-8B0AFAF2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查看完整依据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673613-DA82-45F5-A471-51C15EA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D3F8F2-C552-439E-9ECB-809CC06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51E640-41A0-470C-BC09-AB37581F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CA4F11-3742-4608-B84D-F6CEF11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5C9BF1-79E5-4A97-A9F2-CC823214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1008AC-C42D-4105-A2A3-C0781F8A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C8B22A-AE57-4F0E-B9BC-A7BD0DE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25898C-1BC1-4893-AFA8-300F8B43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E8CFFB-78CD-4240-9F9F-10FB74A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0A7D13-C3B2-464E-9A58-E39583C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EA64A88-47E2-48E8-9B68-37DA791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AC578C-B883-4978-8DF1-790173CE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ED4345-283C-46DB-8A0C-DD7D7F3F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F9C3F9-CD98-499A-BC48-EFA18A6F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9E83399-C6B4-430E-82A6-6BAD62F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0D8F8D-7A28-44AB-B199-47463190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8F97B2-348B-484B-A7D7-E430DE9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75BCA7-9716-4400-BB9B-F68F9B2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824AD9-C2A3-4680-868B-63D7B4B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CB15B43-D815-406A-90AB-48B5C07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547C9F-0395-43BE-AA56-F24945A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DAFF14-35C8-4111-95B9-9246C980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S08  机会详情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D3863FD-1156-4D11-ABF8-6D5241A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66875FF-CBC5-458C-8F58-55EF8A58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8B0FD6-FAC3-4509-A97F-394C9F44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49E850-7A6E-4679-8888-FE9D096D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151EE01-82AE-4AAB-87C9-01C8F4B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E0D0DD1-BEC0-497A-AB1C-44E9899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32D784-5C65-4137-B20C-0CD01C13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8BD52A-412F-4B5B-9833-C2E92E3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36B08F-999A-41F2-BA35-E6587B9F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C9ED75C-2DF4-4BA5-A3BF-47D72FE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8FB1B9-D34C-4388-8A5D-2605F1A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4C362F-2FF4-4F03-86CC-4F515120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9E0D1D-DF8A-42B8-9C26-3465B91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4065AD-02AA-4247-AB28-DC0B42E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684FC2-F3EB-4D46-ACB4-21C6B73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B4B241-37E9-4CF9-8F56-40567FF3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C07A89-C232-4B7A-83E3-B288C40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D0629E-511B-4BF6-BC96-A14B178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875AE0A-68DA-40A8-9268-F06D4D1E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南京十月万人场机会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B23B46-81EA-4528-859C-0D53B04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系统发现 · 尚未形成正式项目判断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8CE28F-3F4B-4B5C-B122-FD048D5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3755663"/>
            <a:ext cx="2477902" cy="128966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74A4550-4FC4-45CF-A026-F4036256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3864343"/>
            <a:ext cx="2217070" cy="11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OPPORTUNITY SIGNAL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E61F976-236A-4A1A-91CE-0773417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052721"/>
            <a:ext cx="2217070" cy="253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艺人 A × 南京 × 十月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193AA8-18BE-426A-AD71-58B6477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357025"/>
            <a:ext cx="2217070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历史案例与当前资源存在组合机会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E95E35-C09E-41A6-B4F4-3085C572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596121"/>
            <a:ext cx="1557745" cy="344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中等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3432F5B-9B8C-4D2F-8330-63602DC2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389" y="4784499"/>
            <a:ext cx="76075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机会信号 · 需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97D0088-4C0A-4FEF-A7FF-2AAF5D64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389" y="4906221"/>
            <a:ext cx="76075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要补证据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0ECEEA0-6E3B-4B55-A520-BD2B427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5132275"/>
            <a:ext cx="2477902" cy="985365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45">
            <a:solidFill>
              <a:srgbClr val="3B304A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46D2938-BB77-4216-B4DD-BB557C6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5226464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支持信号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A3CA1B8-6A9E-44E0-9A74-34FA9BA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5407597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同量级项目在华东有可比案例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FCE4BC-7287-446C-B72E-25A3AC9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013" y="5298917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66D9B1"/>
                </a:solidFill>
                <a:latin typeface="PingFang SC"/>
                <a:ea typeface="PingFang SC"/>
                <a:cs typeface="PingFang SC"/>
              </a:rPr>
              <a:t>3 例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EB2394-3B5A-40C3-B422-8A717FA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3079" y="5624957"/>
            <a:ext cx="2246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FAB6F8-8D38-4947-B963-DDA8A83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5719146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关键未知项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B745D3-DD08-4D49-A444-D1798BAC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5900280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艺人档期、场馆报价与同城竞争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38CE22-9083-44AC-B9E1-3FE26BB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013" y="5791600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3 项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ACB7CB-5180-4BF9-B8E8-C471384E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6204583"/>
            <a:ext cx="2477902" cy="1528764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7245">
            <a:solidFill>
              <a:srgbClr val="3B304A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9EECBA9-F8ED-4B47-BAC5-B828D52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6298773"/>
            <a:ext cx="2246052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可能的利润区间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84A092A-9FF7-4CB0-B5B4-B534AE0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3193" y="7443534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A19484-64FF-40D1-B097-1058ECD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871" y="7378326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21C198A-6C94-471B-96E2-41331B0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3193" y="7019683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AF80316-9FEB-4CC3-AF9C-B5D1B36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871" y="6954475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04FC22F-FB8A-4430-BCEA-18AADBC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3193" y="6595831"/>
            <a:ext cx="19707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3B304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E2F11A-D894-4F2D-B9EA-5BE63BC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871" y="6530623"/>
            <a:ext cx="217360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757FAF3-5513-494E-83B8-CE7BDB68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23193" y="7278775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DE3FF31-26EE-4AFB-BF65-CDE45A41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17339" y="7129952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DE2A28-30FD-4DAA-80EA-1ECA3D1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11485" y="6981129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F6BA4C1-B4A8-45D6-B451-EDAD59F1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05631" y="6832306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AF2C90-71E8-4C88-8051-F00EF67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99776" y="6683484"/>
            <a:ext cx="394146" cy="14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113">
            <a:solidFill>
              <a:srgbClr val="BAA6F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E2A44EF-F946-49C1-B870-91FE886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457" y="7405862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14BEC3B-CD0E-477C-B10C-9F252A87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551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0D08CD1-03A6-4D86-B664-ABB3D536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603" y="7257039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93C78F3-52C8-4692-A13A-648AE13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696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DEC23E6-F459-4D18-AE22-C61DC12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749" y="7108216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3701C07-C634-44AE-B53A-7343E298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42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C8C0A49-66F4-4F13-A71A-23B6876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895" y="6959393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36FF2A6-4DB8-4767-BB8B-07DC923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988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FC5DA69-8B68-4A51-9EE7-15B45803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040" y="6810570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5447A05-84D6-4CE2-BAD7-751BBA3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134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7886277-279A-403C-92B7-95783DAA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186" y="6661748"/>
            <a:ext cx="43472" cy="4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7245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2D2C7E2-5853-4DEF-9A96-165A43A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280" y="7494252"/>
            <a:ext cx="333285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92AB384-5A52-4C1B-BC35-36883321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42677" y="6595831"/>
            <a:ext cx="0" cy="8477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FF8174"/>
            </a:solidFill>
            <a:prstDash val="dash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219890F-55CB-4DF9-823F-9FD09DD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659" y="6574095"/>
            <a:ext cx="688306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1C17F74-0FDC-448D-B7ED-CF17694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684" y="6465415"/>
            <a:ext cx="1086799" cy="91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13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BF2E989-1FDC-4629-8891-FBE02BC5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7581196"/>
            <a:ext cx="2246052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仅为筛选阶段的示意区间，不是正式测算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5DADF20-3914-4C1C-919A-BD0639D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D06A32A-3478-404D-AF56-794861D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用这个机会创建项目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DE05D55-2AFA-45A2-97B9-CF088D86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5276CC6-EF9F-4EF7-8FD9-1BB1C663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加入关注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3D06EA4-C751-43D4-9692-97B2922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03F39BA-FB19-41D8-8A9F-C5C576A9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111CDA7-28FC-48B4-B00E-49EFDDCF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64E4CF-37D4-4389-9183-10C46327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980C7E3-6160-4E59-9BD0-2D089D74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A7001E0-398A-4D9D-B64B-2E5C139C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B3CE530-A2E1-4ACC-A4A2-DFA49F37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E16C690-AA77-456B-B567-E2653922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75CE776-E71F-45A3-B789-FBF98E6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E20504E-4FE9-4318-89DE-E584B6B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47A410F-C1C9-47B3-BCC9-7FB8893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4028EC6-3A9E-4D28-85B3-7297312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35D7DF4-BB69-4E14-8AE2-39DB42B8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330946D-EA6E-4F00-8683-DEA1D022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74C1B02-2375-4692-BBD4-85872B3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8D03B89-FF34-4375-9085-9CE1DFC3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6AD9C88-8C73-4892-B195-253C7AA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FD34B25-3338-44AB-9989-EB7167E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764E6BB-1B5D-4251-A1B6-D523811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399A522-7EE2-4C71-B4E4-CBEEFA57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87F910F-0FCA-4D84-A50B-CD4AFC1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6D8AF97-1B83-4B97-93EA-FA9C5AA8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S09  搜索与筛选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B24EA97-1CDA-4D67-B609-DB09D13E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9A1E23C-94BB-48A2-91D2-D4EFDFA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285A1BF-3AF7-46F5-BAA0-CA7356B7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17B705E-F7C5-43B7-AED7-CF66D4EE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379C52A-4133-4FD7-BF45-92A5614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2775ED7-6736-4106-A290-212DBFF6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1FDA44B-60A4-40C3-B17F-E3DA12C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FCBBF78-2036-4AC2-B6D9-45B6B8F5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221DC2C-D618-4D61-8441-F2BC218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4EC0DAB-7D52-4043-BD26-C2CE847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EBCC3DC-172A-4849-9525-96F663AE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B63A66A-DED6-41E4-B33B-8922F75E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74A8E7B-CE51-46C6-8096-DE2D2D7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C0169A2-4F08-4599-8DB7-2064F38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8D2D861-6F55-4049-B757-8960211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0918A78-7801-4893-A024-CC32437D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D1B53C7-D0A8-44E2-905E-1465527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67AEE5F-A23D-4D20-A583-E56A3D7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3BF81B0-ED7F-4CF5-BA01-119C9CF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搜索案例与项目机会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AFB8AAF-FB6B-4250-9274-76EA7FA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按艺人、城市、档期、规模和结果组合筛选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D3DBA64-40AD-46B4-A8C3-0AC34B5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搜索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F8CBDEE-FA2B-4098-A0A9-5E912F3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4150BD7-2361-4D6A-8E9F-71C8BF1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艺人 A / 南京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9E7CBF4-C788-42A3-BEB2-4934A45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计划时间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C12BF71-68EB-48E0-8F35-AAE97985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2BFB20F-A7D1-469B-BF3C-F06372A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2027 年 10 月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A704EC0-52A8-4537-930F-3437EE9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098640"/>
            <a:ext cx="458772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200C174-4F00-4C4D-A83C-F418963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727" y="5123357"/>
            <a:ext cx="326946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演唱会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043D2BF-29D1-42D7-9145-CF740338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7082" y="5098640"/>
            <a:ext cx="420299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68B553B-0C67-4653-97B4-21511C0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995" y="5123357"/>
            <a:ext cx="288473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ECEC464-C70A-4481-81EB-64FBB2F7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877" y="5098640"/>
            <a:ext cx="728168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C962606-5E53-464F-91B3-1989D64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790" y="5123357"/>
            <a:ext cx="59634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8千–1.5万席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CA3A7CA-303E-4F08-A430-694F909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541" y="5098640"/>
            <a:ext cx="55778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D7727E3-1E17-49F6-AAFA-E69E125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454" y="5123357"/>
            <a:ext cx="42595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盈利案例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AB81D74-D529-4D3D-82CA-B4AFFF63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8822" y="5098640"/>
            <a:ext cx="458772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8C2736E-CE12-4B99-B11E-C228043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735" y="5123357"/>
            <a:ext cx="326946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已核验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15B6807-75D6-47E2-B85D-03A36B24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452922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50304AD-9B0E-4CFB-AB89-99384644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56003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数据范围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020121F-A8A3-442E-8A75-1BD770E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76600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公共资料 + 锐音场内部 + 星河演出私有资料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B32F561-3E3B-46CC-9F94-CA1A694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63418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DAA3EE7-D574-4E8D-918B-B43ED58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6013183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80C10A1-790E-45FD-8F23-D81FEF8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120292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排序方式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8807AF5-67F8-43BD-94ED-518FF551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326270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与当前项目的可比程度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42C0C6B-DD7C-45C5-9585-036D7BD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6202683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相关度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6207E79-9217-4F1D-8F92-F7AB1DC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672313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15B5B98-83D7-48F3-A184-E6CC06D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754704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AA6FF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8E02A3C-783A-4EDA-B024-768772E9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787661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搜索结果不会显示无权访问的客户名称、合同金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1D47696-7F9E-498B-92BD-D4210AC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949148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额或私有附件。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C312A90-C2FA-46C3-BF20-11CDED5D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6B182BA-5DBC-42DC-8D2B-607ACF50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 18 条结果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DE823B0-01BD-452B-B594-80E61450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9C72497-9FAA-45E9-8DA5-91C5AC9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清空筛选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8A10B71-B4E7-4734-9087-97A415E1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83FEB8C-D28A-4EDA-B911-1EDA561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5A35C88-E837-4850-88C4-CB011D7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02955849-AA91-4A4F-B5F8-8007E4A9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52BB277-52AF-4442-9AB0-177BABE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CC8A3E9-741B-44E5-A410-D913CB9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136D22B-42BE-4D0D-A6E2-833A8BB0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9444562-3884-4917-9EA4-2F9DCF8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912597D-B371-4986-A3B5-13C8644D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057A86E-0871-4BD4-9C2F-7A6DB20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7A04E4E-B5F1-46B5-80E9-B9192BD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D91C4B9-A261-4166-9728-D6B2768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9C"/>
          </a:solidFill>
          <a:ln xmlns:a="http://schemas.openxmlformats.org/drawingml/2006/main" w="8239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4DF8ACD-C7BA-419B-B11B-6194C99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7CB7439-AECE-490C-BDE4-2AE649D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AA2187B-73CB-4370-8737-9E48FF66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FD4AC46-FD38-4D22-A50E-C200B42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241076E-47FB-4792-B07D-B8EF0594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96441B2-B80B-42F7-9955-0693DB8C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BFC0604-805A-4A06-94C7-9D72581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A821493-A81D-4A0B-8B25-2D834865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C11A37C-F8E9-44A9-970B-9E61BDC1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发现主入口</a:t>
            </a:r>
          </a:p>
        </p:txBody>
      </p:sp>
    </p:spTree>
    <p:extLst>
      <p:ext uri="{BB962C8B-B14F-4D97-AF65-F5344CB8AC3E}">
        <p14:creationId xmlns:p14="http://schemas.microsoft.com/office/powerpoint/2010/main" val="2088709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8DA41E1-38D8-4299-A786-EC48EEBA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968E-5B4D-4A91-BD2B-1DA8E052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D4D26-7119-4C26-AAB0-F6E3E23F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项目列表、详情与历史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995E0-2870-4626-88FC-AF62AA2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让项目方快速看到当前判断、待办和版本变化。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A6E7-6CDE-4FEB-B90B-47DB01C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CD325-978F-4CB8-8DA8-67A4993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2A1C6-0BC8-4CB0-A005-C5B84F1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D49F0-224E-4DCE-B5D8-5BB2436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S10  项目列表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02F75-5F88-493C-9CF1-529521FC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8C908-C248-46D8-82EE-9B957EC5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FB3C8-27A2-4844-A7B4-D7323B11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AB86C-245B-495F-B3CC-D742A63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8923E-C5CB-4BF6-A1ED-E96A35DB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9E209-CF7F-4DE6-9E20-C263EBA7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3767D-7A08-49CD-8712-C2AC604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3BF7E-D3E8-4A48-8C55-B6553C7F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F8667-F4D5-47FC-85F3-2691892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4AFF-AB9C-479E-9ABB-3D0232C5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98B71-05CC-48A9-8480-5848F08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AD2FD-62CA-4C16-95F5-11C686A8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22CF6-DBA1-4BEE-8B9E-CDE53FB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D51BC-B2EA-4D0F-9139-B21E11C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7368F-A9C3-4310-A702-35D87DFE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591E9B-B32A-43F6-ACD3-EC3D343F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A7E30-A086-4079-BAAE-895047E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5F79D-C419-4894-B55F-53D1BE98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00064-DD79-4B79-9A99-9BB61AB3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我的项目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A3101-EF75-4637-B0D3-4989CCC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星河演出 · 3 个进行中项目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6F4DE-CA8B-4C4B-9235-86085508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79F02-C97D-4F1B-8A53-592D54AD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57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6F727-4BAF-4354-A6E2-20DB9A72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进行中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A488F5-1341-48A4-8CE8-23446BC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待确认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18970-7A17-4C4C-A625-9706D54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已归档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D728C9-9197-450A-85FF-D17D29DC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200575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D9B1F-C53E-4F56-95D4-B92182B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30768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星河计划·南京站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449531-D0C5-4B82-87DC-7590935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51366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· 2027 年 10 月 · 12,000 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C659E9-D344-4EF6-834E-1D50948B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39007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调整后推进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40675-116A-4288-A027-613A832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476083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C8698-5E44-49B0-9207-7163EA2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8679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星河计划·杭州站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83E580-0480-4AF1-BCA1-A844DB47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0739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· 档期待定 · 规模待核验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7E3483-D5BD-4C97-97E6-E0C64A6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9503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缺资料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1E42D8-AE0C-42A1-98DE-DF325D3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32109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564916-C42E-4226-8F0B-6DFAD7DE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28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冬季剧场项目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8E5973-6458-4318-A6E3-FBFDB940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组合待选 · 2027 年 12 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F8867B-A2BF-4FB9-A411-E59AF49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510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草稿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253B03-580B-4339-9A88-A6FCABB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980226"/>
            <a:ext cx="2817781" cy="950795"/>
          </a:xfrm>
          <a:prstGeom xmlns:a="http://schemas.openxmlformats.org/drawingml/2006/main" prst="roundRect">
            <a:avLst>
              <a:gd name="adj" fmla="val 15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F719BF-AD11-4B6F-9150-F027AB0A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112052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今天需要关注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9D1E69-B49C-4C5C-8423-8C04528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37405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南京站有 2 项推进条件即将到期。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78B83C-F873-417A-8DBE-A79CA683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617935"/>
            <a:ext cx="730234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66791B-8C70-4DF7-91F7-6ACFE007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6642652"/>
            <a:ext cx="598408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Agent 提醒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C63785-E925-4E13-BBFD-C0A34B3D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6BB87D-B1D9-4155-A538-F9EC727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创建一个新项目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A337E0-5B48-4634-8168-23E37B0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79BCE3-8BB6-4C49-8C37-AF355CB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查看已归档项目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64C505-18F4-4099-8290-2243028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8601AC-7EE4-4A62-9220-786C02FF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482C66-0F51-4C6C-B9FF-C03E92AC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0EDE15-4296-4A22-BAC5-E9C38DBD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BBDC34-F040-40F5-9429-96D39A7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66DCC1-1F71-4D09-9649-40C5B9C8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B97391-EA0E-435D-A6F0-474CC16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CFFC03-D32D-41D4-A6DD-8AC0C63A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D59710-F871-45FF-9715-D0F084C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EA6F1E-E0FC-4A33-8430-6D3CC76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7BC76B-D73F-45E9-B151-49E08395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81B443-7279-480F-AEAE-E5871340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2CAC82-5ABA-4006-BAFC-B2668A0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19F98C-C106-4AF8-A08C-2CC869E2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6D3C3B-6487-4ABC-9AE8-9FE6D87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750DC9-445C-47EB-AA9C-D4E13D86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9F9470D-7E55-479D-803A-B82BC0C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A1349D-ECBA-4656-B8B9-CFAD81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7D9E46-DEE9-46E2-8237-0599960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5BCF8A-F1B7-469A-BED7-AD51539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079922-64B9-46A2-8CDF-CFD42E6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52FCAA-929C-491A-B084-8D487766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S11  项目详情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0C72A0-B2E7-4207-80A4-218A0A5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34ADB9F-B83C-4EC7-BD93-87CE794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425524-4491-480B-9681-C480734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8883BC-DE35-46E2-895B-EF2BB33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1A3B55-63E3-4627-BFB8-C4DC0C0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F0CDA2-884E-4044-BE47-66053922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4F1BDD-F29A-4E52-8B64-126D98B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C3119F-DFEA-4D72-967B-A7164B0E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3F40AD-A978-4083-98D5-2807476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6DA093-B683-4329-BDC9-A81E973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EC82F90-C8A5-4BF3-90B5-A3DF3A62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01F3DD-CC64-4204-A860-53A0F28C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7B216D0-2647-40EF-84C4-EB2555E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05BEA4-FDD4-442D-94D8-9173679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8CF918-8E7E-4600-9C5C-4EB5AD2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DA9F3BF-AEFE-4807-B53D-4301D6F2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0F498E-0A88-483D-9EB4-2A025EB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59AC24-377A-48EC-A70E-0933BF2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BA3D281-599E-418B-BA7E-FAE60C1C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星河计划·南京站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F450C6-EB30-45FD-AE7B-1F6701A8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· 南京 · 2027 年 10 月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63B7EA-2392-46E0-8DC5-6DF0B53A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152" y="3755663"/>
            <a:ext cx="2509904" cy="13063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15C9381-CB69-48C5-AFBB-220F48F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3865746"/>
            <a:ext cx="2245704" cy="113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6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36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CURRENT CALL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7603A5-8E56-48C8-95C0-6D62E341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4056558"/>
            <a:ext cx="2245704" cy="256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4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4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条件满足后推进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444AAE9-76A0-48C2-B8D0-D1EAD1BD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4364792"/>
            <a:ext cx="2245704" cy="1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0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资金拨付与场馆报价仍需确认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44C813-4812-4A45-BF77-C67821E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4606975"/>
            <a:ext cx="1577864" cy="34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6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6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 万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A61192-5128-46EF-9249-514AA0E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694" y="4797787"/>
            <a:ext cx="770585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3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中性利润示例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3730AD-64DF-45F9-B6A3-A995E00F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152" y="5150054"/>
            <a:ext cx="2509904" cy="63848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39">
            <a:solidFill>
              <a:srgbClr val="E1DBE8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B0F264-86D0-4693-B620-08252403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9" y="5252799"/>
            <a:ext cx="660501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保本上座率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CD78F8-04BD-4012-86F7-BEC3565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9" y="5421593"/>
            <a:ext cx="660501" cy="23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9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329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63.2%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184343-AC49-481B-B5AA-58FC395D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7787" y="5282154"/>
            <a:ext cx="0" cy="3742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39">
            <a:solidFill>
              <a:srgbClr val="E1DB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BC14DA5-41DB-44C2-B967-3640084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54" y="5252799"/>
            <a:ext cx="660501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可用资金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890211-FFF6-4AAF-BC93-7B5FD57F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54" y="5421593"/>
            <a:ext cx="660501" cy="23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500 万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1B8848-EB31-43A5-B5F7-24720E94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54422" y="5282154"/>
            <a:ext cx="0" cy="3742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39">
            <a:solidFill>
              <a:srgbClr val="E1DB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4243FD5-C0E5-4858-BE67-5955F24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489" y="5252799"/>
            <a:ext cx="660501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可售规模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F339CCA-574D-4250-889D-63A9062B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489" y="5421593"/>
            <a:ext cx="660501" cy="23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12,000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281BD8-5EB8-4522-93B0-CD01FFB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152" y="5876605"/>
            <a:ext cx="2509904" cy="99809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39">
            <a:solidFill>
              <a:srgbClr val="E1DBE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0430436-8101-4CE6-A0E2-37B77F4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575" y="5972011"/>
            <a:ext cx="1599881" cy="154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6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场馆正式报价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FC6495-B468-4932-B393-265D70F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575" y="6155484"/>
            <a:ext cx="1599881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地方执行 · 明天 18:00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3F562F-AD8C-47E8-96B1-5020BBF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844" y="6045400"/>
            <a:ext cx="587112" cy="1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9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09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待提交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6C53CB5-A39E-4EAF-89E3-3E4623D2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8575" y="6375651"/>
            <a:ext cx="22750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39">
            <a:solidFill>
              <a:srgbClr val="E1DB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FBACE4-9175-4B71-9A09-34B810CA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575" y="6471056"/>
            <a:ext cx="1599881" cy="154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6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艺人授权范围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6D22F71-9C94-4E17-A522-2E2BDB7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575" y="6654529"/>
            <a:ext cx="1599881" cy="12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商务负责人 · 已上传待核验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D1090BC-E829-4FDC-9A04-32C9239D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844" y="6544445"/>
            <a:ext cx="587112" cy="1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9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09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核验中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980CF6-CFA9-434C-9A50-9495CD26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152" y="6962763"/>
            <a:ext cx="2509904" cy="77058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39">
            <a:solidFill>
              <a:srgbClr val="E1DB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22AAF5B-FA43-4695-8476-CD8BD5B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7080185"/>
            <a:ext cx="2245704" cy="17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8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最近变化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988E659-F756-4C3B-88DF-F77FD4B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7313562"/>
            <a:ext cx="2245704" cy="1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0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场馆费用新增 24 万的报价草案，尚未成为正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EC95FE-B8AD-41EF-A23E-D18FB97D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52" y="7457405"/>
            <a:ext cx="2245704" cy="14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0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式输入。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6A44785-318A-4ED6-8FCD-9C3E0632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F212944-50C3-476D-BF7A-986784F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查看完整项目判断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40487B2-C3B5-42B0-8110-D668EB8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06A0BF6-DE42-4DF6-9148-55DC4628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更新项目资料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01E360C-481E-49C4-AF9A-6AA35CCE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528E831-6EBD-41E9-BCD9-89E320A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E812677-E577-4649-9078-12B5526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C7A7BCC-27D0-4460-A83C-D484B73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85DA8C8-5531-400B-998B-D9B379A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F3A08BA-6019-42EA-BA77-F8854DD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E1804C3-EA1E-4F53-A9C3-76606B2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9A1926C-B7C1-4731-9153-B928B0E3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DF0DFE4-21D4-4493-9A51-24DEF2A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C41486E-A1DA-4792-87C1-047F436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DB4A588-EF1F-4857-AE6A-3784390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85B83DE-3DB0-48AA-A10E-7F064310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940390C-8670-4C93-A170-444CED88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E8C65C1-BF64-4EA5-89E5-60CD45A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A09554F-0809-4F85-9569-C0790594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92AA78A-10A7-442C-B72E-99FA3CC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3C4C9F6-200F-4E08-921E-8DC082D5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49B0789-DE8B-4AE5-A899-A41EC262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D6CDB0D-BDED-4BBE-8ECB-004F747B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E13DD7C-3458-4133-AC78-BE74F9B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0E1637-F281-4482-95F2-67CAC8B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0BCC2B8-72DB-4A49-9187-F4865E1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S12  判断历史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90262B-FB66-47C1-87B2-1889402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CE0C159-7D51-4793-A41C-E7BAC83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9FD29C3-2B30-4109-BA67-6193DFB4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AA436CA-0D18-4B6A-A6B6-D9081C1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0425161-6264-4EDA-A4A4-DD05808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49D6A27-A7BF-4D8A-8B46-E1D37472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DC5585E-3E2A-4DD0-BCB3-5118CB0A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151D82A-B034-4100-A902-C25667FE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A45C155-2F94-41EC-AD48-1794A07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A8F2E44-B6D4-4B7C-A635-E017022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4EF7CC-E0A8-4D65-B2E5-09BF3875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7B8819A-75DA-4143-A9C2-CF0AEC7C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8A3692A-50C3-49B7-B2BA-CA63048A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56FF159-D3E4-4E3E-9A26-762C7515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0DEFA96-A56D-4ED8-9C46-EC39163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A6CBCAA-932E-4E45-B894-604A140A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A754ACF-A9B5-4244-9F08-5420183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93AA193-C261-4E07-901A-E9ED995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19ABAF-76BA-4ED1-86CA-FD4D07B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每一次判断都保留依据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123419B-8264-417D-ABB5-C73751D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· 3 个版本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4199578-2C24-483E-A9A7-52AD14A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24499AE-EF71-4B80-B20E-C3240D29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12270" y="407698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F09AD70-30D7-4B57-B857-12027C7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389572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253CF23-3903-4607-92D0-029BB0E3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90396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1D647F7-4B19-45F2-8E66-12561DF5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3854532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V2 · 重新评估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19F7FDC-BA5B-4404-8978-DC236F8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4060510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今天 14:26 / 场馆报价变化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604EB25-9429-4BE6-820A-E5F36009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12270" y="463724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BC2A8D5-8E4D-441A-8DC6-9721182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45598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128262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B6575D0-FFD6-4529-AB00-29A4FDF9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46422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00E70DB-30F0-4AF1-9C6C-536CA6A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441479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V1 · 调整后推进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D1E1927-8B37-4410-A31B-AC30741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462077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9 月 18 日 / 张敏已确认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27E4BC3-D797-416A-B037-133B6F1E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16249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E74606E-CF78-424A-814C-D123C1A6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024488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1BE6587-E7AE-49F7-8219-705E149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497505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草案 · 首次测算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579666C-5543-445F-8BCB-0FD3B686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518103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9 月 17 日 / 未确认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9C6FA06-85AB-4A51-B760-6FEDBF7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535314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F4FF629-C06F-4DB4-A0E9-DF87E61B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5650661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V1 中性利润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6CEA1D9-52BA-4343-AF92-D2F31FC5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5840161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118 万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BF0BE88-4D92-44B4-93CB-94311C59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5683618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3B27C07-D392-42B5-8B93-A7A6F55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5650661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V2 示例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B332030-080C-4483-BA6F-78CF56F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5840161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94 万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E124D37-B438-47C4-A481-57BEFD9B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3509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CD825F6-9EB5-466D-B108-7BF324C7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4333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654DC44-9196-4ADA-8C47-09753929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4663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新评估不会覆盖旧版本；每个版本都绑定当时的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EA23DB2-CEF3-4ADB-BF00-BD2BB57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6278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输入、事实 ID、规则和计算版本。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1DB6C6E-4DCC-4905-BD8A-1D3E3D5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744AD6F-2F92-4024-B73C-EF199EA4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对比 V2 与 V1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DD5EB86-D1FD-4262-918A-7A6AA53F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FE83743-8DE5-47E4-BF79-1F21976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查看人工确认记录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ABD47A4-BE7F-45DD-A8D2-F580446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AEBC8D0-DCD2-4615-A73E-BF0E17F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BE759D4-8DB1-4C59-BA48-51CA745A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9DC283D-B73A-4168-936E-DA3C46D6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943C3F4-07A2-4B06-81F2-F372AC8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845F8DE-202A-43CF-8AC1-0E10F990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144D175-422F-493A-8165-F56E6D9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04BE418-4E25-4E0B-AA35-F7CF3807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1C86AFE-11FF-48C8-9A9F-CF86D80F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90E6357-77C3-470F-913C-E52B2A4A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939C3F5-AAC4-49B6-8980-75BD1574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9511FB4-2B85-4298-BEA0-3CA159C6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6B27EDF-8621-4EBA-BA93-84211C96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A1D869C-B4A4-44AF-A60A-DBB01BE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EF68B06-BD50-49BE-BD4B-89190031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B23DF11-6116-487F-A9E5-7AD54440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615A11C-6FDD-4AA1-B1D0-E846210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70119C5-64B5-41AC-A851-A0A270D5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4683D7F-9BF0-465D-A054-92EF7F18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2912377-CF8F-434A-8156-27611C78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7FB07CC-CE03-435E-848F-9C235464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764237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6109466-BA7A-494E-AE25-1B625E7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5707A-3358-4209-9597-8230C9DA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8488E-A509-404D-9983-FBBEA99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创建项目：身份、地点与资金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7FBDB-03D6-4E6B-8B00-F2FEE58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将长表单拆成分步填写，只收集首次判断所需信息。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7B9A9-1DCE-40A7-B169-7773F0C0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088F2-2BB1-42B5-B37A-B0F58DD1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C507-5F29-4D88-A317-13223D4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BCAE-7079-44DA-812C-7CAEAF6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S13  创建·基本信息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1A4A-D6FC-4DF0-ABA4-E9E1E03E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71AEF-C874-4F7C-B38B-C704694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98B18-E7EA-45F0-8CB3-2685C1EA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B0AE4-97A4-4E61-BFE1-3373AA4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E9870-FAB9-4BC3-A9F2-83597AD8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CD879-8D0F-4A98-92D7-3EDA738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20E33-7110-4A61-8052-0BDDCFF5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0E6BD-9208-45DD-B0B6-C9260E3A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4F715-623D-40E8-9A98-54877E3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BA430-8F87-488F-BFA6-164B44DC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5C92C-A6C1-49DB-BDDA-8CEAA3D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6E4DD-B561-4D35-841D-B83A7BE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02760-AC33-481A-BBB2-2914FB6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创建·基本信息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60D52-35A4-4364-B7B3-21FBB672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102F3-ADEC-422C-99D6-A9F2B3A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9F67E-D63E-4332-B6F1-0978B6D3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411F0-18EC-4509-81E9-62870AF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31C75-5019-477D-8D31-EA84A075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FA24C-3AC8-4B46-B853-698DE66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48496-FF70-40A8-9B80-B64E777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3B386-1961-4235-9E15-10BBFD8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你想做一场什么演出？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21598-8AC8-4F5C-BB85-C909AF2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步骤 1 / 5 · 基本信息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EDF6F-7731-4B87-B6AA-AC5DF7E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项目名称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68126-E4A7-45E9-AD28-1A3D21E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3196E-3DC2-45F7-BE18-B73CBF55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星河计划·南京站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576CA-4A88-4B8E-86B4-3D4AA3B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项目类型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05B56-1B98-4B57-B339-E1F314A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60F54-1EB9-492F-A714-E2A098A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演唱会 / 音乐会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D1691-EAA5-4299-AE73-D2EA962B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0244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核心艺人 / 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BDB3F1-2132-4C39-B9A0-46756CD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2222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4883FE-46E2-443B-BFCF-6D87DF5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53046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05F380-A2A3-4D67-BC13-328CF3C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708335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B292DD-4D7E-4151-B80B-123B4E1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5840161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还没有确定艺人？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259C1A-1F6E-4627-82A9-B94AF27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102166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可以先填入候选方向，后续使用“艺人候选”比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B85EB-62A3-4D86-9B54-31A22D5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263652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较组合。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DCBF0C-89F0-4540-A13D-6C043F23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507530"/>
            <a:ext cx="618017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1C1655-1A45-4459-8286-2612E44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6532248"/>
            <a:ext cx="48619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允许待定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4BCAE6-2D12-436B-B15C-9DCF97F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9194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A489B2-9886-4DC7-B92C-FBD24F20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0018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88FA27-E0B0-4A3D-AB76-831A50A9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034834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艺人 A 为产品示例。正式项目需要通过授权资料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D6D5A-A87E-4692-9835-740745E4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196321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确认身份与履约范围。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D47DAD-7CC8-430C-92E3-B993A20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E805F8-0F46-437B-89A6-396E8D0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下一步：地点与时间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9800B9-8AB1-4DF6-BD8B-05791C4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627FB0-D410-4222-9729-ABECA9A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保存草稿并退出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BE84FF-2557-4110-B972-FD35E9C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1D728F-CE0D-4AB0-B37F-4315F0C8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00762B-1CB4-429B-9E73-D950D4C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S14  创建·地点时间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7CCF92-9225-4A71-87A5-98561B6C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48EE7C-630D-4D25-9734-B3F47CE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5D1E9A-4B12-474E-AC16-2611F269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2B115F-6D79-4D29-8239-1B1DBBB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5AC0F0-B5FB-45E5-B491-3A037782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CE709C-63D2-4F0F-AAED-9FABF083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422834-C5DC-49E8-BAEF-9F65A2B4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8D0E13-80C6-4B4E-95DF-850B50A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EBDC7E-E6F3-4EFD-AFD0-44A374F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D4B872-EB19-4387-9784-ED9C5705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987C12-D90C-4A85-B1B2-0D35463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3FF105-67F1-4BAE-B637-57C50BAD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726E7C-0248-433E-92E4-4BF28D1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创建·地点时间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D9839E-596F-4370-9CBD-534F33B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9B3C44-BC72-4422-A566-8C8CECC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D7E79D-2B19-42D9-859B-FB442C35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D4AB65-8E40-4CB3-938A-E71B259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F932D0-503F-4764-8211-9EA97176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FB5933-4D4D-417F-9C84-D004397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DEE182-6115-42EB-9015-6FF4172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2DB8A4-59A4-4AF4-A329-49D1869F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准备在哪里、什么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E7B8A6-57B8-4FAE-A933-FC741832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时候做？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9B8D39-A81F-40ED-B83A-25688D0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步骤 2 / 5 · 地点与时间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D4508B-31F0-42D3-B8CA-E97BD4D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4041725"/>
            <a:ext cx="2634099" cy="14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举办城市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B367CC-1079-47D0-AC8B-10F1442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4226574"/>
            <a:ext cx="2634099" cy="31578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02">
            <a:solidFill>
              <a:srgbClr val="E1DBE8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A8C46B-5985-43A6-A38B-88BCBC1D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181" y="4303595"/>
            <a:ext cx="2426144" cy="17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8E010D-B97A-4042-A52C-90A07EFA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4634783"/>
            <a:ext cx="2634099" cy="14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计划时间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7C5BCD3-10FF-49BC-8015-7651760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4819632"/>
            <a:ext cx="2634099" cy="31578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02">
            <a:solidFill>
              <a:srgbClr val="E1DBE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991A82D-5927-4A9C-84A6-174167CC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181" y="4896652"/>
            <a:ext cx="2426144" cy="17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2027 年 10 月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90ACFA-D125-42E8-9E7E-9D57B4ED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5227840"/>
            <a:ext cx="2634099" cy="14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候选场馆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E7867F-10D7-4358-AD99-D8C718A8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5412689"/>
            <a:ext cx="2634099" cy="31578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02">
            <a:solidFill>
              <a:srgbClr val="E1DBE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108EE2-5580-42F2-A944-ED4CDED6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181" y="5489710"/>
            <a:ext cx="2426144" cy="17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待选择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2C0C3E-A6A7-45BE-9891-E0022BD5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459" y="5751579"/>
            <a:ext cx="2603291" cy="118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6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不知道可以留待 Agent 推荐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F2CBEFB-E087-46C5-8148-182515D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5990342"/>
            <a:ext cx="2634099" cy="1047478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02">
            <a:solidFill>
              <a:srgbClr val="E1DBE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6124657-4B05-4E7C-B06C-273B4B2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87" y="6090469"/>
            <a:ext cx="1679046" cy="161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档期风险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1B5B95-CC94-4871-8855-9351E071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87" y="6283020"/>
            <a:ext cx="1679046" cy="12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国庆假期竞争与审批节奏需要核验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85C6E4-4782-4AB3-98C5-CF57FFF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354" y="6167489"/>
            <a:ext cx="616164" cy="1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9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49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B91251-0145-49E3-A958-E268D17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2287" y="6514082"/>
            <a:ext cx="23876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02">
            <a:solidFill>
              <a:srgbClr val="E1DB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604AEB-F91F-4748-9C3E-BC1D6DB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87" y="6614208"/>
            <a:ext cx="1679046" cy="161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场馆条件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9EEA15-73FE-4F3B-8A90-7E7295E6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87" y="6806759"/>
            <a:ext cx="1679046" cy="12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容量、档期与正式报价尚未取得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FEFBAD-D8B7-4E88-B3C0-BCF533EF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354" y="6691229"/>
            <a:ext cx="616164" cy="1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9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49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缺资料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BCA578-DDE6-4A6B-AAF0-AD46BF5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55" y="7130245"/>
            <a:ext cx="2634099" cy="1039776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02">
            <a:solidFill>
              <a:srgbClr val="E1DBE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970F7D-1271-4793-86DE-E5E5446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692" y="7253478"/>
            <a:ext cx="2356826" cy="183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稍后可精细比较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6CA1F7A-ECBA-4A36-9077-12D814D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692" y="7498403"/>
            <a:ext cx="2356826" cy="1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完成基础资料后，再进入专门页面比较具体日期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2CE037-5CB2-4697-BCA2-0D7676B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692" y="7649363"/>
            <a:ext cx="2356826" cy="1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和候选场馆。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30E11A-053D-472D-8E43-9DE2F0F7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692" y="7877343"/>
            <a:ext cx="672080" cy="20025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B07BAC8-1F7E-41A6-8BD5-9FDD71A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308" y="7900450"/>
            <a:ext cx="548848" cy="129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允许先待定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7C520BC-3AD9-4462-9B56-C590B9A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6184B4-8062-453C-951B-BB29EE5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下一步：规模与资金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9718A0-BF59-4BA0-BB81-155FC36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41812FA-94C6-4552-9546-247CC3FB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比较城市与档期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E69267B-13DF-4229-BD1C-74144796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1CA670-8C0F-447D-87BB-C237E030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A2E625-00ED-4CE0-8BCA-531817C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S15  创建·规模资金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B589EE-5BF2-4F04-9C77-90A37146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6667E2D-1634-49F1-A6BD-C2E071DB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907AE1-FDE5-4432-9246-9AAE2C6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24859A6-5BFA-46C5-B8E2-F4F278C2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1E9B31-EF34-451D-A780-63041CA0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4F20CDE-3E73-4E22-9AD9-8F025E78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355166F-1A95-4C02-862D-627A49B3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6E5109D-0B69-4D2A-AD23-8B3E575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CE6BD3-C398-4C17-A890-DEE4E75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9EDED7-DC90-48A2-AC6E-4C7353FA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A9CDEF4-3154-46D5-A46D-0A975889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0DD578B-D544-4C90-BBEC-4555CBE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45ADAB7-CBF4-4256-AC28-28B299B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创建·规模资金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60D967-6A90-4D67-92CC-09E00EC7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306DC04-4C72-4524-BFA7-943932A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6A28E9-6735-48F3-9226-9F89B34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81FF08-D804-4DCF-9A31-9B7522A0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4E394A1-954B-461A-B0F3-D50543A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00287A-E216-4221-A3A5-D08C0FE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95610D-08DE-46E2-B296-B1D162B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55164B4-54F5-4D47-8D20-6DB1518A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你准备做多大，手上有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5F47042-066C-4505-A9D4-BE3180D4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多少钱？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0C2F9B3-ABC0-47A0-9BFD-4A5EB8B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步骤 3 / 5 · 规模与资金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F139B5-A02D-449E-9101-E11C6A63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4041725"/>
            <a:ext cx="2599185" cy="13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可售规模 / 人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FB160CC-5658-44E1-B0D1-E7DB4B8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4224124"/>
            <a:ext cx="2599185" cy="3115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00">
            <a:solidFill>
              <a:srgbClr val="E1DBE8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7F5CD35-9F1F-4752-90D2-9DFA029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911" y="4300124"/>
            <a:ext cx="2393986" cy="170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12,000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8A38E5-9413-471A-A4F0-D4F8399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4626922"/>
            <a:ext cx="2599185" cy="13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可用资金 / 万元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41982C2-78FE-4284-AF5E-0FAD09F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4809321"/>
            <a:ext cx="2599185" cy="3115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00">
            <a:solidFill>
              <a:srgbClr val="E1DBE8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4E5D296-09B3-4BF2-BA7B-A126B9E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911" y="4885320"/>
            <a:ext cx="2393986" cy="170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500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A476FC2-4AE5-4C60-9800-546012C3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5212118"/>
            <a:ext cx="2599185" cy="13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平均实收票价 / 元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44D7605-186E-4A2A-90B6-B1A3185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5394517"/>
            <a:ext cx="2599185" cy="3115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00">
            <a:solidFill>
              <a:srgbClr val="E1DBE8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388EFF2-5F53-4875-8215-B74B16A9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7911" y="5470517"/>
            <a:ext cx="2393986" cy="170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680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C9CD59E-6F62-4A3D-A3FE-25E324FB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312" y="5728915"/>
            <a:ext cx="2568785" cy="117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58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58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票档未确定时可用平均值并标记依据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091D6A2-9BDA-4984-8D8D-BD9B632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5964514"/>
            <a:ext cx="2599185" cy="1603591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00">
            <a:solidFill>
              <a:srgbClr val="E1DBE8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F2ED5F3-BD6A-4543-B768-50C6935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11" y="6063313"/>
            <a:ext cx="2355986" cy="159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9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票房上限与资金边界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3CF927E-C17B-44AF-BAC5-B211CE9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1" y="6245712"/>
            <a:ext cx="2295187" cy="106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98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8F487AB-F7E9-4324-887E-BF1C62E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1" y="6412911"/>
            <a:ext cx="326798" cy="13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A93D531-69BA-451D-A631-1AF34D0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09" y="6428111"/>
            <a:ext cx="1854389" cy="9119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8553ADF-4FA1-41DF-928F-6D5AB421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09" y="6428111"/>
            <a:ext cx="988059" cy="9119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EAADE22-F8D6-4F72-A3D4-8FEE48C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300" y="6397711"/>
            <a:ext cx="326798" cy="127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500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AFA22AA-31B1-43A8-BC13-9CE56D05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1" y="6694110"/>
            <a:ext cx="326798" cy="13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票房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6BC664F-B9EC-4C1A-B22E-A1AF80D5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09" y="6709310"/>
            <a:ext cx="1854389" cy="9119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09BE32D-2443-498F-8D80-AE03578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909" y="6709310"/>
            <a:ext cx="1612512" cy="9119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977B25F-085A-43B8-BDE8-405A706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300" y="6678910"/>
            <a:ext cx="326798" cy="127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816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6463EE3-8846-49D5-8BD7-5EE6871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11" y="7408506"/>
            <a:ext cx="2355986" cy="106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98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按 12,000 席与示例均价 680 元展示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CB84147-743F-49A9-BC4D-9B9B78E0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7659304"/>
            <a:ext cx="2599185" cy="510717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8497E29-E39B-41C1-8D2F-AD0DD0E4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112" y="7735304"/>
            <a:ext cx="22800" cy="35871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BE09DE3-0C5E-4906-A040-44E0A3D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11" y="7765703"/>
            <a:ext cx="2340786" cy="148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3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3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可用资金指当前可确认拨付的资金，不把未落实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6503F95-E395-4091-BC6E-EE741118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11" y="7914663"/>
            <a:ext cx="2340786" cy="148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3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3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的融资或赞助计入。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A9DB81-4FCF-4F8F-88F6-95D43635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43CC631-751A-42C2-A564-F5883365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下一步：已知成本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7ECE414-E35A-4490-9BDC-2192477E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37B00F2-8723-4D8A-8DEA-E495756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保存草稿并退出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7188298-442A-437A-AED5-90683E8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3ADED15-D43C-464B-A003-9648406D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1856138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E9027C9-4BF7-404B-A269-47D183D2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6EBD-1D8D-4650-906F-25351859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2EC76-4DE1-44B1-81AB-AC17D69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创建项目：成本、确认与草稿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59049-296A-45D0-8A29-DC1BF67F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缺失项明确留空，提交前复核边界与资料范围。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CED3-2491-40CC-A8CA-E7012FEC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4C08B-960B-49BF-A62B-C2BADA6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CEEF9-492B-4443-AB97-BC0EA6A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4DB4C-3874-46C9-BEEE-702D65F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S16  创建·已知成本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AF43C-154F-4E54-8A4D-FB7DE37A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77090-FB87-4B97-9C1A-1775732E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7A0BE-303B-43D2-92B4-7A9D4900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F28E5-247F-41CB-9B47-941DC91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2612F-0AFB-4B2A-B8A3-7B0A2E2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EB38A-209F-41A1-8383-8636C91A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6302D-96DD-4438-871E-1805E1F8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FE0C4-A9E5-472E-955C-59834F4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885E7-797B-4DB3-8721-37D29CB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B9CE3-5DB5-4A8D-B921-C1F9BF1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2D611-55AE-4FEE-85DE-6CDA4F5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75438-2F7B-4021-9421-8E1B268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88879-B5EB-4135-9365-58182AF4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创建·已知成本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58F65-FCE9-432A-AEA4-B60A485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5AEC4-CE0A-4D55-AA50-9E6F271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5A909-9A20-48F6-A7BC-267FD47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069A7-CD1D-4132-B7CA-11B787EF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BD569-E7BE-4376-AE77-E19BDC7E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EE80F-06B0-4702-9B10-72BC1A79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F46B5-274D-4200-BE0D-E7E4C99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5DFB4-720F-4237-ACD0-473E5E67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哪些成本已经有依据？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EF773-EBA8-4295-8622-EA1A69D8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步骤 4 / 5 · 已知成本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C6DED-7C8D-47AC-996C-1EA0CBB1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3755663"/>
            <a:ext cx="2769095" cy="14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已知固定成本 / 万元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EF910-59CA-41E0-86A9-C582350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3949985"/>
            <a:ext cx="2769095" cy="33196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97">
            <a:solidFill>
              <a:srgbClr val="E1DB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CF50F-08ED-4C64-B780-AE8B13B9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15" y="4030953"/>
            <a:ext cx="2550482" cy="181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500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D73A3-BA78-4537-9518-DE198D5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4379114"/>
            <a:ext cx="2769095" cy="14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艺人费用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86E58-DFAD-4CE3-82E2-600C0A4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4573436"/>
            <a:ext cx="2769095" cy="33196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97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D3A581-E879-4DAD-B45B-B934BE9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15" y="4654404"/>
            <a:ext cx="2550482" cy="181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DC94ED-F7F2-47C0-BC1E-76C622B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150" y="4929694"/>
            <a:ext cx="2736708" cy="124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0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没有依据时不按 0 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06524-F60A-4A1E-B9EC-CC156B0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5132113"/>
            <a:ext cx="2769095" cy="14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场馆与制作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FF61D-FA73-45C3-B00B-9B75F4C9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5326436"/>
            <a:ext cx="2769095" cy="33196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97">
            <a:solidFill>
              <a:srgbClr val="E1DB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E24D1B-3F04-4FC7-A7E5-E6C3C20F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15" y="5407404"/>
            <a:ext cx="2550482" cy="181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80D95C-3969-44CB-8CB0-9A4BAABF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5755565"/>
            <a:ext cx="2769095" cy="14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宣发与票务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F796D3-F34B-46D1-AD9D-9A679AB8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5949887"/>
            <a:ext cx="2769095" cy="33196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97">
            <a:solidFill>
              <a:srgbClr val="E1DBE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6A5FCA-C33D-434E-9D29-25768595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15" y="6030855"/>
            <a:ext cx="2550482" cy="181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待补充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F2158B-A177-4754-B1DD-0E327BE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6427596"/>
            <a:ext cx="2769095" cy="110116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97">
            <a:solidFill>
              <a:srgbClr val="E1DB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D86BC9-5178-4D4B-8AF3-7CC1C0A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6532854"/>
            <a:ext cx="1765096" cy="17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已有依据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9465A-5040-40BB-A88F-6A4DA1A7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6735274"/>
            <a:ext cx="1765096" cy="136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内部预算草案 / 2026 年 9 月 18 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D04442-8EFE-4AB7-BF8E-69CE3BB3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569" y="6613822"/>
            <a:ext cx="647742" cy="15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93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 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077B98-345D-477A-94FC-2A1C821B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18505" y="6978177"/>
            <a:ext cx="25099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7">
            <a:solidFill>
              <a:srgbClr val="E1DB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85B032-5366-4AFF-8FE4-3A24354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7083435"/>
            <a:ext cx="1765096" cy="17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仍需补齐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62A3B7-E939-4E15-AC02-54353A5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7285854"/>
            <a:ext cx="1765096" cy="136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艺人、场馆、制作与宣发报价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B50F7A-9C94-46E6-B04A-23F0D3FD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569" y="7164402"/>
            <a:ext cx="647742" cy="15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93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4 类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E1730E-E2BA-4A11-9273-1C208590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7625918"/>
            <a:ext cx="2769095" cy="544103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F33AAF-D786-467D-BEFF-28ABEF81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957" y="7706886"/>
            <a:ext cx="24290" cy="38216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6C52F9-FBA6-43C1-8FE7-40743FE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7739273"/>
            <a:ext cx="2493805" cy="15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500 万为产品示例。未取得的成本会进入资料缺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B3FB93-FBBD-4A54-A389-438B7F7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505" y="7897970"/>
            <a:ext cx="2493805" cy="15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口，不会被系统自动填成零。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DA5CA2-0D09-4260-BA9F-E94A786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D861BC-8491-4338-A9A0-31F72E4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下一步：确认项目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9A9375-137F-4817-97A9-A50E956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0ED045-9E72-4FAD-960D-B1A8E9E7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先保存，稍后补充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28E91F-A519-42CD-BDA4-95E671A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58ED39-08E0-47C4-87E9-C0607FAE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66569D-9176-4C90-B366-0408B45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S17  创建·确认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194CB9-58AB-4305-AA6C-00D75DE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535D86-960C-4E79-A07E-5ADC8281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A3AEEC-B0E0-49B0-B66B-C06CD22B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7E95B2-8E43-4D9E-823F-FD1D939E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2CFA0C-F01B-4226-AC16-F9586A4E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13A7AF-BB85-4195-B2D0-0EB796C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2D883E-D613-4308-8814-55665E7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D1A384-1033-4A19-9608-E733284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FB54B5-FF19-466F-95CC-6BB5B99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985EA6-F3CF-4C1E-B00F-CDBC16CB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B0FCAC-8123-4EB8-AFDB-DE42C16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304FCA-0C40-436C-B706-07A9140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331336-0D98-4E84-B265-58688BC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创建·确认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E8B3F1-2D52-4B13-B77C-25B88E4B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93D909-0DC4-473A-B7AD-480DC04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524EF6-6BED-4866-B847-070052AC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046F3D-B65E-4558-82D6-73E20909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097533-6125-4E9D-84B8-FD0B78B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79E4C9-6FC9-4EE8-9CCB-386DA851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9AB060-51E7-4ECB-8064-53229FF0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1AF14C-725A-414A-ADB9-1246FA6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确认首次判断的输入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1E09C1-0D50-4B8C-B014-166085D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步骤 5 / 5 · 星河计划·南京站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DC7EE7-1C94-4EAA-B61B-96B13B3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0819FF-D748-448F-ACCE-7FA11A7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3871010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可售规模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46E5FFC-D900-46BB-9B5C-05E56666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4060510"/>
            <a:ext cx="74152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12,000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FA6C9B-2482-440A-B498-BCA2BE33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647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AEF1201-A451-4B4D-BE90-B7E428A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3871010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可用资金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794B18-9D39-4AC0-8425-5E42700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4060510"/>
            <a:ext cx="74152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500 万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4846CB-27C8-440E-9147-CC9415CF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5735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03D2E2-1A41-4247-AA0F-BEFA0C2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3871010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示例均价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1612B8-F94F-4FC8-B04D-C0DBA2D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4060510"/>
            <a:ext cx="74152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680 元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F03B2B3-BD4D-4612-B3C4-6DE13B1C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57133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C1200B-A941-4B92-BDA6-697B0595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7844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项目组合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8866FB-F604-4CD4-B70A-348D1076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88442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× 南京 × 2027 年 10 月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1C1186-B588-4DCD-ABEB-6E160B7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475259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A35CB2-E07D-4F1A-863B-37BB23C2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CD5466-CB0F-4D6B-B9ED-451D775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已知固定成本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25258B-644F-4F42-A47F-E5D950D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内部预算草案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8140054-9511-4B33-870F-FC9FD57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500 万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644D6E-F4D7-456A-BEBD-958575B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4762095-074A-4797-9891-6174F1CB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989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缺少资料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461594-12A0-43A3-9D89-4960D56C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0049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场馆报价、艺人授权、成本拆分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834E5D-64A3-41B5-B0BF-DA58DDB6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8813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3 类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CD0043-2C18-45C7-90B3-752DFD4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350987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B09D474-86EE-469E-8533-203F498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482813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这次最想算清什么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AF9A9B-D991-4875-B189-0DF73802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74481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在现有资金和万人规模下，什么条件满足后值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8C1118-F7A0-4D56-B412-F92DFEE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906304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得推进？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437F29-52D8-4E1E-A83D-AA014904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7150182"/>
            <a:ext cx="618017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EA1076-983E-492F-8B10-FAA023FC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7174900"/>
            <a:ext cx="48619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项目问题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E799705-4D1D-4756-9752-4DCF1DF9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562138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1616329-F10E-472E-8202-BEA7C46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644530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02482C8-5F4D-4B41-9116-F54CD8F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67748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创建后将按星河演出的授权范围查询资料，并保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A5CA4C-2FFA-41D5-93C4-2E732164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83897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留完整测算口径与版本。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8E4C7DB-A480-48EC-A4CF-F45EDB5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150D43D-45C9-46AB-AEB5-00DC8D28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创建项目并开始判断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CC04035-2098-4BE3-BD49-71560C8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52FE55-4A33-43CE-9769-1E6604FC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返回修改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0523D19-5F61-4792-9DE9-AB0DB1C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90F7CE-A0A2-4228-B44C-A9BE278E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4159FC-7E69-45EE-8951-A66A86C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S18  草稿恢复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A7AA9B7-076B-4C2B-92E8-226633E4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6F4CC1-E123-4E07-B4D5-3269648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FBDB69-43DF-49BB-89BF-78B889A9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2659695-A89B-4B6B-9345-57121096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532CC5E-969F-4560-B00E-D3425322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F0E0D42-DE98-4486-896E-19D3F00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1699E8-7212-4FA7-AA47-CD7AF6C1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397464-68F0-413E-9ADB-8896ACBA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E5C8413-AF78-4348-9D1D-D019D12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CD47B38-D88A-4958-B4C4-E7BBCD3F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74CC954-969E-4C7A-999C-2FEB466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2E6F452-E479-43CE-BEB0-E5FFE748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0F39614-8F7D-4434-B82F-62588DE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F2E67A1-FAA6-4AEB-81C9-0A222B74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533A1D-D3B8-428C-906C-F9F4C67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FAA38C5-963C-4254-AC3A-09832D5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CF5E28-AA45-41A8-BD85-BEFE7F20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AC4268E-A5A1-499C-8FBE-2A4B8A9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DD730A9-5D66-41EE-B305-1DFBF02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继续上次未完成的项目？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7B33268-E2E6-4B53-94DE-BB86AD5D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星河演出 · 草稿保存于今天 14:08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F1E0909-C93B-4FB1-B791-01E36693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950795"/>
          </a:xfrm>
          <a:prstGeom xmlns:a="http://schemas.openxmlformats.org/drawingml/2006/main" prst="roundRect">
            <a:avLst>
              <a:gd name="adj" fmla="val 15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2DF9EC0-3ED2-4C3A-9079-CCE1E8DE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星河计划·南京站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89738DC-DAE2-4DA0-8F6C-03BC2445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已完成基本信息、地点时间和规模资金。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C4BBE6E-EE10-4D8A-92B0-86DD959F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393371"/>
            <a:ext cx="828032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C5BBABF-1965-4A8B-9766-568B895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4418088"/>
            <a:ext cx="696206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完成 3 / 5 步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F53674B-FFB0-4344-BADD-F144F96B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805327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C5B80A5-FA2D-4EFC-A4CC-C9BD623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12270" y="5126653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3AD0FE9-5C87-40AB-AFA3-8C2E74A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945392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128262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6AC6245-A0E1-489B-BA0A-9B38E094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953632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B15447-8B36-47B3-BC02-7FC2F8F7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4904197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项目与艺人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9032176-8F73-458E-B285-E1E8C91F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5110175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/ 已完成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2E9153B-B5C2-4217-9243-901D745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12270" y="5686914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9AEABFD-93F8-488F-9818-14CBDA3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505653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128262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6C30B15-98AF-414C-A7D8-FBE8F6D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513892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B4AF409-AC16-4C56-BF24-7E02D4DC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5464457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城市与档期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7715FDE-0073-4DA9-B86D-AE27F209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5670435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 / 2027 年 10 月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AF25933-9674-475F-AF94-6EAC5626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65913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A4C453F-517E-4DBF-93F1-FE1A55F4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074153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42123A0-DA49-4A7F-AFC5-07B7515F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6024718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成本与依据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67AC1EE-D37B-425D-8A77-0F1E6FB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531" y="6230696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需要继续补充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66FB748-DF93-430A-9503-036FBDC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584978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591E712-E1D4-422A-B3DD-31B4EC2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667370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E4C7CC8-5AA8-4432-A89D-D584BA6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70032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恢复前会检查当前客户空间。不同客户或已退出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F66E526-DFF4-4026-88B4-9A9C6CE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86181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项目的草稿不会自动打开。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B4A03B6-439E-421D-BA01-73A82695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AB17DE6-E7A1-42D1-B261-E14578C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继续填写草稿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0C1F47E-49E1-4DA7-B602-39840371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73DDA82-3157-4BAC-9EDF-16A7461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放弃草稿，重新创建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D2357A0-9882-48A3-BA78-C3533A1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35BF58C-D50C-4FBE-8CFA-12E20DAC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B8DC56A-1595-4F82-8706-8423E49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DD9D447-D9F2-4858-AE86-D940852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47A78C9-2939-485E-B6D5-D3EA719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922A418-D283-47AD-8661-DBB3906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211BC0F-88DA-4B8E-BFC6-1A947D0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5C1B415-F17C-43AE-9BE0-83C40BD1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C22D23F-4149-448A-A1AD-0E29FD64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C96B87F-756D-4E0E-B753-D73E1D9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DA87486-FF35-4863-B272-DA45EE0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4A7F180-69DC-408B-8861-7C52C35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DCB3D84-5B1A-40CC-A65C-86CA67B3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97ACF3D-163E-42BA-AB95-A7DE34EA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D3602AA-18FC-4651-B0A0-0C925B7B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3DFF500-EEFE-44B3-9EBE-6CBFC91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3EDA296-FF41-43AC-A6BA-8B045029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CAFF28D-998C-4A1A-9CC9-4498B062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6134360-5AEF-4ABE-BE84-5F1977E7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3A64B61-C30D-4BD3-8945-9D4E83CC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395A61C-E345-422D-9A59-3885892E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594266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FDD9202-D425-4088-A2DB-3A0D4D1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DB0C7-64BD-497C-82F3-E5646F5A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84213-4F5F-4D94-83A2-22577EF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艺人候选、详情与组合比较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54BE4-BF0D-4318-B4AD-445F495D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从主观选人升级为有依据的候选筛选与比较。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002BD-A6C0-47B2-BDDF-77F3455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9E00C-CF34-4DB9-8E19-FBC12E44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1D673-5110-419E-819B-55E331A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F05E8-0FB8-47A2-BC49-BFCFE37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S19  艺人候选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C44ED-E3F1-4946-A6F0-2DF7176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D12A8-93ED-4BB2-AD1C-66372F30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A7695-4B1E-4DFE-B939-FB906F9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03333-F761-4AB8-861F-DE7EBFF2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56A9C-1041-489B-B838-4614888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5A872-F46D-4E0E-B661-CB926A6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08FEB-0BED-4479-BE25-82D8D0E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F7339-38CA-4464-9E13-26F40A2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9F8EA-8505-4367-BEBA-74776C6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B071C-5EF0-4FDC-B500-6342B6E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EBB6-A0AE-40E9-8FF8-787AE822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1DBA4-E836-41B7-B703-D3BBFAF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D1560-175C-486F-9CB7-06F4F8C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C2CA2-10A0-46B2-98C9-8DBC5CB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358EC-7023-4BBB-B615-53CD5C9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FA59E-17C4-430F-BE35-31F4645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9FA83-6E43-4B93-8894-D82CB64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8D326-A274-4EE8-9189-CA31FAFD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01EB0-AE6C-4240-A8DB-F0F95A5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谁更适合南京万人场？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43ECC-F878-40AE-88F1-E5B6856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· 候选仅为产品示例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DAD2D-DF85-4279-8E27-EE3B3DDC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46" y="3755663"/>
            <a:ext cx="2809517" cy="345028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67482-5E52-4660-AEF8-FF799A3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606" y="3788523"/>
            <a:ext cx="870786" cy="279309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D2E99B-979F-4DF9-82BC-9BF437C1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036" y="3854242"/>
            <a:ext cx="837926" cy="149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1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1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综合匹配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61C0C-1B6D-4C24-8900-863D4FF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541" y="3854242"/>
            <a:ext cx="837926" cy="149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收益潜力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2AD0B7-74AB-4F00-BCEB-DBC2068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047" y="3854242"/>
            <a:ext cx="837926" cy="149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风险较低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174E03-9CB5-4614-BC9D-E559389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46" y="4199271"/>
            <a:ext cx="2809517" cy="167585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15">
            <a:solidFill>
              <a:srgbClr val="E1DB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5443C-9029-415E-96F3-4A1D69A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4306065"/>
            <a:ext cx="1790862" cy="17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3818D0-53AD-4C68-A92E-856C93A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4511439"/>
            <a:ext cx="1790862" cy="138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华东受众较匹配 / 档期待核验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A9D9B-2FD7-4AD0-AAEB-06AA7968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197" y="4388215"/>
            <a:ext cx="657197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6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6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建议比较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F15D2B-DA2E-4457-BA61-8716DB5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185" y="4757888"/>
            <a:ext cx="25466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15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40E47-DFB9-4BC1-8752-CFCCB40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4864683"/>
            <a:ext cx="1790862" cy="17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27C513-1ABB-4BA0-90EF-BC6E025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5070057"/>
            <a:ext cx="1790862" cy="138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热度较高 / 固定成本可能超预算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D2626-D1E1-40C3-A450-6D45E18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197" y="4946832"/>
            <a:ext cx="657197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6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6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资金风险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E16868-7D94-4975-B294-43C68CB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185" y="5316506"/>
            <a:ext cx="25466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15">
            <a:solidFill>
              <a:srgbClr val="E1DB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C775A-0603-4706-8433-99062F6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5423300"/>
            <a:ext cx="1790862" cy="17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4A5D87-D9BB-44F0-94BC-655F625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5628674"/>
            <a:ext cx="1790862" cy="138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成本较低 / 万人场案例不足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FC9AD5-5228-45A2-835D-3A134737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197" y="5505450"/>
            <a:ext cx="657197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6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6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缺案例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97A1FC-6AD3-4E9A-9218-38B9606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46" y="5973703"/>
            <a:ext cx="2809517" cy="11090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15">
            <a:solidFill>
              <a:srgbClr val="E1DB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8A44B2-AF7D-46AE-B71C-9A1B319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15" y="6105142"/>
            <a:ext cx="2513778" cy="195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推荐依据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902E73-B617-45BF-BD93-DBC74D7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15" y="6366378"/>
            <a:ext cx="2513778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结合已授权历史项目、受众、城市适配、成本基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E2D549-E44D-4424-A9D7-441E63A0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15" y="6527391"/>
            <a:ext cx="2513778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准和资料完整度。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037658-4482-4C3B-ACC5-EF52BD9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15" y="6770554"/>
            <a:ext cx="817471" cy="21358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EE4A0E-8701-4443-8414-97B17D83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335" y="6795199"/>
            <a:ext cx="686032" cy="138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6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6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不是模型盲猜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2CB47F-4F0B-4772-9461-12D1D6C2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46" y="7181302"/>
            <a:ext cx="2809517" cy="552045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3D462D-7136-4A98-8EB2-AC3AFB95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46" y="7263452"/>
            <a:ext cx="24645" cy="38774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F0732B-6829-4B90-85B6-D6744C5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7296312"/>
            <a:ext cx="2530208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6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6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热度只是线索。授权、真实费用、档期和履约能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4C7597-262D-4957-BAEE-FF7860E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85" y="7457325"/>
            <a:ext cx="2530208" cy="16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6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6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力必须由人工核验。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BDB902-3BC6-45C3-9644-2C639D91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F2063D-4AE9-43E8-88BA-93AA57B4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选择艺人 A 并继续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6C1950-9AE9-4FD2-9A20-1730F22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C6E247-F1DF-4B68-9BB0-C264CE3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添加一个候选艺人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A7B01A-EBFC-4BA3-BD43-ABB58C3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B6A189-2CC4-48D2-90E6-5502CA20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7F89D7-171A-430A-B5DD-175E1EB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D88073-9430-4CDD-8439-5AF7DCC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C30C4F-6D95-45FF-A6DE-26A14495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DF13C5E-FB4A-4194-A3BA-B77EFD9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FBAA18-690F-4263-BE72-2164B6A8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249F0A-06BE-4DDD-BF38-D9C6858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230472-2B50-418A-93C6-CC6C2F5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D6A223-BF30-45A4-9A30-41BC18A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99FC0A-C69D-4720-A20E-0D58BD5F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09A6B2-761A-44AD-AD0A-B50DD16B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00F92F-DA2A-495C-86A2-0F45EA2A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683B27-2D71-498F-AACB-34722BD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DAAD14-6E11-4903-98F5-6B9874A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B25597-6F1D-4E78-8AB2-7DB0DCB3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6F21E3-C755-4286-B7C6-D2549097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7E9035-5454-4477-BEBC-A95B45D1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52B558-EC52-4B33-ACDD-8103F78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D468C00-FF6A-4047-9095-2E4D678B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523DA3-146B-4AF1-9533-C1EFB53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A56B19F-C410-4098-AB51-0C1C920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S20  艺人详情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773B92-D89F-4D65-B9DC-9A58A32C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11DD7E-6FFB-4284-8AB6-78DB645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0D09D0-21CF-4882-BFA8-4A45986E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1BB5F3-CB4F-404B-8FE8-2BD13639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F12CB2-31E5-447B-9B38-8C41CDE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32B1A6-7977-4929-964E-EC3DE56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AB4138-A4F0-4AE1-8516-A058E31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ED39F6-9680-491F-BC49-9638B977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560CBD-35D3-443C-A6B3-F61A148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741470-110E-4BFA-91B1-B0A5356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58D4683-7917-492B-B320-98B9E3C5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28B7C4-D2B3-4AC8-94C8-DD34218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F6DA5B4-58C1-4FB2-A99B-C3D6CA13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A81E99-1289-4817-BA61-2A7FBA3B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3E9B8E9-3A3D-46D0-8E57-F26ABB0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1D89DC-5135-4809-B1D6-12FDCC0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49B91A-6015-4B78-B02C-6AF6D3E0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17FDF78-5D71-4E9C-BBF7-CC472E3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4FB98B5-C171-4D5B-B6D3-19BDFE79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12F349-A8BB-4BAC-99E9-9D94478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候选艺人画像 · 数据为产品示例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0DB7E0-C0F3-4F22-8B1B-56A4430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3755663"/>
            <a:ext cx="2477902" cy="128966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3F7D5A-CC8C-4CE7-A0B8-D5CDB74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3864343"/>
            <a:ext cx="2217070" cy="11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28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ARTIST FIT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BDEC675-3146-4113-8BD0-229B112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052721"/>
            <a:ext cx="2217070" cy="253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26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与南京万人场较匹配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061C60-6819-43D5-BCE7-CD16CFD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357025"/>
            <a:ext cx="2217070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华东历史表现有参考价值，但档期和费用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B0DDE60-4A30-4077-A8C1-EA324E47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499033"/>
            <a:ext cx="2217070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仍待确认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899B1DA-E579-48E3-9B62-4D2C144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569" y="4596121"/>
            <a:ext cx="1557745" cy="344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4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72 / 100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2D4CE7-CEB1-418C-A758-F0AF228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389" y="4784499"/>
            <a:ext cx="76075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候选匹配信号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1BC9BB-9EB9-4132-A05A-AD94BA0B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5132275"/>
            <a:ext cx="2477902" cy="1528764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45">
            <a:solidFill>
              <a:srgbClr val="E1DBE8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D05186-562A-4DBA-81B8-38DAF13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5226464"/>
            <a:ext cx="2246052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城市匹配信号（示例）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CF3F802-9181-4848-8B31-C5CF34C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24" y="5400352"/>
            <a:ext cx="2188089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匹配信号 / 示例分值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8145F69-F50D-40CA-8B70-ECB1A7C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24" y="5559749"/>
            <a:ext cx="311549" cy="131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AF96D57-3DE4-4DD9-9C68-4B02028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5574240"/>
            <a:ext cx="1767860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D7927E-E4F8-4D87-9220-941E123F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5574240"/>
            <a:ext cx="1537269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414355-2848-4843-9A1C-08C8B81E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82" y="5545259"/>
            <a:ext cx="31154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86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06E2D7-0956-4DCF-BE81-ECF29CFA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24" y="5827826"/>
            <a:ext cx="311549" cy="131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杭州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08FC5E2-E02E-4852-AD5B-E17D457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5842317"/>
            <a:ext cx="1767860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E77DFF-7000-46F5-B738-103E78D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5842317"/>
            <a:ext cx="1322767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7D9FFC-4BED-4B7E-BC08-BA70FCC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82" y="5813336"/>
            <a:ext cx="31154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74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52AA8CC-7B35-4A8D-8E1C-B41525B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24" y="6095903"/>
            <a:ext cx="311549" cy="131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4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成都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2B5635C-4607-45C2-AA70-5CF0202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6110394"/>
            <a:ext cx="1767860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4CBD43-DA2F-40A0-A630-E639C11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836" y="6110394"/>
            <a:ext cx="1108264" cy="869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D2C98BA-E5C8-49F4-9197-C1581597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82" y="6081413"/>
            <a:ext cx="311549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62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532FDE-FA50-412F-9BDA-0C34B02F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6508887"/>
            <a:ext cx="2246052" cy="10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70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仅显示有来源的指标和明确标注的估算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9BC424E-EB83-4818-8C87-81C068CE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53" y="6747983"/>
            <a:ext cx="2477902" cy="985365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45">
            <a:solidFill>
              <a:srgbClr val="E1DBE8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65842C-B27B-4D17-B7D4-0D13393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6842172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相似项目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131708A-EE7E-44D5-86AC-A047A292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7023305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华东 8千–1.5万席案例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31C64FE-DEF6-4DB3-A6AF-BD028E8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013" y="6914625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3 例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4B0DD1-01F8-4E1C-97A2-96CC0426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3079" y="7240665"/>
            <a:ext cx="2246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45">
            <a:solidFill>
              <a:srgbClr val="E1DB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94FC5C7-4049-4C3A-AADF-729D6268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7334854"/>
            <a:ext cx="1579481" cy="15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费用与授权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026F2B-559C-499C-90A7-269CEC5C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79" y="7515988"/>
            <a:ext cx="1579481" cy="12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本项目报价、履约和版权范围待确认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93FA9DD-33AF-43CB-B740-2F5E1CD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013" y="7407308"/>
            <a:ext cx="579626" cy="14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9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未确认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87C0940-52D1-4FAA-A286-DCBF6C3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60448E0-6F7C-4FAC-8D93-1F78F540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加入南京站方案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0B12500-AA53-4C68-820B-EC08427E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3D4B573-FA00-413A-9C83-05B0FB9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查看依据与相似案例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F60C41D-9E07-4F70-8AD7-153A191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BA3D67-0897-421D-AE04-80F0C9F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8725C8-B856-445E-B77E-4D0461A9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038D1B4-5634-4F81-A508-4CE392DB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E3AC03-2F38-46B7-9CD9-8F34CD4E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22DA26B-BF77-43FA-9602-1A0C1AC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80A248D-2463-4656-9F6F-20F5FC5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CEB7593-C701-483E-8A85-92250E5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3240FF6-54A4-407C-9DDA-4E31B17F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FF7EC99-C4AD-462F-B263-C388E510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5D5DB3B-9263-4E7E-B73C-2AD5072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D0A97F9-8C06-4136-A475-2B5AAFD4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593465D-1089-4226-94CF-EDCAA14B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03E4967-8586-47A3-B4EB-D05A4458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68FCAB9-B9CD-4F8D-AB4D-EA4FA61C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2AC9D26-E76F-4F60-A9F1-5958FD3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33A7543-E964-4E58-8B1E-7B3E52D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5FB460B-C0C2-4CEE-8E49-BEF6F5E7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397D9D4-D174-4BC3-B2EF-562DE49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B5D2066-4B8E-461E-A4BC-A6F62C01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5E75EF7-D327-412A-9985-B675BCE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A082ABE-8474-46BC-94D3-66EE0CA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S21  组合对比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B6E3A60-F2F7-4D49-BB76-B8FE4C9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8A49837-9F74-428E-8719-A7AD577A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EEA9E0E-BC29-4061-BF52-7741F37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7F5FD38-217A-446D-B0E9-CEBEF209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DAF2C73-462B-4507-9CF1-0727D69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70C46D0-E9D6-49D9-93F6-6AE57C7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C4947A6-9B47-41B9-BCE9-F36151A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704BE4B-6146-4C15-BBB0-64535516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B9DF718-CC5C-4F68-9866-47F1E64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22275D7-6D64-4649-979B-851F3F2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3C66109-1DC8-46F7-A097-8A19863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36D90ED-24E3-42C2-AAC0-54F0E0CB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36F717E-A3A1-4A79-914C-09B0B7E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DDE09AC-6EB3-4E16-A119-EDEDD9D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7397138-7BFA-49D1-A4E8-244AB0B5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C0B04C5-AB2A-4D5A-AECB-746B9B5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B6E4012-8245-4B88-BF8E-99939BBD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1C6EA20-070B-4703-80D0-139B0DB4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CE8D752-014B-4979-86A0-3C9D10B3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比较三个艺人方案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DB96200-A034-47BE-93DD-3002ACE9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 · 12,000 席 · 资金 500 万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F91A60B-B257-4D6D-81C9-2B4B5D3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3755663"/>
            <a:ext cx="2656969" cy="326294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F725B50-8E5B-41C1-9BE2-2C61DE9B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295" y="3786738"/>
            <a:ext cx="823505" cy="264143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656A124-A17D-4E9F-88F9-32001602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33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艺人 A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800F2D4-4322-4A38-BDAC-3352458A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2490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3D57FEE-A9EE-432F-AA9A-7DC3563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8146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C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8A4672A-F69C-48B1-B295-3F32929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4175184"/>
            <a:ext cx="2656969" cy="675896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A9B994A-50E4-4B60-8F50-3B045CFE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447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中性利润示例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1CC6117-2F36-4EB7-9117-5F822D2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447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118 万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AC19397-802D-4D24-BE4E-A251B0EC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55876" y="4315025"/>
            <a:ext cx="0" cy="396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C70ABBB-D4B4-4E11-9B0D-F02053A0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103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保本上座率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975C284-6382-447A-922A-0C62D8DF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103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63.2%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D715CAF-8D89-413A-B1C0-72A68890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41533" y="4315025"/>
            <a:ext cx="0" cy="396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9F1ED34-7350-4873-8E2B-B2CDC7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760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资料完整度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7ABF5AE-137A-4DEB-A118-096E35B5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760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较高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ECB4428-F44C-4F40-9FAD-80DB8D2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4944307"/>
            <a:ext cx="2656969" cy="1639241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BB548C6-97F0-4893-93CB-D3BBCDB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5045303"/>
            <a:ext cx="2408364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 方案盈亏边界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DA225DD-A94C-4F7D-BC78-E7715C2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6272791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26194F2-5B76-49B7-AC2A-5E2B23B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6202871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CF7BD95-6936-4E38-BDC8-EF60C55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5818310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C40BC97-FAE5-45E2-AA6C-2A77990C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5748390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4B0C6B1-4367-4687-9B17-893F0B3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5363828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E4926BE-5A25-4D35-A335-18E3084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5293908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347571D-9F36-444C-B391-1D6C9E3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419821" y="6096125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AFB6357-3AD4-4208-94F5-56ABC49E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842450" y="5936548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3C6CBE6-3AE0-41FD-8BAE-F175059F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65079" y="5776970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6E761EA-9279-4616-A386-FBE70AD3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87708" y="5617393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476897C-702C-4FD1-A3ED-29A54510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110337" y="5457815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152A1F3-7C5D-454C-A21D-1DC897F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514" y="6232396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8B4CA9F-02B1-4468-ADE5-5F0D4122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136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22DEFA1-99D5-4A86-AF26-2E16F85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9143" y="6072819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63FB053-3B72-4724-92EB-3CDE0DB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765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1BF22C1-4687-4EA8-9DD4-ADB8DAB4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1772" y="5913241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834DAED-6D2F-43B7-BAFF-DD30974B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394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EF980D2-DFE5-41AB-9A62-622C130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4401" y="5753663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E05CB13-C038-4288-A6FE-06A67BE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023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14EC418-09CC-41F3-ABB6-9A5EA77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030" y="5594086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FECC71E-67DF-451E-86FE-9B6CAE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652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D06017F-D5B5-4FFC-9A58-E07DA256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9659" y="5434508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4842DB9-9D4D-45E9-B238-AF0707E0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281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4AC445D-939E-4DC0-B969-9F491A00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76846" y="5363828"/>
            <a:ext cx="0" cy="908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D84F40"/>
            </a:solidFill>
            <a:prstDash val="dash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C95794D-5310-42AD-A800-00F5A8FD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922" y="5340522"/>
            <a:ext cx="73804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0662315-5C80-49FD-8445-0B66303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359" y="5223988"/>
            <a:ext cx="1165337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E647FEC-7C37-4BB3-A59E-1019AB2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420401"/>
            <a:ext cx="2408364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当前选中方案的上座率变化与盈亏边界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6A92600-261D-4C79-AA06-1BC75DD7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6676775"/>
            <a:ext cx="2656969" cy="1056573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775FE76-88EA-4BA4-A6C9-54AC0254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777771"/>
            <a:ext cx="2206372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 优势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14672F8-487E-4CB5-A783-FC41A8CD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971994"/>
            <a:ext cx="220637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资金边界内的可比案例更多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AAA40AE-3366-40AF-A9AD-5CFCF076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890" y="6847691"/>
            <a:ext cx="108765" cy="23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4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34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FA57CC7-B7AD-4F72-A8EA-30A91DC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94522" y="7205061"/>
            <a:ext cx="24083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57372EB-3C28-44F9-A7CB-C9F65F1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7306057"/>
            <a:ext cx="1693624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 A 风险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C3B3D00-FE57-415C-84DC-799B7329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7500280"/>
            <a:ext cx="1693624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档期与最终费用仍未确认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577FFB6-23A4-4818-AE12-E10B6197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835" y="7383746"/>
            <a:ext cx="621513" cy="152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56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2 项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B871D08-AD1B-4EFD-9D82-EE52286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03068AF-0EA1-4C14-B6C7-5D564DA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采用艺人 A 方案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787AB3C-A8AD-42D5-B0E7-176B8CD4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F38E48E-3AD5-46AB-BBC3-48061CD4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调整比较条件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CCCF3B3-33F3-4C60-9D52-012FA65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8B1DADB-EF7D-46B3-8989-9E541D8C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A343770-800D-49BC-94F9-C91C90BC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A8F3B21-82AE-4612-AE50-68623FFF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0374B3B-45CE-4C14-8557-27EB58D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510588C-1CBA-4AFC-9F82-3BAC804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68202EB-8293-48C5-A0B1-955B6A1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42248B2-5D7F-43AF-AF0D-B8CD1AF0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BA52BFD-4FE5-434C-9363-DCFF0DF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9D4AFDA-B23A-42E3-9844-09E5CAA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3068128-F383-4273-94F9-5929288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D9458CD-83E5-42C2-9BAB-3FC8905F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513DBD1-4D1A-4B64-B2ED-7952EC3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EAB6272-A818-463E-8D78-C97FA31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EFA4A72-4CB1-4ED5-ADA9-85DD932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2E4486A-73C5-469F-8E86-C8CBB2D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E72D221-646A-4AC0-A7E6-C8B75B4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2E6BC0E-C1FD-4EFE-B02C-9174D1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E6BA688-B98A-4F91-A4A4-049943C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B51516C-4FE9-4DFA-AE90-664E8A8F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983755F-0B5E-4589-A918-69969340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269488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81875C5-D8BD-4205-B2AD-86C5CBB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AA528-CFA3-44E9-8742-A9FB431C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61BD5-C9FC-455C-B753-91ECE69A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城市、档期与场馆选择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7E5A3-D86A-4596-89E7-F625BDB5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将地点和时间变成可比较、可追溯的项目变量。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789E7-FC76-4DD4-9288-02B3557D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348C7-FCD1-422B-B065-90E1C70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C767E-8C66-4F71-9AB8-D71260D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7BBFE-6145-47B8-9E66-7483235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S22  城市对比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7D2B6-015B-4ACE-A69C-080BD8A6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0BEBD-3E2F-4281-B359-C2F25AE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1C2D0-2597-4710-AF44-A0AAABD6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1CC4B-8A3F-4243-97E1-4BC388B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361AF-AFE1-46FD-9D07-428CAE89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2B092-1E42-4B45-99AC-5D6B191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08FD6-5408-491A-8A45-791CA83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186DB-1ADE-4F73-94B0-F4EECF44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0AF5F-CDBB-4482-A617-053C19EF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99210-B357-41C3-A741-4418D15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56658-51CE-460A-A6DD-3E92120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F2332-A391-45C4-BE4A-76BC662E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40E59-E530-4A10-82B8-E1CAB3C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D196F-01A4-4FF7-BB1D-1CE64180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E502E-BA51-4395-A78A-DF25FC1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D79EE-56BD-4993-8B73-9DF6B50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059E0-606E-4139-81F6-BFAD770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BB932-5653-459A-82E4-F9EDDA9D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CBEE6-8111-4482-84C9-CB7C078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南京、杭州，哪一站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8963B-A69A-4968-A204-923D43DE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更合适？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5A2E6-D5F3-4A1A-9FC3-FDEEF947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 A · 12,000 席目标 · 产品示例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3B5ECD-0900-4AF5-ADAC-0BD47EC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560" y="4041725"/>
            <a:ext cx="2465888" cy="302828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7C9FC-B1E0-4E16-BB89-64546A1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401" y="4070566"/>
            <a:ext cx="764281" cy="245147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B5E3E4-7CA1-4B47-B790-107DFE5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821" y="4128248"/>
            <a:ext cx="735440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8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38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F6A4B-277D-4EF7-A394-75D15EE1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784" y="4128248"/>
            <a:ext cx="735440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杭州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B242B3-4DEB-4F92-A797-37BE7F4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747" y="4128248"/>
            <a:ext cx="735440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成都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9B9A7-80C4-44E0-BFA6-99462CA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560" y="4431076"/>
            <a:ext cx="2465888" cy="627287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0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948E2C-008A-4559-AE51-7E2101A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83" y="4532019"/>
            <a:ext cx="648918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中性利润示例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AB28BF-5F3E-401B-9DF3-71BA117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083" y="4697853"/>
            <a:ext cx="648918" cy="232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30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118 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6A8585-7C5F-4D8A-80AF-74272924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62523" y="4560860"/>
            <a:ext cx="0" cy="367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10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752C73-9D64-4BC6-BD99-B5164F84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045" y="4532019"/>
            <a:ext cx="648918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可比案例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BDA9B-FEA0-47EF-AB7B-6839A7E8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045" y="4697853"/>
            <a:ext cx="648918" cy="232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6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06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3 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FD103-3333-42A6-847F-AE273D65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4486" y="4560860"/>
            <a:ext cx="0" cy="367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10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592730-F2FA-49C4-BC91-E60B197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008" y="4532019"/>
            <a:ext cx="648918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资料缺口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306ACA-49E6-4455-A469-7E703039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008" y="4697853"/>
            <a:ext cx="648918" cy="232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30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2 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7BDEBF-8464-4713-87C6-E1E1787A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560" y="5144886"/>
            <a:ext cx="2465888" cy="1521352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0">
            <a:solidFill>
              <a:srgbClr val="E1DB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1C4FC8-C444-46FF-AA99-1DDC567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5238618"/>
            <a:ext cx="2235162" cy="15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各城市可比案例数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9F53C-72A9-4813-BEA1-C0A3F37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34" y="5411663"/>
            <a:ext cx="2177480" cy="100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8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8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可比案例 / 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EF503A-9E00-4B97-A934-4F39C003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34" y="5570288"/>
            <a:ext cx="310039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A376C5-37D0-42B2-8EC1-9335131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5584708"/>
            <a:ext cx="1759289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67F298-CE0E-4AB3-9FC8-3FE12FD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5584708"/>
            <a:ext cx="1529816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077EB0-6D93-4379-851D-F0A6D3E0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735" y="5555867"/>
            <a:ext cx="310039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ABFF63-33E3-4980-A74E-0C3F0E04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34" y="5837065"/>
            <a:ext cx="310039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杭州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15C167-CBD4-496A-8010-25611F2F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5851485"/>
            <a:ext cx="1759289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0A1A7A-F633-42DB-A920-C592E67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5851485"/>
            <a:ext cx="1019878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C5F618-CC7A-4218-828F-CE6B40A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735" y="5822645"/>
            <a:ext cx="310039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0972E7-4923-4C48-B353-F412862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34" y="6103842"/>
            <a:ext cx="310039" cy="13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成都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E09818-51DD-428C-91CC-E017344D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6118263"/>
            <a:ext cx="1759289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564CAE-3343-460C-92BF-2D81AD8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54" y="6118263"/>
            <a:ext cx="509939" cy="865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2BF005-5723-4B55-97D2-E9A766E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735" y="6089422"/>
            <a:ext cx="310039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B293EE-DFB8-455B-935D-374297B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6514824"/>
            <a:ext cx="2235162" cy="100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8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8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按相同艺人与规模口径统计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EF37E7-E7DA-44D8-A3A0-38C270D3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560" y="6752760"/>
            <a:ext cx="2465888" cy="980587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0">
            <a:solidFill>
              <a:srgbClr val="E1DB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EE48AA-9319-496A-8B00-FF6BD4F1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6846493"/>
            <a:ext cx="1571824" cy="15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城市适配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B3DFD6-94C0-475A-9196-8FAEA12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7026748"/>
            <a:ext cx="1571824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华东受众与消费能力有可比依据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57C45D-9DA6-428E-AA82-58045F9D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849" y="6918595"/>
            <a:ext cx="576816" cy="14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较好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3DD053-9BDE-442C-892F-D17E13A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5923" y="7243054"/>
            <a:ext cx="223516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10">
            <a:solidFill>
              <a:srgbClr val="E1DB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599CC1-3AF6-4AF7-BF9C-F84AB63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7336787"/>
            <a:ext cx="1571824" cy="15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5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主要风险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62F630-FD08-4B7E-B984-762EEA07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923" y="7517042"/>
            <a:ext cx="1571824" cy="12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8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国庆档竞争、场馆报价待核验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83DB60-B0F7-45A1-8B41-CEDADBD3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849" y="7408889"/>
            <a:ext cx="576816" cy="14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2 项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BB38DF-3E4A-4F75-84D7-FAA6D8F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308B7D-404F-49AD-ADF7-18B0D46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选择南京作为首选城市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593D81-6F5D-4229-B8C6-FBC52E80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3DEE31-215D-41AD-BA40-FB628173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加入更多候选城市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A00B81-453D-4648-B798-1B8973B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01AC27B-B99B-4239-B4E0-93B6FDE1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88181B-6D88-4FAC-B522-F21FBB9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2A3AE9-1CE1-42A1-BF45-E376BF4B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448D3A-E9CD-458B-83A3-3C30A358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48D2C3-53CE-44CB-8CCB-F7F0E887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F18131-8633-400F-B1DE-6E9EF7E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F4078B-EF3D-4B79-AFD2-9B294F0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6AE06B-D397-4F01-B310-A2418FC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140FA8-8D18-47AF-B900-BB8093F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5DBFCA-DBE4-474C-A4FC-A6B222F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273FE0-2E10-45F2-B5A6-17B31AD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C2BECB-965D-4FAB-A2CC-CFA5D424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6D7E48B-9839-46E8-8F08-2A9F4BF5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5EC614-AD39-4FA9-BBF2-B88514F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59ADC4-29BA-4FBD-B862-0B93A3D7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4C74ED-1104-41F6-9751-43271E8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DAFE5C0-197F-45E1-9739-CA252EC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D394973-4D5F-404C-A0FC-93FBBB4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432775-DDB7-4FC7-8044-F3B11A77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F540A4B-E2E4-40E5-B16D-E35615EA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8D0733-97AF-4590-A108-A48FF776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S23  档期选择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771EB2D-1071-429C-AE21-E007E97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C2DD587-821F-4576-9640-5E03E9D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C012AC-13F9-4DED-8944-52DD997B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D7E333-24CB-4EB2-A6F2-E3AAA647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2B724E-E3B6-4F92-BAA2-0DAAB5D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B442B6-8F0D-43F6-84F3-159743C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130CD8-993A-4F0F-BF8B-B8A6E1F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0568A5-017E-44A3-920C-066757F7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233409F-961D-454C-8FB0-30C439CB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A2184D-90D4-466F-87A3-0AB69722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CE6F66-95AD-470F-A502-AE872768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1B63D9-F416-4441-A0E9-05571172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E9952F-0D1D-4ADD-8959-3F9D99DB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67492E9-50C5-4FEB-BC39-2DB1AA6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0DC1B3-E159-4EAC-991F-AF1137C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32282F-C72C-4A61-BB52-23B9C3A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CE89CD-D062-4B67-8909-6318766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1A14C19-5308-4447-B255-7AD2298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DC7D387-19F6-4602-AA8A-F068E18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选择更稳妥的演出档期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8D2E1BE-DB98-43C6-BA0F-3844F51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 · 艺人 A · 2027 年 10 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819051-DDE3-4BF1-983A-004146D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192" y="3755663"/>
            <a:ext cx="2445826" cy="1866551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152">
            <a:solidFill>
              <a:srgbClr val="E1DBE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24DCAD-E33B-4F08-BE1B-65D918B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19" y="3870087"/>
            <a:ext cx="2188370" cy="170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5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2027年10月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3B8B53A-D89A-42B6-A0BC-E99EBBC9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一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B9C44E4-0EFE-47F7-863C-A5A1F9D7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435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二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FFC35F7-8F73-41DD-B038-923688A8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54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三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1D76CBF-1884-41FE-ABB7-81989E8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74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四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2F21A5-1E99-4087-8F76-2F40F8B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五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14BD916-1F3F-416C-AD2B-0F17A3AD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六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AE778D0-BC85-48DA-B48E-088C590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4120391"/>
            <a:ext cx="286061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EC8E0EC-F330-45DE-855D-FE07394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4320634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B49A78-D601-4AB1-8A7C-C1197D6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4320634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B2B9171-E8FD-4DA9-8997-3FA854E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4320634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C75203C-32B0-4A21-A552-694C4A1F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54D0E1-CE39-4CC8-A9A8-49D92C2F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435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D2AFF6-77B7-47BB-A810-F958A6E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54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494933F-5BD9-468F-8DA9-7D18C064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74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B65625F-DA93-4D5B-A05C-DCD95F27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846CAF5-E891-470A-A282-125D7AD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904E29-46E9-4B99-B61D-B8E08CE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864" y="4681787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4A2939-4B2C-41AE-894D-45F3F37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4542332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98F3D4A-2A87-411A-A230-83E1F27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683" y="4681787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A38DBE8-3F60-4D1E-A21F-5F97DE5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FBBA160-F8FD-474A-9B9C-7247B9D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435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D08D6BD-7C7C-48A1-A7D5-E9E71EF8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54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19130F-F54A-4CFA-8086-AE593FE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74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6DD65E7-81A8-4D0D-9E34-2B676DA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4DEA75B-48E1-44F7-A463-FB8287F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318" y="4742575"/>
            <a:ext cx="228849" cy="2002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B25B306-0966-4E55-8DB9-8DD4FA7F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7E3ED6E-9A6D-4042-9668-09CE776C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864" y="4903484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9208010-3928-4F11-B965-7F14779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4764029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480BBF1-786A-44A7-B9D3-4927F9D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683" y="4903484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FC162AF-48F7-4825-BD94-B6DCFDDD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D997697-61ED-4014-A5BA-A63DD82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435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52463C3-0F4B-4DD9-8630-F71A010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54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D51A74B-63AF-4959-93F9-CBB1850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74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6D98C0D-5CBB-43E9-A27A-5179B66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F7F55D-9FA5-4784-9378-DCA30A74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A03D225-5AB6-49AB-816D-AB4250A8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864" y="5125182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5427AD9-C737-449C-9D9D-9D36E63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4985727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CC2D732-BA20-45F1-9205-C6A4D550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683" y="5125182"/>
            <a:ext cx="35758" cy="35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262"/>
          </a:solidFill>
          <a:ln xmlns:a="http://schemas.openxmlformats.org/drawingml/2006/main" w="7152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5F498FC-2EB0-4FAA-8013-6B77192A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392F7B1-D9EE-4A1B-9BBF-7C31E00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435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291EBBE-EA10-4341-A3FF-636685B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254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9DAD0F4-CBBD-484E-A889-EF689D7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74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1876695-C5C0-4A47-9731-9BE3D92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893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EC27344-1934-48E2-B8EA-73CAF2E7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712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10D7C11-AAB0-46DF-BD49-133032A9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531" y="5207425"/>
            <a:ext cx="286061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8BE3332-58F2-4F90-B98E-6E22C6D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19" y="5429122"/>
            <a:ext cx="2188370" cy="110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1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● 候选档期    16 日已选择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DB00384-EBEC-4282-B6A0-0965CB6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192" y="5708032"/>
            <a:ext cx="2445826" cy="1458914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152">
            <a:solidFill>
              <a:srgbClr val="E1DBE8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8963C38-DA63-41E2-A484-D9AF0D2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5801002"/>
            <a:ext cx="1559035" cy="150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10 月 3 日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43D3E2F-E78A-4078-89C7-3E78E6DC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5979791"/>
            <a:ext cx="1559035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假期客流高 / 同城竞争待核验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B29BD2B-BFE4-4217-847C-9DDE856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7" y="5872518"/>
            <a:ext cx="572123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高风险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B81029F-BCAF-4359-8E47-350B725F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27616" y="6194337"/>
            <a:ext cx="2216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52">
            <a:solidFill>
              <a:srgbClr val="E1DBE8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1639E12-1CC7-4078-8062-F71090C5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6287307"/>
            <a:ext cx="1559035" cy="150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10 月 16 日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C61D529-B8F2-4D5E-A911-0B53FA7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6466095"/>
            <a:ext cx="1559035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执行准备期更充分 / 场馆可询档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5490FD-A173-4877-AB99-0F5C875E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7" y="6358822"/>
            <a:ext cx="572123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B623062-C739-4D07-9282-21BC52E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27616" y="6680641"/>
            <a:ext cx="2216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52">
            <a:solidFill>
              <a:srgbClr val="E1DBE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E82B8DE-9E9F-4082-816E-1D38240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6773611"/>
            <a:ext cx="1559035" cy="150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10 月 30 日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640014C-869C-4820-9A4A-CA0A9E1C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6952400"/>
            <a:ext cx="1559035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7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天气与跨城巡演衔接待评估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7E49B9D-AAF8-4342-8E79-C3A1733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67" y="6845127"/>
            <a:ext cx="572123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需比较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733652C-9A34-4A7D-AA8B-C98B064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192" y="7252764"/>
            <a:ext cx="2445826" cy="480583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C3BA1D6-B37E-4D9D-8ADE-95A32FF5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192" y="7324280"/>
            <a:ext cx="21455" cy="33755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228FC53-6FA7-43FE-B29A-B3499A9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7352886"/>
            <a:ext cx="2202673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综合历史项目、同城活动、节假日与审批周期；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2A5B30E-875C-4690-86A1-6DDBF729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16" y="7493056"/>
            <a:ext cx="2202673" cy="14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实时档期仍需人工核验。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2422E08-D787-42B6-8C1F-BAEAACE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CE0600A-843E-42C5-9455-E52A455B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采用 10 月 16 日作为候选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D1BA43D-474C-44E1-AA44-BFC9781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3915996-9AC3-43AB-989C-41D67EB6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对比其他月份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2139E9A-6CC6-4945-992E-294FDCA4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45695E3-D7FD-4A72-9199-4BCF0EEF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BA34ED7-1CF8-40C8-A59C-9EF898A5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BA128D8-4F5F-4D33-8F6E-2905EB2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39C6784-D2B6-4E8E-B601-6BD92A25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2C4BF3C-72E4-4D97-B222-715F3CE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1F523D4-C272-4689-8F2E-803FFD9F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F0047EA-C87F-4218-9704-3E85F2E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697FA31-B5FB-410D-B764-C3C732B9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FA4AB03-317C-4820-9594-67D1E682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AA747B2-E3B1-467E-AC2E-9B017010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CBA631C-2E7E-474C-B026-BEA553B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5E0343-7037-4343-B5CB-CD5BF2C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B3AE218-A43B-4EA4-94A7-EFF1D741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AA5D7B5-733E-4568-AAE1-F4AA2DF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BB0AA3A-F001-4CA1-89DC-DB9EC5E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BE47A53-E4B4-4B29-B39B-70FEB4D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1798330-B3EF-4CE4-959A-428824B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AD6EAB2-7B78-41C0-9B77-49E7C56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CBF4100-BCA4-4930-A1A6-8B23CCC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D77865F-91EA-490D-A379-E4F1AB0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E6CC3CE-778C-4E4C-A1F1-E0D498EE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S24  场馆选择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72C008F-20BB-4EE7-B067-24E1F5D8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8D28528-EDFD-4E87-A420-6B0990A4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7A44F7E-05E5-4140-B38A-A9D516F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879E6C0-B364-43C0-8D97-E028EE0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70C3059-B821-47B0-8D48-1C93C744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2675194-57D6-4E3A-A3A1-C3C56B3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0B0AAD2-96E5-4BAE-BBB2-5F21263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99A2025-ACCC-4A98-9007-05FC11A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B97D97A-A1BB-4050-B19F-5E731872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AB76AED-136B-4941-9101-3036A2F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DF10121-015F-43B4-B963-14691A4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4248ECA-4A9C-4B49-BD0D-06AAE27C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6569180-53AA-43EC-887D-1E65D7B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1C760DB-8C6A-4576-BAA3-AD72D6BC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CFCB2F4-8369-4EC1-93BD-D6F4E00B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1F5763C-EA1F-444F-B8F2-87EE02E0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56FF8C4-B892-406A-8137-A24B96C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9ABC29F-F720-4D1F-879F-B5BB866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6E4BF2C-80CA-4111-B6C3-37DA3884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选择适合万人场的场馆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62667F9-27DD-43EB-A1E5-DEF5FF22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 · 2027 年 10 月 · 场馆均为示例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39C90BF-8CD9-47E0-A50C-FDACC92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3755663"/>
            <a:ext cx="2656969" cy="326294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81B0DD1-F4EA-4184-A9CC-61CAFCA3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1295" y="3786738"/>
            <a:ext cx="823505" cy="264143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AB00380-15FE-40A5-B9FA-CADE7ACF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833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场馆 A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F6F5A30-3496-4B1A-A478-07596F35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2490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 B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C922E2E-9350-4258-90B5-9E89451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8146" y="3848890"/>
            <a:ext cx="792429" cy="141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 C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E0D07A4-DB85-4467-A7C4-A8365DC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4175184"/>
            <a:ext cx="2656969" cy="675896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428833-C4FD-40E2-B675-589AB8D9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447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可售规模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60451D0-000C-4A3C-BD5D-2E101C8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447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12,000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E07C91B-9512-4665-B613-0E05D87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55876" y="4315025"/>
            <a:ext cx="0" cy="396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292B6E9-4911-4E0D-98A1-DBCB7E28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103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固定成本示例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C94D7DD-16C1-4B13-8A9F-284D4DB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103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500 万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FE29668-BF2F-46A5-85AD-583D4101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41533" y="4315025"/>
            <a:ext cx="0" cy="396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78F23CD-D9FD-457C-945D-2CD5288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760" y="4283949"/>
            <a:ext cx="69920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正式报价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C8E9BB8-66E3-42B1-AD7F-09345B1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760" y="4462634"/>
            <a:ext cx="699202" cy="250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7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07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待取得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E420DF4-BA40-4821-8CF9-7C196D8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4944307"/>
            <a:ext cx="2656969" cy="1639241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C5D0957-909D-4136-B7BB-B3AF05AB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5045303"/>
            <a:ext cx="2408364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 A 方案盈亏边界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83779AC-D4B2-41D0-BBF1-1A1112F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6272791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D599E6A-EB74-4AA6-A2C2-A4ECF227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6202871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6EB36FB-C986-4FD2-A73E-DD23F99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5818310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780763B-40D0-4727-8C7C-E1DBAC3E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5748390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8311152-9D3F-4DB6-9C6C-70F899C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19821" y="5363828"/>
            <a:ext cx="21131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2046E1E-B281-41E3-94A9-BAB6CF6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602" y="5293908"/>
            <a:ext cx="23306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EED6001-086C-4292-A7CA-040943A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419821" y="6096125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EC1D56A-7A17-4517-88F8-F27EE143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842450" y="5936548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3A36804-740B-4265-8C54-F073B46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65079" y="5776970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363563C-60CD-4BDD-9B86-69F51E1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87708" y="5617393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5327107-D8EE-41F2-9FA0-010C7077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110337" y="5457815"/>
            <a:ext cx="422629" cy="15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422">
            <a:solidFill>
              <a:srgbClr val="7954C6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A8685DC-043D-4AF8-9A90-E1AB8F12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514" y="6232396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066342D-AD41-435E-A792-451382C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136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102CEDE-524E-4F8C-AB52-689EA864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9143" y="6072819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1A5B6E3-A67D-4239-9CFC-12BE5D89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765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3662DB5-E036-4D8D-8A44-209C7DF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1772" y="5913241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6DDCD87-BAB1-434D-8B97-8F80EAF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394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95A2ADC-4C1B-45A9-ADBC-ECE1D79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4401" y="5753663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AF4E32C8-3963-42A2-B0F6-9DB2845A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023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EA64D04-D101-41ED-AA0C-B862752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030" y="5594086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8311749-7E41-4E88-8CE1-569A7E0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652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3B10CBC-0634-4A0C-89FD-8F4C0F59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9659" y="5434508"/>
            <a:ext cx="46613" cy="46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769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BBFA447-E12B-41FB-A9E6-36469C75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281" y="6327174"/>
            <a:ext cx="357370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88E6E29-3F7B-46F1-9865-B4DF49C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76846" y="5363828"/>
            <a:ext cx="0" cy="908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D84F40"/>
            </a:solidFill>
            <a:prstDash val="dash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E0434DC-5DDB-4E75-986C-435407B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922" y="5340522"/>
            <a:ext cx="738047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39D1D0C-3D74-4176-9AA4-41B7413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359" y="5223988"/>
            <a:ext cx="1165337" cy="9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11F14D1-DCC3-4312-BF77-4D78376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420401"/>
            <a:ext cx="2408364" cy="108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12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当前选中场馆的上座率变化与盈亏边界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E836C9C-6CC7-4594-9165-4DB1CA9D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220" y="6676775"/>
            <a:ext cx="2656969" cy="1056573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769">
            <a:solidFill>
              <a:srgbClr val="E1DBE8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48B6867-856B-4746-B672-5F3FC109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777771"/>
            <a:ext cx="2206372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 A 优势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04D7BC0-70E2-4FB1-8E81-BE54009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6971994"/>
            <a:ext cx="2206372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容量接近目标，交通条件较好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A74DC03-D4C1-4B59-88D7-5AB10EDA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890" y="6847691"/>
            <a:ext cx="108765" cy="23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4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34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99D0AC5-8A40-4477-AAA4-8EF5C978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94522" y="7205061"/>
            <a:ext cx="24083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69">
            <a:solidFill>
              <a:srgbClr val="E1DBE8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AF1B567-FBAB-438B-A06B-D64C5251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7306057"/>
            <a:ext cx="1693624" cy="163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1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必须确认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34987D3-CBBE-433C-A245-77B98886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522" y="7500280"/>
            <a:ext cx="1693624" cy="130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可售区域、档期、消防安保与天气预案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36A6CB7-70FE-4132-B55A-AD4B0F9B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835" y="7383746"/>
            <a:ext cx="621513" cy="152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56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56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4 项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E2C44D4-56BA-4328-9D2E-78048FF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68D2073-F41E-4BE6-82C0-FECA7251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选择场馆 A 并发起核验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BD8FE1E-CF4F-4F9B-ACD8-06894A70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910197E-E979-4392-966A-20C0A231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发起三家统一询价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67D58EB-C2F7-4E0F-8FF7-C0A3CCAB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A758C8A-B256-4FCC-8320-668117DD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61D6D1A-CA2E-48D9-9785-2351247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07CE31D0-A022-4FAC-8E97-5D9E7D4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A0586494-8958-4E7A-8AA1-F67C36A7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85C3D82-B805-43F0-A627-5FEF762B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70E1992-B60E-4FFB-9E4C-5262E5A9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D1E0C417-3600-4BE4-B12A-969B19A8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42A0A9F-E92A-4B8F-A53E-3782FF2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8EDA786-649E-4E10-9825-A16297C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E2D3F472-69CD-471B-9D49-7A89E1BF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D0119A4-D747-4DD2-92A5-70AC8124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8A33A22-4EB8-434D-B202-EFE7844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83C9A7D-33B0-407D-84D5-5FC27FB2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E9E10FE-B955-4F51-8791-C507E0B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BEEF282-D225-4076-8B18-4B591A4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C3E870B-E001-42C3-940A-B64A5A0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674D388-8E02-4E23-AE43-13F0FE6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57F7BA1-206D-4D56-87C4-DE0DEFB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A5F9CA9-E11D-4C08-BA95-791A9FB5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5F4AE4C-161F-4FF3-961E-31127DB0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208857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220FC2-42C1-448F-94EC-3737B96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44B1-16E9-4B0F-96BD-8460AF1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96809-0BE6-430A-A2E6-512FAD0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财务假设录入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75F9C-0EF9-4811-AE8B-33886A99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把票房、成本与依据拆开录入，缺失值不按零处理。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58E61-5B8C-4689-AD92-18585536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A91D6-5A77-498E-8ED5-2C74CFC5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7A544-11ED-4F93-A628-26CBF4CF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A1E72-350D-410E-8F58-01A1438B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S25  情景输入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82127-A1C6-4544-B704-6BB421E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D6C18-7331-4EDD-BE8C-2293E8F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C5DFA-7424-4B56-960F-18E64CD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80C20-8233-4B21-9E64-B954A7F4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00343-AFCC-4338-873C-EF8E042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7DD21-C28A-4588-81EA-B869C5B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0AB2F-4093-4791-AC51-90E15D3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92F4F-0DAF-4916-9221-FEE7FC12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97BD4-3189-4ECA-9A15-2E9C077C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BBFF8-5910-4442-A810-C04D544C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EBC91-7A60-4071-AB50-527D2CC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D01D6-BA04-4346-91AF-646A968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B35FA-FCA1-49FB-AFED-5B9ABA0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BB80A-C4DE-402A-B721-F1AC35D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C3728-4CF4-4502-9DDC-939A0F7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FEEF2-6271-4167-8387-F948EBA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E1BAA-E6F5-407C-A697-09D86BF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B6C15-A8BC-48B4-9C3F-6123E6C3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4CF72-03F6-4A3F-8B0A-41B17825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三种情况，分别怎么算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E8D6C-229B-456F-902B-4EDC2CE7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容量 12,000 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BA3265-2F6D-4CE4-BF3D-E0B2CD9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3755663"/>
            <a:ext cx="2468908" cy="303199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ED295-DB9F-457E-A354-84CAABCD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365" y="3842291"/>
            <a:ext cx="736341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保守 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8DB6A6-0729-47C7-B803-47E9DDF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96" y="3784539"/>
            <a:ext cx="765217" cy="245447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55420-FFF7-470C-BB87-355EE900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34" y="3842291"/>
            <a:ext cx="736341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9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39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中性 80%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874E01-AABB-44FD-A56E-ED66D61D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303" y="3842291"/>
            <a:ext cx="736341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乐观 95%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A226A-44E2-4DA8-A492-406E2DE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4145490"/>
            <a:ext cx="2468908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预计上座率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BB6158-EB09-4494-A80E-9A6E5E7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4318747"/>
            <a:ext cx="2468908" cy="29598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23DAAC-E4F8-4B47-BC97-57BE73ED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98" y="4390937"/>
            <a:ext cx="2273994" cy="16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AC6241-2016-469B-9227-A243221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89" y="4636384"/>
            <a:ext cx="2440032" cy="11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中性情景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322D07-1787-41AF-B809-6A16C3FE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4816860"/>
            <a:ext cx="2468908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平均实收票价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1FD88-F535-4B13-A8EC-7F09CB5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4990117"/>
            <a:ext cx="2468908" cy="29598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9">
            <a:solidFill>
              <a:srgbClr val="E1DB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302ED-4937-4153-96FB-893D80C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98" y="5062307"/>
            <a:ext cx="2273994" cy="16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680 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168CCF-1083-4F66-8867-62036D8B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89" y="5307754"/>
            <a:ext cx="2440032" cy="11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票档加权结果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7797AB-09BB-4F55-ADC4-69FF49B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5488230"/>
            <a:ext cx="2468908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赞助及非票房收入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E7F35-CD06-4038-960D-6AC050F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5661486"/>
            <a:ext cx="2468908" cy="29598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9">
            <a:solidFill>
              <a:srgbClr val="E1DB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684AFC-C4F9-4E1D-97C2-F77DCFDA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98" y="5733677"/>
            <a:ext cx="2273994" cy="16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60 万元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104B0B-D158-44FD-9D7D-77AC9EA6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89" y="5979124"/>
            <a:ext cx="2440032" cy="11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5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没有时需明确确认 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8E8EE-9F84-4FCD-A78B-67B2ED8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6159599"/>
            <a:ext cx="2468908" cy="131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9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固定成本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634572-B379-49F2-BE4B-9FDF551D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6332856"/>
            <a:ext cx="2468908" cy="29598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9">
            <a:solidFill>
              <a:srgbClr val="E1DB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C8BF5C-6C42-456B-A45A-335B80D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98" y="6405046"/>
            <a:ext cx="2273994" cy="16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500 万元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8C7990-4FD9-4EED-9AA6-C5B9E6B6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50" y="6758779"/>
            <a:ext cx="2468908" cy="974569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219">
            <a:solidFill>
              <a:srgbClr val="E1DBE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552788-D155-406E-BF8A-9380753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93" y="6874283"/>
            <a:ext cx="2209023" cy="171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6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66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费率与资金摘要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35E323-44B3-409F-B85F-550031B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93" y="7103848"/>
            <a:ext cx="2209023" cy="14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单客成本 20 元 · 渠道费率 5% · 综合税率 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488695-3B7A-454D-9B11-F97B887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93" y="7245341"/>
            <a:ext cx="2209023" cy="14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· 可用资金 500 万。每项均需保留来源。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E716F-5A64-4F76-8E94-F80F036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993" y="7459024"/>
            <a:ext cx="806799" cy="1876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656324-6A52-49C4-90CC-9748CEA8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745" y="7480681"/>
            <a:ext cx="691294" cy="12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2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完整明细可展开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D6AEA4-BBBD-44F9-88BF-04461766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C15BAC-0E5E-4811-BF88-A9741DA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保存并计算三种情景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CB8ABF-2709-497C-BC71-B9E6C61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222793-2536-42B2-9083-C57DC178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保存草稿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FDBA42-EE3C-4F39-80DC-B5A84E35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CC06EE-E147-4926-A9BF-B9B59C9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9184DD-2590-45B1-8580-B011A77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202C32-AC68-4AFF-BF47-5DA6E371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0F2F86-32A5-45F7-811B-94F1315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C30FF1-F4F4-4C09-81AC-5194F70E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D66FC4-34EF-4D37-B83C-64D8755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34386A-C35B-43CC-B95B-69A7C9B1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D854B0-8C9F-4C6D-853E-35C20F8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C20DB1-A0FC-4340-AE52-4D894D1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B3CC6C-F2B8-4B5C-A94D-00DD7C2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21AB57-5204-4D91-BFED-D8FE3E9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427BB8-1373-4090-9F0D-35EB064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F9794A-BA2A-4F98-B93F-AB1CB19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1275C0-78D0-4867-A7FE-E75B579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F4C072-DCEE-4526-999E-ED921E9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8194C8-381C-483F-AE64-9C9B78B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E5DE8A-5231-451E-88FE-4D565AD9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1AC3DB-85CC-4193-972D-9F11BFF4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C9E598-FD92-458B-AD2D-3FAC3F1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FED3C3-0E98-47B3-A120-70A49B2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4E3DC5-9FB1-4337-A943-B97F38C8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S26  票档编辑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E38224-0518-48AF-AADA-E75B136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279CF4-58CC-4B6D-BE94-ABF9815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B0344B-5534-4779-9FC2-42DAC916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464D95-1ACF-4AEF-BFE4-38AA6AB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AB59D1-9879-46E7-B935-376031EA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55D6B6E-75E5-423B-A9D1-7E4148A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7D2C75-172A-41B9-B200-5EF7552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B0722E-C4A3-4112-AFBB-D35BB16F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3421A4-9E6C-4B66-96F6-FD42AE2B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7200A57-D416-4054-9CE8-2ACC192E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C0AC53-71B8-40A1-B0EB-4ECD46EF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DD7124-C7CB-4B94-83F0-4FF9151C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F4B999-C869-4DF2-ACF1-E682041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A362E99-3CFD-431F-AED2-49356548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FA61D4-125B-4053-A4D7-B7FA067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2BDB582-8728-431B-B57F-897AA4A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CFBF35-C6F1-4F8E-9329-09DFAC7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6578EF-7971-48B9-AB1F-3C4CF081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C2BC4A-69CA-4C09-BED0-9C47F0FF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票价结构与可售席位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051D9C-FB40-4962-AD7B-F2629C50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产品交互示意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6A930F-A98D-45C1-8B32-1E15D6C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4B8373-D867-42C8-B1AD-12538E9D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可售容量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F5DB30B-3424-4F2A-A659-73DE8AA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12,000 席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8A52179-EA4F-4E8E-96AC-8B8DCC3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361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9674B1D-2DE1-4D0F-A64B-481593E7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加权实收均价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261E417-426E-4D84-B63C-92858A43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680 元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39D99AC-9DA8-4C34-B47D-C82DB911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571336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CB648A-921A-4973-8D5E-0711C3F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784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看台标准票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887A71-82A4-4132-8230-33B2CB1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8844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4,800 席 · 示意票档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22FE3A9-DC21-41F2-A021-5DF76F6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7608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480 元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CFE6046-F09C-4B6B-A373-4D990254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182AAE-2CF1-4572-910C-F4551952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看台优选票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17C524-69BC-4F21-8772-E723BCC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3,600 席 · 示意票档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B2167E-DDE5-4637-9437-170C303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680 元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937E78-CFB8-4DE7-9491-5CBF5D6E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019C1C-A942-4131-97B9-687A892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989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内场标准票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A3AA06-EF9E-4BCE-83A6-90E4A6C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0049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2,400 席 · 示意票档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85A4272-28DF-4132-89FF-DD8E0919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8813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880 元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FA33D41-C11B-41A9-8D08-1FDB88ED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6252118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28E3E0E-0549-49BC-8C48-B0B4259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35922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内场优选票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9FFE3E-C3DE-4A10-AE29-D1B45FD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56520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1,200 席 · 示意票档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7D12DFA-8728-4235-97E0-2D6C6704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644161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1,080 元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CD39DEB-2532-47F6-8732-F78A88B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911248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183E471-F07B-4A5F-BF0D-FC565F55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993639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A4027B-728C-45D9-8CCD-7FC15C2D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02659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折扣与退票已计入实收价；容量仍待场馆确认。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8D59115-2CB2-46DC-8BC6-F478083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18808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票档与数量仅为产品示意。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B3292B-F878-4B48-8DA9-12ACD2F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1DB62BF-FE50-4C62-8AF2-DCD902C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采用这组票档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4722592-F1A8-453F-BDCC-DC7B5BC3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0DCE970-A182-4879-B38E-7F1BBDC7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导入场馆座位表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7FD7CE6-4316-40DB-B319-B540BD8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6FFE6C-2F87-4D9B-B9F6-E8C1BBE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3ABD1D1-D935-44A7-82A0-EC400BB3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587E605-03D4-4BAA-87A2-94CFE66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B31B3F8-2B00-4065-BE85-3F72D7E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39DF018-8A5E-41B9-8EAC-73E2A2F0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DE2E995-C393-47DD-95D6-75A9E99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8173F64-21E5-4C69-B7EE-57667C08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C4F1092-517F-4ABF-91CC-094E2BF8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AA537B0-73C0-4708-B50B-EDDFB34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BC4E6B6-E3F2-4571-88DF-ADDECF8D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5517DB-F490-47C3-A90C-3119272E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C8B2D2E-558E-4188-B106-58D51CD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E45C08-C6C4-406C-89EE-559EF53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6546C46-F1AB-426D-A763-E495213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B9DFB56-2780-4273-9214-FA07936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F2325F9-6E47-495D-909D-A6438D40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81068C4-8FE8-423F-B9A6-7AAFD373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AC8565F-2813-4A6E-B6E1-5AA0C83B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CAA287-B393-406F-84CE-FFF99DE4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86A803F-111F-4D08-9E87-4BCC38A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8E41360-3022-4511-911F-26FC9A2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S27  成本明细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81FAA8-45A1-416C-94A7-305D5514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ADB07E0-64A2-4976-B68B-566EE8B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BC221FD-CA59-4F83-A62F-643281B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F4ED1D2-9892-410C-8122-3E09BF89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41E326C-BD74-44B1-B4B2-6FCB5F2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62BFE51-2518-478B-864A-27E8E697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8266A92-3B4C-4F47-8986-BBA62C9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FDEAA17-E19A-43E3-BD53-9BBDE989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5A5D1E3-50CB-4A9D-BC0A-87340DB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0E66747-63BA-4C34-98EA-05AF04D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E3592F8-66EC-47AC-9FAD-BEA450C1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121CAE4-0B2D-4609-BDD0-3D9A458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18B09A4-6AE5-494E-90B0-6E344244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98D018D-064B-48C7-A150-4D69F28F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E8DA81E-9D36-440B-8842-DA8E941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2374AB0-50BE-4FFC-BB2F-A88EEBA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A79CD2-309B-4361-9664-2B4AE159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645B20C-FE09-418A-B4A2-2CDBE25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3A76432-0D9A-416A-8CAF-D562CA10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钱会花在哪些地方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8C5540D-61EA-40C2-B794-DC0A4D6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中性情景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75AA130-E01C-4AE2-AFF4-814D2955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608" y="3755663"/>
            <a:ext cx="2626193" cy="668067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79">
            <a:solidFill>
              <a:srgbClr val="E1DBE8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833CD3F-02A5-4396-9DF1-1A1CDF8C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755" y="3863168"/>
            <a:ext cx="1128802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固定成本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4DC3649-85DD-4C70-9B97-98CA795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755" y="4039783"/>
            <a:ext cx="1128802" cy="247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91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91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500 万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EDB3FD1-1CA0-477F-ABE2-08FFC92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3893883"/>
            <a:ext cx="0" cy="39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79">
            <a:solidFill>
              <a:srgbClr val="E1DBE8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72357E6-1F24-49E4-BF3E-6844CAEF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852" y="3863168"/>
            <a:ext cx="1128802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预计总成本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081FA6B-1950-49E6-8D2D-7CCFB564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852" y="4039783"/>
            <a:ext cx="1128802" cy="247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91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391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594.61 万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CB1619D-3539-4D08-91EE-A51C781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608" y="4515877"/>
            <a:ext cx="2626193" cy="2088668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79">
            <a:solidFill>
              <a:srgbClr val="E1DBE8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E6ED849-955E-4F9A-9B91-BD20A4F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4615703"/>
            <a:ext cx="1674006" cy="161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固定成本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B520775-486F-4649-9981-C9DFFB7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4807676"/>
            <a:ext cx="1674006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艺人、场地、制作、宣发等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091210F-3E7F-40BD-8BD8-55B7EE5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66" y="4692492"/>
            <a:ext cx="614314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500 万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086D2CC-C12F-49E1-92A2-4BD86A6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08471" y="5038044"/>
            <a:ext cx="23804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79">
            <a:solidFill>
              <a:srgbClr val="E1DBE8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04047DD-81FE-4E1F-8A79-40F3E9D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5137870"/>
            <a:ext cx="1674006" cy="161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观众变动成本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24FF2EE-865E-4C4A-9677-E3697BD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5329843"/>
            <a:ext cx="1674006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9,600 人 × 20 元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D16E254-8A06-4985-848E-308B60B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66" y="5214659"/>
            <a:ext cx="614314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19.20 万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C3C1CE8-611F-4FD4-BDBE-F77EA73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08471" y="5560211"/>
            <a:ext cx="23804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79">
            <a:solidFill>
              <a:srgbClr val="E1DBE8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0CDCED5-64C2-43F5-A85D-39A2DBA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5660037"/>
            <a:ext cx="1674006" cy="161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票房比例成本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3F83F9-8FC1-4D64-B543-AF5DB61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5852010"/>
            <a:ext cx="1674006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652.80 万票房 × 5%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7360564-680F-4104-ACD9-A59ECF3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66" y="5736826"/>
            <a:ext cx="614314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32.64 万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37E3E5F-F306-4BB1-A91C-82BE9EC6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08471" y="6082378"/>
            <a:ext cx="23804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79">
            <a:solidFill>
              <a:srgbClr val="E1DBE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FBCE4EE-E3DF-41CC-8D1C-F4CDDA7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6182204"/>
            <a:ext cx="1674006" cy="161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综合税费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7BAF059-B822-4774-9DBB-6C76A36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471" y="6374177"/>
            <a:ext cx="1674006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2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712.80 万总收入 × 6%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C03DFFD-975F-4D1B-8F67-9A734C2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66" y="6258993"/>
            <a:ext cx="614314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46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42.77 万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E23870E-0801-4CA7-902F-9E159B5C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608" y="6696692"/>
            <a:ext cx="2626193" cy="103665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79">
            <a:solidFill>
              <a:srgbClr val="E1DBE8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5830F00-9009-4A99-9A39-EC25240D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28" y="6819555"/>
            <a:ext cx="2349752" cy="182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2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成本依据完整度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1137FDA-6676-4C46-B424-2800B8D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28" y="7063745"/>
            <a:ext cx="2349752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固定成本仍需拆分到合同、报价和责任人。没有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5B7CE4B-8DD4-4862-818C-87316FA5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28" y="7214252"/>
            <a:ext cx="2349752" cy="1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6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6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依据的成本显示“待补”，不会自动填成 0。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3E52CF7-D1CC-4CA5-9417-5132F68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828" y="7441548"/>
            <a:ext cx="698015" cy="19965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08966E9-5548-4BC6-A785-32EF1DDE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260" y="7464585"/>
            <a:ext cx="575152" cy="129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6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26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待补充 4 项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05D76AA-4D06-45C0-AFF8-A79FB1EC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DAC58CC-B31A-4E7D-BC87-5FCBAF0E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确认成本口径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A74F448-5662-452F-9366-E69C07A9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05DACC2-5563-4B80-9644-DCC25F57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新增成本项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C1E3352-835F-4983-B9A7-6461B58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1F59A22-253A-4F4C-B3C2-8B9D1EA6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7A8E8E2-9C06-40D2-97FF-EAD2EF8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601A13A-3184-40F1-8D8F-E54789AD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D1D1FE8-4D48-4824-AB5E-3A706C51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FCA58C3-994F-4E52-98E9-C580909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AFEE8DF-8674-489E-9749-6143D27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70F406A-8249-4703-8225-1F0638B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2759C6D-768D-49B9-AA41-E5E56897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22B78C8-C63C-4C55-94EE-E021A7E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FB8A825-CCF9-41DB-9576-2620291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14204AA-6B6E-4478-89C6-1C73AB8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B200FE8-5DF6-4C73-AAE1-9E42B6A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7DCE8C3-539B-45CA-BD8A-71E7E6F6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818B901-11C9-4B35-B201-A40FEA5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CEB6CB9-025B-4E0A-A1EB-26F3406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BEB6770-CDD4-4F09-AD30-821EB99D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6BDFCC5-B474-493D-A6F5-4C0A1DC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B6DD595-2806-49B4-9F32-35FA52F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5ACF1EC-AF77-46C6-B135-F6F6423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FD25750-6DC6-4810-9A79-7326D06E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2154471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9B43A33-44CC-46C0-BAC6-ADB38E1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105EA-C6FE-42C1-A106-BE18FF7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D420-D41A-4A12-A9AB-A2BDE543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三种财务结果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EBBB8-FE52-47AE-AB67-C3D2F4B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同一套确定性公式，展示压力、当前与上行空间。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E4B82-0D05-438E-8991-C97E981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46699-719E-4586-861C-2F1777C1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02B1C-C075-4224-A91C-B6283A6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B4C83-5AA3-4F86-BB9D-95AFE48A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S28  保守结果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8D727-1DA3-4D2C-BBFD-18EBB5F4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5CA0F-83C4-4501-A427-D7DD6A0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98308-FAB5-4467-A793-7814997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7E096-5AD1-4AE0-BF12-7EFD4710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15850-B130-498D-9403-9992D254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B910E-DA34-4061-ACF1-45DED68D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605A0-5F1D-401F-A43F-6C83736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7A38A-097D-4282-ACF7-7A5E465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19AF-6FB7-42EB-9E1B-F9560FE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6407C-6464-47DD-A652-B2849B6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64E87-F5FB-4C16-8326-840F3F0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45491-3C5F-4185-AB38-C906CAC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FF7D0-35CA-465E-805A-646C04FF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B7BF1-9670-44DD-A3F6-9F34A68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31A1A-023D-4CEB-8451-A5386FBE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1CD1B-CFAF-4A7F-BA3E-7FBD226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C722E-A8DE-43F8-AB3D-414D596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70851-52A4-442F-B525-92BB4B60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DE41D-E168-4669-AF08-9F6F76EC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保守情况：只剩很薄利润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473F8-F218-41A8-B104-3B5F72B5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65% 上座率 / finance-v1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CFB6A-09C1-464C-AC83-79C2C4F0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3755663"/>
            <a:ext cx="2720736" cy="1416056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23626-6D40-4684-B164-388A5FA6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3874993"/>
            <a:ext cx="2434343" cy="12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CONSERVATIVE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9396B7-1E4B-4AB9-8DAD-4882E94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4081833"/>
            <a:ext cx="2434343" cy="27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6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66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压力边界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D9825-87B1-4530-8B91-DB4AF544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4415958"/>
            <a:ext cx="2434343" cy="15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7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77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利润对销售变化非常敏感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A2BBC-FBFA-4702-AFF7-81B02AC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4678486"/>
            <a:ext cx="1710404" cy="378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13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+12.86 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12586-2C92-4B8C-9717-B674CE6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51" y="4885325"/>
            <a:ext cx="835314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2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预计利润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D44D18-CA30-486F-B27B-54DAB1B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5267183"/>
            <a:ext cx="2720736" cy="692117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55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77D74-A768-479A-9673-76FC87B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01" y="5378558"/>
            <a:ext cx="715983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总收入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E8E170-AD4E-4BBC-9834-CCAA116A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01" y="5561532"/>
            <a:ext cx="715983" cy="254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590.40 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792F9D-7415-4B33-B814-74BC605C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0048" y="5410380"/>
            <a:ext cx="0" cy="405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C87ADE-5436-44DA-89FA-3D34333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513" y="5378558"/>
            <a:ext cx="715983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0333D8-F91C-4745-83B5-ECB3E091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513" y="5561532"/>
            <a:ext cx="715983" cy="254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29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577.54 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35B5E-94FE-43C1-95E8-78DDB29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26960" y="5410380"/>
            <a:ext cx="0" cy="405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4ECC9B-89E5-4AFC-A6D5-38954E03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25" y="5378558"/>
            <a:ext cx="715983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ROI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DC7343-7494-4B83-9E9D-EE77F014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25" y="5561532"/>
            <a:ext cx="715983" cy="256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41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41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2.23%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3BB9B0-8ED2-45BE-BC6D-1E4CA966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6054765"/>
            <a:ext cx="2720736" cy="1678583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55">
            <a:solidFill>
              <a:srgbClr val="E1DB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B19792-71CC-4CFC-9B65-1A19CC0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422" y="6158184"/>
            <a:ext cx="2466165" cy="16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4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上座率变化下的利润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839FD-B49E-49E0-85E7-FE6EBAE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7415133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10C22E-CBBA-4204-BC6B-87949A5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7343534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46B276-6275-411C-8E0E-1673C30F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6949744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B0F323-C2B7-41D4-AEDD-959F11D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6878145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E6639-5DB2-4390-B3B3-40DADDAC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6484354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577F82-462C-408B-B037-5587F12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6412756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23E711-A067-42CB-B209-8FBA95FB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71128" y="7234227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1945E9-175D-46E2-94E8-C2B3576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03900" y="7070819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34E6CA-FF05-41DA-B96B-BAEA0EBF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36672" y="6907412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973C26-657D-4934-9F90-109A2C9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69444" y="6744004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6537EC-1606-4D23-B98A-BCFE798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2216" y="6580597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05A7A8-4FFA-4F7A-A460-A4C17DE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262" y="7373768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BAE92E-1F5A-49C2-882E-6EE77A2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154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767FF1-6B2B-4B81-8FD1-77FAA12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034" y="7210361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EC4E7A-F7E0-4A9A-8C98-F1BE87B3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26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62B527-96BC-4E09-9861-6854E866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806" y="7046953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CB5A5F-23C8-405E-8A82-CACF80D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99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A4E48A-1F9A-4A32-96F8-26E98CB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78" y="6883546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70A138-0496-49D6-8BD0-F78CD06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71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1506EA-9E6A-49FF-96E5-0197D038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350" y="6720138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82EA45-55F8-4B9D-BDA5-A191824D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243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7194B5-2A08-4C8F-96CD-C75254C9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22" y="6556731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503924-079E-403F-AF56-C74B8A7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015" y="7470820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35CAB1-54F1-4EF4-83DA-89BA2B1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1521" y="6484354"/>
            <a:ext cx="0" cy="930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D84F40"/>
            </a:solidFill>
            <a:prstDash val="dash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C24646-594D-48AF-9EC5-15D11324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43" y="6460488"/>
            <a:ext cx="755760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88DF93-D4DA-491F-9AF9-679F509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039" y="6341158"/>
            <a:ext cx="1193305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6D5B66-EEB7-4432-B39E-5BB5943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422" y="7566285"/>
            <a:ext cx="2466165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收入仅略高于成本；仍为调整后推进，不代表安全盈利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A4B9A1-ABBC-4E04-94CB-1486A4E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9E225D-9728-4FD6-B994-33AE82F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查看中性情景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4E9A99-1F4C-4FD0-B97C-46F9A780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100A82-AFCF-4E03-B25C-6CBC9F2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调整保守假设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E21B00-54BE-4130-8122-A8E73BF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E60520-1043-4B06-841E-52789FBF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365A90-7B1C-46D0-A94B-28A55F6E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B896C5-165D-47DA-A24F-B5471C28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FB65AE-C3C7-4217-AB48-FD788059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DBE243-238C-41F7-8D82-CD915EB5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2F3E6C-052B-4092-9DDF-106CEE5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05C115-F299-40E0-8D38-C1AC4E4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DABBAC-A3CB-44E5-B988-5664F1F8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95A690-B9AD-45FC-8C0D-2AD380EC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A512DD-DBBF-4FF6-A2FA-A39D7167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0694CE-991D-4994-9747-08C4C277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AE21A2-BB4C-4851-8412-6587B45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2CF4E0-78C2-42AE-B77D-B9624BE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6056AA-ABD4-46D9-A067-047D5B2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69A2DA-92BA-4D47-9A5E-6D10FCA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F8D950-AE75-41A1-B516-FE6254E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977FE2-8C50-4E9A-BB09-AC0EEBEA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C277C4C-91D0-4FE5-B843-70855654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66552F-4BC7-45DE-AB95-3D67844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9F64D7-E3A6-4EBC-A9F4-DA9C1D7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90CF8B-0E72-42E7-B203-4EF051DC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S29  中性结果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E3AA43-5A10-4C75-8A72-9CE6495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F1698B8-C36E-4194-9CA5-05D07FBD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624B4D9-9DDB-4583-8970-35BC6236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8BA48A-508D-4882-A713-4B5124E2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CAAB18-58BA-4FE7-8256-9DCA0EB1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B829A7A-9A1E-4AC2-881E-A5BD2E4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B78B24B-B0DA-43A6-ADA5-4FDB6752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D6458E-E2BC-44AE-8403-1AC709B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854E1F-9537-45B7-9006-2994156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799427-33B5-4646-82CE-E535CD0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9D28B4-BC32-4E49-A2CD-E675123F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C1DB2C-435F-483B-8472-159ACCB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3F275C-5420-472D-9C2E-D54B09C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76D0A6-51B3-468F-A3D3-53EBD1C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B1425AB-B24A-4379-A5E3-2AB07C7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28B431-5A6F-4CC8-91E6-FA3199D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5AD3DCB-3891-4EE6-B03E-DC3137E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49C581-28E7-4315-BA13-9C15D186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6EE413B-0807-4EE1-8058-D73A257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中性情况：有空间，但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05D1724-A9BA-4FDF-AFA7-0F60015D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要带条件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ED18A5C-9C86-40EB-AAC6-4F096A9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80% 上座率 / finance-v1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6DF63D-C04C-4493-BD67-E1C05904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643" y="4041725"/>
            <a:ext cx="2560923" cy="133287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EE27C6C-14CE-4141-9683-52E623DE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28" y="4154046"/>
            <a:ext cx="2291352" cy="115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NEUTRAL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D4964D-9DE3-4F6B-8D44-EED668A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28" y="4348736"/>
            <a:ext cx="2291352" cy="262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74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74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当前判断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0E1FAE-4C02-4859-987D-DED3DDB0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28" y="4663236"/>
            <a:ext cx="2291352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财务可行不代表门禁已经通过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924F59-8B5D-4416-BFA4-E18E409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28" y="4910342"/>
            <a:ext cx="1609937" cy="356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178EC2-273E-413E-B4F2-C552EA5A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56" y="5105032"/>
            <a:ext cx="786248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预计利润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B14D47-7F61-43EE-9E5F-52074CC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643" y="5464460"/>
            <a:ext cx="2560923" cy="651463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488">
            <a:solidFill>
              <a:srgbClr val="E1DBE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73EBEA-2AFD-4867-85D1-DD3C801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500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总收入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169FCF0-4CE5-4D61-B2DC-E256D07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500" y="5741519"/>
            <a:ext cx="673927" cy="239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4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4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712.80 万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7C6F73F-FC14-41AD-99AF-BF5B25E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9284" y="5599245"/>
            <a:ext cx="0" cy="381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0E4479-EA2B-4123-A94C-49D979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41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ED6368-A3E6-42E3-90E4-6F076B0E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41" y="5741519"/>
            <a:ext cx="673927" cy="239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4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4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594.61 万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F198488-1EB6-4E54-80FF-38ADE18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62925" y="5599245"/>
            <a:ext cx="0" cy="381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1ABDB66-0B2A-4165-A290-39CCB60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782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ROI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B29CF2B-85A7-4B65-B640-ED9F307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782" y="5741519"/>
            <a:ext cx="673927" cy="2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356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19.88%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A871160-07C5-4CCD-B332-487B4C8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643" y="6205780"/>
            <a:ext cx="2560923" cy="152756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488">
            <a:solidFill>
              <a:srgbClr val="E1DBE8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B2A7881-5434-46D0-AB29-D7E02C4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6303125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预计售票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F9C0BB-F664-4CFD-BAEF-C99BFC0E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6490327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12,000 × 80%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C123FBF-8C24-4DA2-BAF5-4DDB5AB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34" y="6378005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9,600 张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5F4A7C5-36C8-4846-B0CF-0634E09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5452" y="6714969"/>
            <a:ext cx="2321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9F752A2-3F60-4040-8F09-6A52278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6812314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保本线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C04651D-D52F-4C65-A94E-BCB47EB4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6999516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低于该上座率需重新测算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85E9238-E6FB-4F39-BF24-2555CE72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34" y="6887195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63.2%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7F93F7E-C1AC-4995-A981-EB77C861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5452" y="7224158"/>
            <a:ext cx="2321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F3FC91A-2062-4B58-B73D-9C4EDE5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7321503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最大资金缺口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53701AE-4FE2-4650-B7FA-42A11B1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52" y="7508705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全部成本先于回款的保守口径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075B39C-B5AC-44A1-BF48-08DCBA3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34" y="7396384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94.61 万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5FCEEBB-3976-4C87-804A-68C83197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D1C012F-D5EE-4478-9B0D-8F206DD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查看完整判断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A5D2BAF-0545-47D0-AE00-7971278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6E07538-3574-413B-9EAD-9B09403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调整中性假设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0E0D4F7-2851-4636-8105-3D789942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D7648E3-B0B5-46AB-8ABC-4ECEDB6B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EF5FDAE-476B-4D4F-BABA-78841E6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0774E7B-DFF8-498B-B517-319048B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96C13C5-E180-41D1-BC2A-7FA1881F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DA3ECCA-2944-4877-849C-E0FE3825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9A1420F-6419-40E4-B85E-6E78B4D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9CFD4B0-726C-430F-AFB3-5D025A62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EF46CA9-385B-4F05-BEBB-D286BBD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9529396-55C8-41CB-AAA0-4C078F4B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02472B-7301-4FB8-B776-6B9314D0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5755EE7-54E4-45EC-8227-6E02E9F6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1498596-FD6A-4879-B338-628604C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88B8467-BDFC-4927-8C33-BAF1EBA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8C7A3B6-E85F-4321-90ED-0CDCD970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7F78E40-E218-4F34-96BB-16BD8DF5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1587E6A-44B1-49C8-A018-77065FF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5B07D80-CDA2-4489-A823-4D83AC13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02D1B12-0710-46E3-851E-F4A9331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6EE9E1C-FFD2-4068-979B-3B3161C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19722CE-C82A-467F-AB3A-05CADE9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99BE3D0-7559-41DE-B22A-DB1F046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S30  乐观结果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AC58BA3-5FF6-479F-8182-0D54988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A82CC0F-DE04-4EB3-AB8A-93D8A875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1F8D065-26BB-4A19-91F0-AEFBCBF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C2EFDB9-4684-40D3-A785-E040DE79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9B195A5-7259-449A-959D-85692F6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CFD30CC-8078-4588-9A44-088D903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B3BE136-A00F-4820-9E9F-3950FE1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914902F-9D37-4611-8CDC-15C5DDE8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9AF691F-C907-47EE-895C-54A53C4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9DCE822-80C6-4DD7-8178-BCA6D3C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5179890-FC54-4636-8C8C-5AA5285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436600C-3324-4512-940A-137F922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65C51D2-15C8-4792-AD2F-65B9493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4B0C004-AF4C-44AF-AA00-ADE98481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8F6CB1F-5819-4246-9C44-60513DDA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2B2E020-4397-4734-8C29-8605008A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99B301E-2A95-4319-AD01-F14B440C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AD472D7-C4D1-496B-A995-B3754FB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E4C4FBD-68B3-48B0-A949-096BCA6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乐观情况：看到上行，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3359F5D-9A08-4FF0-963C-4216A2D3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不当承诺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74CF39F-ACA0-4C74-B2A0-3E9F7F89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95% 上座率 / finance-v1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AABDFAF-4B89-4F4D-B7ED-EFFAB17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170" y="4041725"/>
            <a:ext cx="2525070" cy="131421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4FC6DD2-6C49-45E6-A230-580DBAF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068" y="4152474"/>
            <a:ext cx="2259273" cy="113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3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OPTIMISTIC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8049FEE-D155-49DD-B006-E04D40D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068" y="4344438"/>
            <a:ext cx="2259273" cy="258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3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53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上行空间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2B8351A-5BFE-4E3D-9CCE-317A1E80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068" y="4654534"/>
            <a:ext cx="2259273" cy="14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4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14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乐观结果依赖高上座率兑现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EC329C5-0152-4500-B85D-862BFA2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068" y="4898182"/>
            <a:ext cx="1587398" cy="351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7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77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+223.53 万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80998E3-194A-4C49-B623-D023602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8334" y="5090146"/>
            <a:ext cx="775241" cy="12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预计利润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E3865D6-E033-4895-857F-7C4AC4D4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170" y="5444542"/>
            <a:ext cx="2525070" cy="64234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83">
            <a:solidFill>
              <a:srgbClr val="E1DBE8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633C52B-9CE7-40AB-8A53-2042791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768" y="5547907"/>
            <a:ext cx="664492" cy="12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总收入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1D305D2-B372-438E-A9B8-CD12EF6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768" y="5717722"/>
            <a:ext cx="664492" cy="23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2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835.20 万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FAC5BDC-37BB-4649-B2CA-8254D89E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77859" y="5577440"/>
            <a:ext cx="0" cy="3765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E1DBE8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66D4203-36FF-4A0C-A74F-96F633D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458" y="5547907"/>
            <a:ext cx="664492" cy="12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D592C77-10D1-45F2-BFE9-B6FC7129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458" y="5717722"/>
            <a:ext cx="664492" cy="23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2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327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611.67 万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6FA39CA-4055-4B39-A895-91757F0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19549" y="5577440"/>
            <a:ext cx="0" cy="3765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E1DBE8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B618189-F2CB-4636-971F-FEBE7A8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48" y="5547907"/>
            <a:ext cx="664492" cy="12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ROI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4842962-C075-4178-AA90-24E88BED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148" y="5717722"/>
            <a:ext cx="664492" cy="237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37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337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36.54%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CBC9C80-5F0D-451E-80D4-EC7BA8D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170" y="6175483"/>
            <a:ext cx="2525070" cy="1557865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83">
            <a:solidFill>
              <a:srgbClr val="E1DBE8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8011C43-4A4B-4D93-8288-AF92ED5A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301" y="6271465"/>
            <a:ext cx="2288806" cy="155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7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上座率变化下的利润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90D7DFC-5501-4924-BACA-59FBC8C2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68416" y="7438018"/>
            <a:ext cx="2008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E1DBE8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C0DE74F-7D07-4648-9169-3B9711C6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852" y="7371569"/>
            <a:ext cx="221497" cy="10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110E5AB-01E9-4338-969C-8F0926F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68416" y="7006098"/>
            <a:ext cx="2008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E1DBE8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0CCA003-9F19-4C4D-856F-4E3D28E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852" y="6939649"/>
            <a:ext cx="221497" cy="10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B66F0F5-9792-4139-ACD1-F9CA2843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68416" y="6574178"/>
            <a:ext cx="20082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E1DBE8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C19DDC1-0402-4CBC-97E4-81387146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852" y="6507729"/>
            <a:ext cx="221497" cy="10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B76A760-5472-43D0-AACE-B02CD37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468416" y="7270122"/>
            <a:ext cx="401649" cy="151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58">
            <a:solidFill>
              <a:srgbClr val="7954C6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0B03A44-5DE9-4E00-A81E-25CB3E89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870064" y="7118466"/>
            <a:ext cx="401649" cy="151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58">
            <a:solidFill>
              <a:srgbClr val="7954C6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DD70D2F-4F9B-4749-BAEC-D8EC289E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71713" y="6966810"/>
            <a:ext cx="401649" cy="151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58">
            <a:solidFill>
              <a:srgbClr val="7954C6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307C049-8E84-46AD-AE92-587E790A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73361" y="6815155"/>
            <a:ext cx="401649" cy="151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58">
            <a:solidFill>
              <a:srgbClr val="7954C6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98B9575-ADA2-4EA3-BA6F-A02641B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075010" y="6663499"/>
            <a:ext cx="401649" cy="151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458">
            <a:solidFill>
              <a:srgbClr val="7954C6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67D7EA4-90D6-4E9B-A0F4-ED850536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266" y="7399628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7E22507-6FBC-4518-9C69-2F7CEC0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601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FAA9ACE-4CA0-4F20-9CD7-3DE0E55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14" y="7247972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E1CF659-2931-4B3B-8C80-441014C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249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236AB74-BDFB-4DE3-AAE7-38A6A57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563" y="7096316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033275D-E484-4F23-A361-C57B401A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1898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7D2CCCE-8D2F-4076-935C-0FA0C651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211" y="6944661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145DDC6-A76A-4BF6-BB25-08E5B68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3546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8C939AB-78D8-4108-86EF-7254573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2860" y="6793005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56A98B-41A9-45AB-BB08-7BE6FCD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5195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0A482EA-36CF-4D1F-9DC8-92FDB56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4508" y="6641349"/>
            <a:ext cx="44299" cy="44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383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E8ADB9F-8A70-47C8-80CA-67068D5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843" y="7489700"/>
            <a:ext cx="339629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FCF7407-67EF-48D7-BFD6-C0059DD0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97788" y="6574178"/>
            <a:ext cx="0" cy="86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83">
            <a:solidFill>
              <a:srgbClr val="D84F40"/>
            </a:solidFill>
            <a:prstDash val="dash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1DE4A2F-E64B-4662-8678-1EE517A8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7321" y="6552028"/>
            <a:ext cx="701408" cy="10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1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581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A20F64A-AD61-4B10-AE3D-29F87844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182" y="6441280"/>
            <a:ext cx="1107487" cy="93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2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E1F4099-F377-422B-9342-4738582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301" y="7578299"/>
            <a:ext cx="2288806" cy="10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1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高上座率增加利润和垫资；乐观结果不是销售承诺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DA30D54-F4DD-4A17-84A5-23380E44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81ACD40-10D0-4D08-AC12-E1C3AA1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比较三种情景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97BA78C-F9BE-455F-9959-89E06BE8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DC4F2491-7067-4E5B-9476-36066F8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调整乐观假设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E32B901-26D2-4113-A2B0-381FDD8C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07A27DC-B813-41D3-9AAE-75F5993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4E9EDD2-DFEA-4897-9DE5-C70799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0EED33D-965A-4121-9DEA-B9CB024D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3DB9B9B-8C04-49FE-8EA5-3F843493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12A12BF-3E15-405F-9974-60A28A9B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60E4D56-6492-4A15-92B0-71B4023C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8DAC4C0-2B60-4B3F-9A5C-857A74A9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C42C2B5-9CC5-4789-8F5F-DE239FC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601AF0E-079A-49DD-A9F1-7649C87E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7BF08C0-DC0E-4772-AA6C-27F85FA5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DE75BC5-1201-45A0-9A89-F0C62D6D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645950E-E526-481F-94F9-DBBF68DE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69A4559-F8E4-4E86-BA12-551BC9E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031C6D7-BA0F-41A0-855E-4D12FF4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32F15A8-775F-4EDF-AD7D-6E84146E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45BB295-4C2B-4E6D-B392-0D232F9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30B9A5A-C272-4A3D-9B2D-AE9CC69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2655A3B-84E3-409F-BE53-2CCD555F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553C638-DB6C-4F85-9CFD-5FB73D8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41C4A09-FDED-4759-A490-AA1ED04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530779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87E12C9-FDDE-483A-AA93-0EBC3479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3D58C-DEE8-4E4E-B03C-FB0C2FD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8013-61D0-4A6A-B75C-A105EEC0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关键财务边界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AA03A-04A9-4CD5-B18D-80C9012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把保本、敏感性和资金风险变成直观的行动边界。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60BBB-5201-4770-8436-0BAA210D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57B29-9C4B-46AD-8604-8D3E139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3130A-C0D8-4B4C-9CC2-933B8F6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2A922-1D7C-4F2C-9D56-C5CB9D35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S31  保本线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F7CFB-C998-4C0E-94EE-97A26F93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95C10-464D-422A-B7E7-805A1563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6C61C-2C9E-4EF2-A399-665C094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52194-E66D-4DEA-95FD-ECB17A4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0666E-FBDF-414F-8680-D6C800E7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2DFDD-1968-45FF-85AF-919DDE78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C1F8B-DB2B-416F-ACFD-D8E116F0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97A6B-AA3D-4DE9-BF56-B154F2CB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DDA36-DE87-4F84-AD5A-658C465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710BC-F1F5-4707-B755-33E5B93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E4766-912E-4C83-A74A-6440C87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1B933-3416-4087-A252-0112ED9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DB445-C7DF-47F4-9787-250CB9E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6DA58-02B1-48E8-9BE2-8836B0E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03E98-830B-4121-B46A-7606ECC4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E84E8-C3D3-4A6E-BDF6-9357A34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7164A-E56A-4138-B4D6-863EDFD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392BF-15B3-4081-B634-30AF4D74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BA2EF-7E99-4B59-9D58-7B90BD4A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至少卖到 7,581 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3A185-F8DC-4CCB-B17B-78DD298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中性成本口径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4BFA6-0993-4C40-AE12-82C6F58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3755663"/>
            <a:ext cx="2720736" cy="1416056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68708-704F-4371-8133-0B2590B7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3874993"/>
            <a:ext cx="2434343" cy="12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8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8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BREAK EVEN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C1AE77-EAB3-4106-A23B-63990245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4081833"/>
            <a:ext cx="2434343" cy="27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6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66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保本上座率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AF2120-71D3-436D-ACD3-29D1896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333" y="4678486"/>
            <a:ext cx="1710404" cy="378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130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63.2%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4AE1FF-7AFF-42F7-8013-504A4709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51" y="4885325"/>
            <a:ext cx="835314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2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7,581 / 12,000 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06A74-CDE8-42BC-A60E-549B2713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5267183"/>
            <a:ext cx="2720736" cy="1678583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55">
            <a:solidFill>
              <a:srgbClr val="E1DB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7F637E-81F2-4B4B-A898-3948456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422" y="5370603"/>
            <a:ext cx="2466165" cy="167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0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40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售票量与利润变化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7BE850-57C0-4A73-AFD2-DA88E82A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6627551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C9B96-4ED2-46A2-A2DD-6F2386A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6555953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CE7AB-8BFF-4A9B-A17B-A6E1AC4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6162162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CC289-6B2C-43DE-98CD-2C957808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6090564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85949E-FD87-4177-8253-7CC09A0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1128" y="5696773"/>
            <a:ext cx="21638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032A6-C38F-4C01-A61E-9FA58B4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24" y="5625175"/>
            <a:ext cx="238661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47E50-C070-47F4-9B27-93CCB17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71128" y="6446645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0B10BA-A9D6-4DF1-8BB7-EE65CBC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03900" y="6283238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44C991-62E5-45CD-9964-65E0178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36672" y="6119830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B899B-E78D-4F5B-86F7-2650023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69444" y="5956423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838449-9A2F-4216-9220-7E5F1369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2216" y="5793015"/>
            <a:ext cx="432772" cy="163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888">
            <a:solidFill>
              <a:srgbClr val="7954C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13FCE1-DAB3-43E4-A1E3-C9CA2216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262" y="6586186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563455-6B3A-43AE-98B4-EB3E06E6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154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AD5D24-C1CF-44A9-907D-A8E873B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034" y="6422779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76379E-477C-4A53-965B-78165A54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26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D13F15-34FF-469A-B3C3-349F92D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806" y="6259372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A55956-FDB5-4EA5-9B81-A621EB0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99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ACA698-30BF-409F-A55C-009AB2D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78" y="6095964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B5D33A-F83D-4830-A4B9-6C387BE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471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B0AA7B-8AA4-4D8C-B659-3FF9091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350" y="5932557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28C02C-70C4-4CE2-AD23-D3AB50D8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243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55AEC2-EE8D-4A5A-AE64-2B8EB32F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22" y="5769149"/>
            <a:ext cx="47732" cy="47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955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90F5D9-CC29-4DDB-981D-E3BB7B72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015" y="6683239"/>
            <a:ext cx="365947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24DDC6-0DCE-4563-8362-DA9D4EDD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1521" y="5696773"/>
            <a:ext cx="0" cy="930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D84F40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C8630C-A0E9-49F6-8ECE-6AEFA7F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43" y="5672907"/>
            <a:ext cx="755760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17E546-43FD-41A9-AB36-25F3DA83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039" y="5553576"/>
            <a:ext cx="1193305" cy="1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6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C62FB5-CB8E-4675-A789-3332BA98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422" y="6778703"/>
            <a:ext cx="2466165" cy="11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2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穿过 7,581 张后利润转正；图形由 finance-v1 结果绘制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EDC40F-A9C4-4C6E-849B-A3AD9A74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136" y="7041230"/>
            <a:ext cx="2720736" cy="692117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55">
            <a:solidFill>
              <a:srgbClr val="E1DB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6E7EB2-9083-441E-90D5-4CCFBA6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01" y="7152606"/>
            <a:ext cx="1169439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中性预计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3F2189-30FB-42A8-A7E4-11373E0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01" y="7335579"/>
            <a:ext cx="1169439" cy="256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41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41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9,600 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33883B-62A1-4914-97D9-22ACF22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7184427"/>
            <a:ext cx="0" cy="405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955">
            <a:solidFill>
              <a:srgbClr val="E1DB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9EEAF1-2871-4FBA-A28B-4C31705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969" y="7152606"/>
            <a:ext cx="1169439" cy="1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52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高于保本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741151-2937-4541-A745-277F0761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969" y="7335579"/>
            <a:ext cx="1169439" cy="256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41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41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2,019 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57FB95-C79D-46E1-A547-8AA5B514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7EF850-B6B6-45FE-AF0D-828E327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把保本线加入止损条件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9D045D-7D40-4182-9606-959F504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0E7DB4-A988-4E10-A26E-52EEA0C5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查看计算公式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67ECB7-3B2F-4561-83BD-AC209D8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0B5E10-174B-46E4-AA28-D123A41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800FF9-CDAF-45F4-8D01-8583043F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A2C219-FABA-4B83-BE05-B0E08492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0F3DD4-14EF-4B58-9945-245AC39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1C00F2-9D0F-477F-9771-DC1C10B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BEC7B6-858E-4FE8-B3BF-328E2EF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E09E1E-B324-4882-A3AB-FD98FA52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5541EA-6A51-4049-BF95-D1CB52BE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4A4D4C-38F6-4628-9D63-9D6AB348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43B094-90FE-4098-9775-5AF66184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12C098-0657-427A-9B4A-AE61E031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0ADC31B-CF74-4675-82D2-334715D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433D05-4B0B-476D-AAA8-7FA1144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5BA34D-6C6B-4426-BA0C-C624F7D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939ADC-672B-44EA-912E-D1069F0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76A310-1593-440B-AE1F-DE95F41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5850E4-6751-44A8-A7A0-7A8E76B7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8510A-783C-4747-981E-914095F6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B9AA43-7019-462A-A52B-1C31E62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57EABDF-BA26-4388-86BA-30E12A40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429C5BA-4877-4F9A-8AE9-A0137A23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S32  敏感性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7E1959-41A1-4928-AFF9-619979D9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0B60B1-82A6-406B-8B89-E871417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987AFA-AE01-45F3-8998-C543CDC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6958DBB-7ED7-4FA8-831F-05798DE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7BFAE5-389E-408D-AA75-D795E962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9A17C9-0555-4E08-ADE2-56D4BA6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522B10-1F87-49B1-B80C-4B524A4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A7BBB4D-45B3-40E4-AD77-EE6C0FA9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423252-AFE4-4894-B324-467BBE8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AFE96A-3A42-4E06-B234-6A9E0CC2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17ACAF-896A-4AA4-9E62-CB88F26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FE3146-1BE3-4C64-BBC9-4DA3B6F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68B4A3-5267-42F5-B454-70B2B1DC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BFC57C-93F1-4E95-BDF1-7F490AE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BC39A9A-7D99-4B60-96C6-460F4D5B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4B4EC76-9935-4C61-884A-7A1021E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0760EB-B004-425A-8BDC-726FA7A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93CF969-37FA-4559-AF1D-2A1713F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BD1EC2-EE01-429A-9AEA-23240061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上座率少 10 个百分点，少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F253695-F824-47FD-8141-65A86211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赚 70.22 万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EDD29D-6F39-4BCE-B7CE-8F709B9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仅改变上座率，其他输入保持不变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1714375-692C-48A7-83F0-B1E47C81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976" y="4041725"/>
            <a:ext cx="2400256" cy="1480860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018">
            <a:solidFill>
              <a:srgbClr val="E1DBE8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C855866-7881-4719-8143-E005B942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4132963"/>
            <a:ext cx="2175671" cy="147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上座率对利润的影响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D7E53D-8BB2-4C4A-B2D6-1F90A73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1799" y="5241853"/>
            <a:ext cx="1908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ED3FE11-668A-490A-996A-9E49E0D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104" y="5178689"/>
            <a:ext cx="210549" cy="9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-100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42622DB-CD8E-4FC4-8A32-AF555D2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1799" y="4831283"/>
            <a:ext cx="1908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99015A-16D5-4DDD-86C1-3411AC7F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104" y="4768119"/>
            <a:ext cx="210549" cy="9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935544-7D58-4E02-BC33-71A6641C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1799" y="4420713"/>
            <a:ext cx="1908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67AD9F-F13A-458D-92B2-4DD9B7AA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104" y="4357548"/>
            <a:ext cx="210549" cy="9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300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759BB8E-2B2C-41AE-A36C-240A0C1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51799" y="5082256"/>
            <a:ext cx="381795" cy="144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46">
            <a:solidFill>
              <a:srgbClr val="7954C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938367B-C918-4364-A845-F9B19A4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33595" y="4938097"/>
            <a:ext cx="381795" cy="144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46">
            <a:solidFill>
              <a:srgbClr val="7954C6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A265A38-EDC9-4810-B25E-3474E24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15390" y="4793938"/>
            <a:ext cx="381795" cy="144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46">
            <a:solidFill>
              <a:srgbClr val="7954C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B55F90-9203-4FBA-8BA2-85EEB0C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97185" y="4649778"/>
            <a:ext cx="381795" cy="144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46">
            <a:solidFill>
              <a:srgbClr val="7954C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88FE64-6760-48EA-8564-298F948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78980" y="4505619"/>
            <a:ext cx="381795" cy="144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46">
            <a:solidFill>
              <a:srgbClr val="7954C6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A2B433B-909B-45CE-9507-0D25044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745" y="5205361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10D5A7-57A1-439A-9DBF-C5A7C7EA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379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DA253E6-FA65-4CA5-9B2D-4FA2296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540" y="5061202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ADF6910-C1DA-4B14-889D-B0C3482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174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A4A1AB-E524-40A1-8C85-46B3251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335" y="4917042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D9EF5F-33A5-498C-8252-4E753A67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969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70%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6BEF74-5EAA-488D-8716-B5DACAB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130" y="4772883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139481D-C9D0-475C-9FDB-2D134CB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764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8EE10D4-F4B9-4BE9-8417-5574311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925" y="4628723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17566D-8023-4798-9747-73B0C20A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59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FF146B0-4649-405D-BDB4-2AE7AA66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20" y="4484564"/>
            <a:ext cx="42110" cy="42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7018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3F412E7-ED6E-4AAB-8B51-F67CE7F9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354" y="5290981"/>
            <a:ext cx="322841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10C97F1-E631-4876-A495-BA04782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5005" y="4420713"/>
            <a:ext cx="0" cy="821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D84F40"/>
            </a:solidFill>
            <a:prstDash val="dash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CD7C604-2C3B-40F2-9678-C972186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079" y="4399658"/>
            <a:ext cx="666738" cy="9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3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553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63.2% 保本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7BE6C57-2D7A-461E-810A-00D3D005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836" y="4294384"/>
            <a:ext cx="1052744" cy="8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49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利润 / 万元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B19CA6E-E696-4F10-8364-B522B2C7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5375201"/>
            <a:ext cx="2175671" cy="9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53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80% 时利润 118.19 万；70% 时利润 47.97 万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C6D90EC-B43E-43DF-8677-A947EFC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976" y="5606805"/>
            <a:ext cx="2400256" cy="61059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018">
            <a:solidFill>
              <a:srgbClr val="E1DBE8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462F0AB-7ADB-49B3-8EBD-CEFB360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96" y="5705061"/>
            <a:ext cx="631646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80% 上座率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7BB9A5B-4CA6-4B46-AD3B-F2F4BB4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96" y="5866481"/>
            <a:ext cx="631646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93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093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F770950-7647-4D58-B889-3E88F687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36062" y="5733134"/>
            <a:ext cx="0" cy="357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843F7BD-9B0A-4CD3-8519-74F74AA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281" y="5705061"/>
            <a:ext cx="631646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70% 上座率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6F759D9-768E-441F-A69E-FD312BD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281" y="5866481"/>
            <a:ext cx="631646" cy="217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3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223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+47.97 万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FEC30A3-7045-436C-92BB-0C939CA8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36147" y="5733134"/>
            <a:ext cx="0" cy="357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046C49C-2FA2-479C-8479-C5039EF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367" y="5705061"/>
            <a:ext cx="631646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利润减少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430B961-438E-405F-8E57-4526302D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367" y="5866481"/>
            <a:ext cx="631646" cy="22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1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271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70.22 万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E0B0E8-C488-4274-B1C4-ACF0FC38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976" y="6301616"/>
            <a:ext cx="2400256" cy="143173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018">
            <a:solidFill>
              <a:srgbClr val="E1DBE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743A974-DA69-4CF7-9AB8-8C2E3A2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6392853"/>
            <a:ext cx="1529988" cy="147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63.2% 左右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B16564B-6926-4E4F-817B-44BE0B44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6568311"/>
            <a:ext cx="1529988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触及保本边界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CBC72E6-D851-4B9D-8DCA-07879A5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440" y="6463036"/>
            <a:ext cx="561463" cy="13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74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74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止损关注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4269054-2183-402D-BC5A-D9AD23ED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48269" y="6778860"/>
            <a:ext cx="2175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B9B5696-2934-4B0D-9B71-FDF05679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6870097"/>
            <a:ext cx="1529988" cy="147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65%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0D49AA4-8293-45C2-B3E4-1B09429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7045555"/>
            <a:ext cx="1529988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保守情景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797D4A3-8052-41E6-86F4-5B94C42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440" y="6940280"/>
            <a:ext cx="561463" cy="13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74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74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+12.86 万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45A2B0E-BCA6-43C7-9F2B-86E240F0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48269" y="7256104"/>
            <a:ext cx="2175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18">
            <a:solidFill>
              <a:srgbClr val="E1DBE8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2CB1D34-C5DA-4C78-9F64-DF307F6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7347341"/>
            <a:ext cx="1529988" cy="147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2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95%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55DF5B3-FF85-4A5F-A10B-A3BCC426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269" y="7522799"/>
            <a:ext cx="1529988" cy="117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乐观情景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EA8078-A54E-43F9-99D5-D4C1819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440" y="7417524"/>
            <a:ext cx="561463" cy="137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74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4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+223.53 万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048053A-3B55-4DCA-A2CA-4E37A4FC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A0CDBDA-4055-4F4F-A22F-7F076C8D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设置销售预警线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BA8E97B-1813-4153-89A1-7AC1A734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716870B-D3B6-4EE7-B40D-6EF9D434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选择其他变量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8CF2B95-9363-43E9-B447-5FD491C5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7058187-BB6E-4A18-AA97-D76C79B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16FC10B-453D-476B-8F0A-5B6DF80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85D3357-0612-45C9-8A28-49055AA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E3547EC-E421-425A-B6D5-CE1C06B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808A87E-4060-472E-BACB-F4756F0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8406FE-79B7-4F4C-802C-72688A3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02E3D9-50A1-4CA6-8696-27D7C77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DC466E7-572B-47AD-A38D-D0883189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DEAAABF-FAB6-4116-9A28-7048A96A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4DB6C3A-87BF-40C9-96FC-688E34EC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72BC5F8-3E2B-48F2-A39E-15D237C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582C553-C14F-49BB-A388-A8F9D509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2719F78-F508-4FC0-96F7-F9093B3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E62B3E4-3BE8-4CF2-B321-91B0D47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1C2104C-2012-408E-83CA-AD4551F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187F83C-2C3B-443F-881D-FE92A6E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78E7404-ABD9-4E11-82F0-8852BFB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BBFD95C-01BC-429E-99EF-B6B935A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D350331-2110-4D37-B54A-4FD8C6E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B75E844-668B-4769-B4B8-376CE4A1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8CA8948-D563-4F75-ACD1-53212EA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S33  资金缺口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463AA24-BF98-4DBB-83A6-4CEEB00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FBE4EBD-0646-41FC-AAC4-7CFEDB6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E0CE74F-EF77-41F2-AE8E-3696A360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C51DDEE-638B-40B9-B80C-E5485DE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85A5C8E-9665-4F82-AC6D-3692B78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29FFBB5-4A06-4707-AC20-E3F96F74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EEBBBCC-D871-4DF3-8603-51FC712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0F2A7FD-D1BD-4920-9B30-73D9CC0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FD881EA-542D-466E-8CEF-3EBD34E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724481C-114C-4AB1-B874-555ACDC4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BB9D84E-8D92-4E80-A7CC-B97D027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8B79AEE-3EF7-4FD9-8239-8D03480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8D9DDB5-6A7E-4613-BF51-D1A051FC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6AEFF6C-8FEC-42B0-A46E-41D715D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DD12CAB-A8ED-4FFF-9966-E8731549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BB2499D-97F1-4421-8952-7BC3EF5F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2D7BDDF-021D-40EA-9F0F-F60B8A63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7A98A11-E46F-48DF-BD48-6D386201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9740885-013B-478E-86F8-F7381BD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盈利项目也可能先缺现金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02D4BD9-3EEB-4852-B05C-80184B1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可用资金 500 万 / finance-v1 保守现金口径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7C3D771-1B8A-4AEC-9814-99161A7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087" y="3755663"/>
            <a:ext cx="2587235" cy="1596218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565">
            <a:solidFill>
              <a:srgbClr val="E1DBE8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01069B7-7763-4D9B-977D-DD16453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3854008"/>
            <a:ext cx="2345155" cy="15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三种情景最大资金缺口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1540A68-3CC7-4754-BA9B-2952BE8D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692" y="4035568"/>
            <a:ext cx="2284634" cy="105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9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缺口 / 万元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B65A42E-C345-44E5-89D1-DE6475D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692" y="4201999"/>
            <a:ext cx="325296" cy="13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保守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CAA2C44-78BF-4DFD-B12C-F3BA735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217129"/>
            <a:ext cx="1845864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9D9C316-449E-420A-BF16-4E9082B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217129"/>
            <a:ext cx="1114566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EBA14D4-E684-4623-8223-AF22B14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771" y="4186869"/>
            <a:ext cx="325296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77.54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3FA11B7-25CE-44AE-B533-83FF45E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692" y="4481904"/>
            <a:ext cx="325296" cy="13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FE75366-2420-4088-8052-BC7823D6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497034"/>
            <a:ext cx="1845864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57385C4-4364-4FCB-BC4C-58502FE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497034"/>
            <a:ext cx="1359832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EC8F0666-974E-4C50-B22A-855C9C7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771" y="4466774"/>
            <a:ext cx="325296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94.61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DDF5614-01F7-4250-98DB-71919C1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692" y="4761810"/>
            <a:ext cx="325296" cy="13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乐观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0BBE59B-0F5F-44D3-AA9D-9B43236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776940"/>
            <a:ext cx="1845864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0A8E3F5-B16A-40DC-9DE2-2DE43B5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508" y="4776940"/>
            <a:ext cx="1605099" cy="907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4DD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FC9F51D-2025-4F8E-A4F6-B500914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771" y="4746680"/>
            <a:ext cx="325296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111.67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4524ABF-CD16-4856-8057-E1CF0C7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5193016"/>
            <a:ext cx="2345155" cy="105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6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96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当前按全部成本在回款前支付估算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567B222-E65D-43C8-85EF-0AC5C13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087" y="5442661"/>
            <a:ext cx="2587235" cy="1543263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565">
            <a:solidFill>
              <a:srgbClr val="E1DBE8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C7BD33D-A01B-4A54-B3B2-0C78F3F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5541006"/>
            <a:ext cx="1649173" cy="15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保守情景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02C4928-0430-4D05-9895-32E913FA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5730132"/>
            <a:ext cx="1649173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 577.544 万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F3B780A-FA5E-4392-BFA2-BAB256A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950" y="5616656"/>
            <a:ext cx="605201" cy="148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34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34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77.54 万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63E1E19-D6C4-4571-AC41-F5ED5ABF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26127" y="5957082"/>
            <a:ext cx="23451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5">
            <a:solidFill>
              <a:srgbClr val="E1DBE8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B53F847-DC30-42DE-BF70-814E3CF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6055427"/>
            <a:ext cx="1649173" cy="15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中性情景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97E05F9-A4EF-4D83-8A32-78A42338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6244553"/>
            <a:ext cx="1649173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 594.608 万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DE70126-1812-42AA-8462-71125CDE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950" y="6131077"/>
            <a:ext cx="605201" cy="148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34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34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94.61 万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E60EDE3-0CE3-44D1-ADF6-A12051A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26127" y="6471503"/>
            <a:ext cx="23451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565">
            <a:solidFill>
              <a:srgbClr val="E1DBE8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8EFAE60-59C5-4BE1-B649-F019724B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6569848"/>
            <a:ext cx="1649173" cy="15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9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乐观情景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36EC34D-18FC-43B6-A5B2-C200069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6758974"/>
            <a:ext cx="1649173" cy="127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1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 611.672 万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062B13C-B4BA-4F2E-BC2E-B9F0E14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950" y="6645498"/>
            <a:ext cx="605201" cy="148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34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34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111.67 万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B194CDA-F6A0-4E04-AC18-A9B10B6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087" y="7076704"/>
            <a:ext cx="2587235" cy="656643"/>
          </a:xfrm>
          <a:prstGeom xmlns:a="http://schemas.openxmlformats.org/drawingml/2006/main" prst="roundRect">
            <a:avLst>
              <a:gd name="adj" fmla="val 14977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BD825CD-44FD-43A4-BC7D-06A7D478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087" y="7152354"/>
            <a:ext cx="22695" cy="50534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5347624-7916-48D8-8052-7D2ADCE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7182614"/>
            <a:ext cx="2330025" cy="148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34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34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售票增加也会增加单客成本、渠道费和税费。接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FDCDD3C-0E17-42A9-A2B8-A9D9BC5A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6127" y="7330889"/>
            <a:ext cx="2330025" cy="148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34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34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入付款与回款计划后再升级为逐期现金流峰值。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72E7F4E-B642-4AEB-A799-B96E555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D2A1C90-AA9B-4046-B882-30E51B7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创建资金落实任务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43FAC47-B1BF-483A-BEA6-04D1008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9DAF755-15E1-4C1A-8F63-26981333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补充付款与回款计划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7F4B88F-6FDF-4FCC-A392-E230AEE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FAFA03D-C97E-490A-AE39-DB60D184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506515D-962B-4D44-BBD9-458A06A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645209A-0780-4BED-B647-3CFEBE3D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15F5A90-7067-4888-BEFF-A252C384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A1FC39A-4AD6-44A4-B9C4-E753047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6D8016A-D3FA-4887-A440-9F5B9A62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C52EBBC-EF5D-4B81-9A5E-9EAA314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D08972A-0198-47B5-A4E8-2C6D1788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823C512-CE1A-4807-8B21-68FF213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B7800CD-272D-4DF3-A88B-18B620B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2FE6FCB-0FA2-46FC-A6C7-4E4C3D9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4CE5FC3-A5E0-42DC-82D3-1A764CF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A513115-83E8-484D-B89D-AA974E0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4ED73B6-3592-49DF-B3FB-3A1F820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9AE13AC-9972-4881-8A64-5B29C5A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AD8FC1E-6864-4834-88B5-8195F3E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B3F416E-CCAD-4C3F-B430-CD147BE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83BDEEE-EFAE-4843-99A0-989F35A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49BD0CE-6075-40D6-B14F-AF2BFE64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D871D9A-D4F3-4CF9-8B14-D7CF1D30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7256005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8EC53C9-5B89-4811-A693-D7E4A3E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0B5E-C5F8-4AB2-A71C-72257A0B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B85A4-C902-4AC5-8AE1-135FD5F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判断与解释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781F1-78D3-4F52-B291-C80C9524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先给结论，再解释条件、规则与仍未确认的假设。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DBD72-3FBD-4463-889A-927A0E42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A58E4-9FCF-4D52-8640-7E3522B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09BA1-5322-4403-92DA-5F27A02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932D2-ABC8-4866-9BF6-3537FC6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S34  判断总览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B14CF-E3BD-4826-9180-61BB9F8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2B0A9-BE38-4CDB-8D99-DC43D25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C60F8-D1DF-4E2A-B837-A23CD1E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B1EE-D6DF-41B8-AA47-A063E5E2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C69D2-9118-44F6-87DA-6DEF2CD1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B1E54-D007-43CB-9DC4-15F5D04F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DC742-20DA-4852-B075-0D40927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C9CDE-66E5-4A01-9045-0B6A019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9CAB7-B8BA-4AD1-A03A-FB75EA50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1E421-86CF-4CD5-9D8C-5C951659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595C6-E580-466D-AFBF-EB984B6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6A054-1A6B-4516-ADE6-18CA43C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78481-9AD7-40F0-8D9C-2AD3BA2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23C4F-9318-408B-88B5-7ED83D49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0BF21-9199-42DF-9C7E-1DCE1AE4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01F27-CBFE-48CD-BB60-430C85C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CC1BD-A366-41DD-AACE-9D26436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32D69-741C-430F-B49E-3BA32A52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71913-791A-4643-A9F8-BA1CC9E9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现在可以继续，但不能无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1BE3A-1D41-43E1-9752-8B233BE8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条件推进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733AA-F1B8-4013-BF9B-711E1AC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判断 V1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2946C-8DF1-423F-AA56-E2F10D4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043" y="4041725"/>
            <a:ext cx="2560923" cy="1332878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9DC86-25BC-4D5D-AA77-017879C0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28" y="4154046"/>
            <a:ext cx="2291352" cy="115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CURRENT CALL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DFFC5-CF5C-43D6-8899-5A9B3612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28" y="4348736"/>
            <a:ext cx="2291352" cy="262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74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74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调整后推进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CA9D4-1B96-4FBB-B122-8DC793EE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28" y="4663236"/>
            <a:ext cx="2291352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中性财务可行，保守利润很薄，硬门禁仍需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009D2-414C-49BB-97AD-64DB3C9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28" y="4810002"/>
            <a:ext cx="2291352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E08D5-D00F-413E-A3EE-58F3154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28" y="4910342"/>
            <a:ext cx="1609937" cy="356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B745F-9E7F-4495-A402-DD96BD74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956" y="5105032"/>
            <a:ext cx="786248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中性利润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7DF304-B8A5-436E-9ABB-ACDA55FF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043" y="5464460"/>
            <a:ext cx="2560923" cy="651463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488">
            <a:solidFill>
              <a:srgbClr val="E1DB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71618-DCF7-402B-9E69-D8254C99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00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保本上座率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433046-C5E7-416B-900D-66CFB8A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00" y="5741519"/>
            <a:ext cx="673927" cy="2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35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63.2%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A5D55E-FB54-47C8-9640-B66AF19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6684" y="5599245"/>
            <a:ext cx="0" cy="381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F9957F-786A-4454-8F8A-629FD3D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41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资金缺口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3686A-E19A-4281-B1D4-3BE6C774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41" y="5741519"/>
            <a:ext cx="673927" cy="2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6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356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94.61 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CF9AC8-AE35-49F2-A38A-248D8FD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0325" y="5599245"/>
            <a:ext cx="0" cy="381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DCF63C-280E-469A-9AE1-BCDE189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182" y="5569293"/>
            <a:ext cx="673927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待关闭门禁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7EE649-1251-4293-981C-69DC430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182" y="5741519"/>
            <a:ext cx="673927" cy="241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35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3 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24A5AC-BCE7-4912-85E9-CAECE44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043" y="6205780"/>
            <a:ext cx="2560923" cy="152756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488">
            <a:solidFill>
              <a:srgbClr val="E1DBE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8F156D-41E5-441A-AFE7-6E5C0222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6303125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先落实峰值资金缺口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2BFA4E-322E-4A33-8E5A-24BE9E5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6490327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未落实前不锁定不可撤销支出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D419C5-90D0-4D32-9B5E-E5BE947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34" y="6378005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优先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9F42FF-5283-464F-B1B0-74082AFC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2852" y="6714969"/>
            <a:ext cx="2321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B42412-79BF-4A78-B77C-17C7D30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6812314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确认艺人授权和履约边界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819610-9022-42FF-9FCB-A15499A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6999516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需要正式文件与负责人核验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847FB9-F783-45A3-8207-38E36A4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34" y="6887195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待证据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AC422C-34A4-4EC8-8C8D-995CA81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2852" y="7224158"/>
            <a:ext cx="2321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88">
            <a:solidFill>
              <a:srgbClr val="E1DB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E51F63-50B9-45C3-A494-0C8AB529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7321503"/>
            <a:ext cx="1632401" cy="1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确认审批与场地安全方案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66C8D1-5350-4881-851F-24AC869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852" y="7508705"/>
            <a:ext cx="1632401" cy="1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人工硬门禁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D292EA-D98E-4B38-ADB1-FEE771A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134" y="7396384"/>
            <a:ext cx="599046" cy="14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2E24FD-80BF-4F45-AC43-15B18F08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A961C8-7FC4-47A8-B48E-091CD355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处理推进条件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83D584-9400-4536-84A9-F65F3951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EE1F06-D03B-4E00-A7AD-013A8A84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查看三种情景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A0A71E-6835-4897-9432-C05A7739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695256-8EC7-4A06-BD53-1CE852F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481EB6-97D7-4F4F-AF94-EC5520A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E600F0-B72A-473E-899C-DA45E19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C18294-569C-4EA4-8BA0-0C6DCB7F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79523D-0DAF-420D-B9BA-EA23E828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9DEDDF-0242-411A-AFA6-90E9C50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D9A2B6-F9F0-42ED-ADBA-952BDF6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7D8637-5EA5-49DF-8441-9E4A540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3D4FA7-EC95-423E-8196-4E04DBF9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5F914E-BF64-45E7-8EF6-3929B40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970878-BBAB-45F7-A283-06BF775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48F6A1-D77B-4A38-95EE-F8243029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2AA808-32D9-4BAB-B658-711A3730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536D8C-C8F2-40C4-88C9-42533A9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5B79D5-5CB1-4539-A093-6D0AB1C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68DF06-E4E1-4C45-A758-7C92DCB2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DEFBBA-5006-4BF4-BDD0-7DCEFA40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293ECA-6C4B-48B4-9C84-F3AE9A89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DE0957-5C60-417B-9A1C-43F85173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57C1DA-E85D-461E-A62C-EEF0D06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3CEC84-2162-40BA-BAED-FF90552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S35  建议解释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66130E-6E58-4C9A-A1F8-E845C76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B19863-62E1-4BCB-B07F-EA2B4D2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EAACB4-6457-44C0-B4DF-5AD6E858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8EBD29-94C2-4275-ADC0-472AB2B7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2BD0A5-94B8-4CD1-8C82-C3D15C79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2F3C00E-DD4B-4559-A4AC-837DC9C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DCF550E-D661-4AA3-8743-CF591F0F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8F7AFC-6A5D-4C11-9A60-D02DA51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0D52EB-701F-4793-A1E0-7577835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0091040-02B2-4FDA-909A-9ECC752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44ABF9F-4AB0-4C89-8AF5-C4E87B8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75DB9E-3ED7-4605-A6CF-BA4EA3D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B1582F-06D0-4D90-873E-0AE9D4FD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413DEF-C3BE-4833-B689-6A33B88B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39C2E16-000A-4AEF-9812-FE72B7B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C9BEC0-BEA1-4273-AFA7-DB09FD8B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D47D75-486A-4872-8D6D-D14CCF1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450923C-2B3D-4F9A-91FF-A216796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7127D5-9249-430F-BB8F-3406938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为什么给出这个判断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7227B2-AA64-4825-B860-51FDABA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事实、规则和推理分别展示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037AB3-D6D5-47CD-8BA4-D9EDE082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86" y="3755663"/>
            <a:ext cx="2676836" cy="1056646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27">
            <a:solidFill>
              <a:srgbClr val="E1DBE8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1C3708-3E74-4E99-B7A4-CE1859E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3880895"/>
            <a:ext cx="2395064" cy="18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确定性财务结果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F91753-6375-4357-AAA9-61AD0C1A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4129794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 118.192 万，保本上座率 63.2%；保守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0B0B0B-AFF1-4178-9F5C-2B8B705B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4283203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利润仅 12.856 万。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500EFA0-ACCB-4B2B-A9B7-2C3A251B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4514882"/>
            <a:ext cx="682750" cy="2035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4E7D71-5B1B-46C8-A5DB-A858CD3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188" y="4538363"/>
            <a:ext cx="557518" cy="13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0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40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finance-v1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BE8FD23-EA37-473A-80E7-ED802BBD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86" y="4906233"/>
            <a:ext cx="2676836" cy="1056646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27">
            <a:solidFill>
              <a:srgbClr val="E1DBE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C2FE72-F74B-47F6-B03B-23E1697C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5031465"/>
            <a:ext cx="2395064" cy="18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规则约束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D54825-15D0-40EF-8287-F06FD8B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5280364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只要人工门禁或资料冲突未关闭，就不能输出无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E3D8AA1-B396-4811-986E-E2BDD07E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5433773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条件推进。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45FBA0-FF22-493C-85EA-C816B87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5665452"/>
            <a:ext cx="1003422" cy="2035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A91C02E-F25E-48BC-9D99-B00523B8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188" y="5688933"/>
            <a:ext cx="878190" cy="13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0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40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decision-rules-v1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C2B6D78-0BE6-4B14-A96F-B7950F7C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86" y="6056803"/>
            <a:ext cx="2676836" cy="1056646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27">
            <a:solidFill>
              <a:srgbClr val="E1DBE8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BDFA64-3AE4-4B61-B0A2-B1F02F98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6182035"/>
            <a:ext cx="2395064" cy="18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4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AI 辅助解释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CF636E-8D1D-4D47-9541-91043471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6430934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项目有盈利空间，但对上座率和前期资金敏感，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212E794-B7EF-4124-88D6-94D1C39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6584343"/>
            <a:ext cx="2395064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应先补齐授权、资金和场地依据。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0463E2-3530-494A-8A7E-2D475E0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72" y="6816022"/>
            <a:ext cx="1066586" cy="2035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06D1B7-52C7-4D92-AD8E-ECCD1CEA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188" y="6839503"/>
            <a:ext cx="941354" cy="13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4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推理建议，不是事实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DE02B5-0F96-4BA8-BDBB-1E18A7B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86" y="7207373"/>
            <a:ext cx="2676836" cy="525975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832425-873F-4584-B11B-D12E9C1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86" y="7285643"/>
            <a:ext cx="23481" cy="36943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22BE43F-600D-4EF0-9D66-3EDEE4C0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918" y="7316951"/>
            <a:ext cx="2410718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大模型不会补造票务、报价或审批状态；缺失数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2CE9EE-5792-45B5-BFE7-E918C6E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918" y="7470360"/>
            <a:ext cx="2410718" cy="153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据保留为缺口和任务。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C5A4131-E054-4A25-BD2E-5610430D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0EA0E54-7A95-4331-98CF-480C0C8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查看支持事实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5547AF6-BEA5-453B-9EBE-F7C8EC2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DB194E-365B-4CFA-8A1C-72C176A8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查看规则版本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194E1A-C748-45A0-8873-38A4D98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D2B140-C98F-4B95-BAC4-3E2F81C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D867E1D-E065-4F70-B576-11BD81FB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B5684D1-DD58-4CC5-ABF1-461434A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C953226-74B5-4829-AC73-76D6FB25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1740B36-48AF-407A-A446-4D14FB34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D48A651-C751-4528-81C2-3E0EAD3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5923541-26AD-4AB1-B7FD-9FB356EC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90B5E6-AB2F-4063-A5A7-2B7962EB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9975ADF-A8BF-44BF-B3C8-F2FA8A7D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BE23D61-21E7-4220-ACC6-D519B30C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CC1E041-9C42-4B02-A1BA-31947E4C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39679DF-E9A1-4831-82F4-C7DA7C87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C15B58D-22EF-4995-B5F1-95AB579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965D365-450D-43F3-8ED6-29E4E429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777FE1B-5C17-42F7-9AC5-EAA9A474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81D7D05-BEE1-48B6-BB2B-D508F8F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59F1238-04CF-4FC8-9949-940F50E8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B279E4-7FA1-46F2-9247-C55A8127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160F196-B38C-4832-917B-2021AAAE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E0D9FAA-32A8-49B4-A05F-D26E42EF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B3DEA3E-D5BF-4BE3-8B72-084DBC1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S36  假设管理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492802E-5A2A-4A3D-A4D1-B19BB8E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7D51BD2-D97F-45A4-A8EF-2902A53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EE838BD-BFF6-4BBA-BA21-92E21B94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9BC8604-3B0B-4BBF-9108-4A6A089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D2412F8-65CA-4067-BE81-8492D8A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7435F1C-0EF1-46F4-90F0-E2721FD8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41C7480-721B-467B-A392-570F0E8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D78F08B-1E53-4807-B1E3-2AFE91DF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7C0879E-96C1-4726-9003-3C8DEA04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0436CED-BB10-414C-8CD2-51A9203D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AB63BE1-C3ED-4B1A-856C-AC1AA67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C2E96C6-4EEF-48CB-A5B5-7B3DACCB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9264EBC-670D-4359-ACBF-1DA8C7B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4A46693-5B11-4509-96BF-2269A0F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4EEA2BD-0ADF-4978-954E-808AE909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0BC872F-50D5-4FBA-9F2D-0838AAD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EE53944-20D5-4613-891E-82F2540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01F71C2-0075-45CC-8F69-413FED9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24962EE-EDB7-4EEB-A070-32BDCBD5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哪些是事实，哪些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E03F55B-B716-4AD5-BCAC-CA5FF26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仍是假设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69AE694-F767-4A0D-BAB6-6A573CB4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判断 V1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E92C89E-FE63-4227-937A-A0F7B91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65" y="4041725"/>
            <a:ext cx="2668079" cy="327659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DC92379-8820-4A75-9E11-CE6E2CBD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871" y="4072931"/>
            <a:ext cx="826948" cy="265248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F18AC63-4ED3-41C0-BE27-463A3063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147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全部 8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8307774-6FCA-46F5-93B1-53EFDF9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83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已确认 3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FF81434-BDA1-4C3E-A67A-997B378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19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待确认 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A49C0ED-2EAD-490D-AA46-D929526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65" y="4463001"/>
            <a:ext cx="2668079" cy="2652476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01">
            <a:solidFill>
              <a:srgbClr val="E1DBE8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C03835A-DE60-4F37-B955-298DD67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4564419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可售容量 12,000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DE57802-1B9F-4373-A224-8592EE3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4759454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项目方输入 / 待场馆核验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9C2B907-62BB-4279-960D-F7D12CAE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07" y="4642433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97C3C24-6CB3-49B4-83DA-6668E83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89487" y="4993496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F551EA2-4EDF-47C6-B3D6-C31099C2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5094914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平均实收票价 680 元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8E1E33-E4B6-492F-B3DD-85051937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5289949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票档加权 / 计算假设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F59B9A1-E54E-4690-81FE-E34D48BF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07" y="5172928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假设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804E8B4-42A2-409E-90F4-E4A8EC4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89487" y="5523991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16881F7-BF4B-481F-B06E-0B61C51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5625409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固定成本 500 万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F31F6DE-0D2E-4BFD-8B70-EE833E1C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5820444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成本汇总 / 部分报价待补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F197403-CA9E-4639-8D1F-998E3006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07" y="5703423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C99E693-2459-4155-9F15-A1F19FA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89487" y="6054486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1838E92-E533-43D4-A3C6-5F054FA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6155904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赞助收入 60 万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036F2CF-33D7-4647-AB73-02535D6A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6350939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商务预期 / 合同未签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A0D1870-2555-4F18-9EDA-6829006A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07" y="6233918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假设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427F760-FA59-4D91-A459-466DB4FF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89487" y="6584981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177F348-D7AE-44D5-BB82-6C127EDF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6686400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可用资金 500 万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DB3242B-387B-431C-8133-EC28357B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6881435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项目方已确认输入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57B8207-B022-46D8-9BC6-161FD44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07" y="6764414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已确认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B8F5E01-B611-48DB-B029-B26FE0F3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65" y="7209093"/>
            <a:ext cx="2668079" cy="524254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49C0BB8-A71C-4957-A3E8-4EEC76B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665" y="7287107"/>
            <a:ext cx="23404" cy="36822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099FF76-343F-4578-A05E-31E68FC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7318313"/>
            <a:ext cx="2402831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修改任一关键假设都会生成新评估，不覆盖历史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4151DD43-D549-4088-817A-C9F4FC2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487" y="7471220"/>
            <a:ext cx="2402831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判断和人工确认。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7CE1D2C-C44C-4865-B552-BD5E321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A9BCC84-9495-49CB-9C91-57CB5786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更新并生成新版本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DE9E9D2-D3F4-435D-8695-699D582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AE3AB94-FF51-4DD3-BA8F-FBAF8D3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导出假设清单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F9643B9-DF58-4D0D-9259-989E9267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545EBF0-394C-4D9D-BC32-D1185C3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0D73BB0-329B-4FE5-929B-9FC468A1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E2D6B64-0106-4F9F-88D3-3050CF8A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3241BA5-6CAC-4D90-97B7-46D8F2B0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D5E4395-0490-42A0-9FFC-F7DC123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0F23251-2EAF-4AF3-A025-F8A59D8B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97C38F8-C559-4A3F-A7CB-AC98FE0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3D581CA-3026-42E3-9B7F-A1E22D61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DCA298F-916A-4DA5-B9CB-8E307ED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78FA937-58E0-4269-ACB9-9512A3E9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496AD78-CCDE-4F5E-B9AF-58C27511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BEA0B17-AFED-4585-ADFD-A51F6B9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8E02EB0-9210-4FCF-AD87-0D5DD98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19E84CA-B912-4D66-A70A-09E256D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553CE95-1620-4471-A049-58F0588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26245F1-1493-4E3F-8758-B21BAE3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DD699CE-271C-4611-AFAC-8268D6B4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2BC00F9-5B3A-4A40-81EC-430A8FF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30FCD47-899B-484B-B529-9089C13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17A6A3D-305D-425D-8857-D9850914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341616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F9BC5CB-BD57-41C6-867B-98F98815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FBD41-6B3A-4F20-923A-1180EA0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02767-707B-43B8-B14F-3BADD7A8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事实与证据链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E850D-3B9E-4303-B95E-C62EE96D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所有关键事实都能回到来源位置，冲突不被静默合并。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5581F-29A1-49AB-A546-394C91E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4140-BE56-4DE9-898E-7233ED2D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 + 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869F4-DAE4-494C-BDB2-F0C2D2EB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0529D-4EAE-4434-AD93-09771C42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S37  事实列表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ABE28-919A-46E6-8AF1-BE843B27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E3AF7-99E4-4CB3-B3FC-2FB80BD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0041A-D15A-4BEA-9865-305E61F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CC4D1-70A4-4158-B58B-70F3748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777C3-B7BB-4D97-A5DE-1065C882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9E129-BFF5-4DF2-A45E-058AF63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6F43C-A6F9-4FB1-B53D-63CE52F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7264A-CB0F-43BD-B25B-DDD1AB9A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7BF69-19A0-49F4-ADF5-D14DCBD4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0CD23-E9C0-4813-9869-D277C617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11393-A2CC-4C35-ADC0-EF466E9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9EAD0-C2F6-4428-88FC-B6C40E64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7FDD7-A3E2-45E2-961B-F34EB0E9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A97B8-A9EF-4E3F-896C-45ACF70C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8B7DC-5579-4819-9B09-C4FCC1F7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EE998-F1A0-45F6-9F9E-2F4670E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0BE36-5195-4C48-9E53-7C3B9B65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7180A-D1D9-47F8-BAC4-8FC15A8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D2159-4EE8-4236-81FB-F2124787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事实与项目输入分开看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3FDB3-327C-4E2F-BBDB-4591F5B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项目输入尚未核验时，不计入已核验事实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2C859-2593-4064-B4E0-C7D68224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2E540B-2C60-4A4B-A331-60E385D0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已核验事实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529F58-8C90-4ED1-A73D-FF7CBB7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83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F95DE-3F27-43A7-A7D9-5143D55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项目输入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57A5F0-0887-4755-A947-44636F84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冲突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61F34F-054A-43C4-8EBA-6E25FC3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200575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5F6CDE-2E96-4079-9CA0-96671A5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30768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项目城市：南京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F67BD1-F814-4189-B813-7EAE66DB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51366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项目表单 / 项目私有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17CBD-31E1-42CB-AE0D-1F983306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39007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项目输入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8997A-1A9D-4104-BB9A-B37ED36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476083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C85447-7073-4C41-A882-A499682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8679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计划规模：12,000 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E78D6-50DF-42AF-BB2E-A729883A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0739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待场馆核验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663913-1FFF-4F0C-A225-9575F570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9503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项目输入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8394A0-75FE-4341-B0A4-A8A2C8C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32109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C7266-15BC-48A3-A62E-2505D14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28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可用资金：500 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847BCE-6434-4399-8D7E-8B4E19B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资金确认单 / 已由负责人核验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C389E-9532-4C22-8A6A-A7E6313D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510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已核验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087613-BE76-4EEB-B441-8CCF8618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044F99-69DE-4102-9078-16307FF5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9884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计划月份：2027 年 10 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991C3C-4D1B-4E53-BC5C-291E5F3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1944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项目表单 / 待档期核验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6C9E4D-3E6C-4094-879A-E64CD536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60708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项目输入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4083D4-AE00-4863-B31F-8B402FC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5404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1452CA-BC8C-42BA-AD58-584A236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6228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0D79F1-FB32-419C-9664-95768A9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6558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页面中的来源与数据均为产品示意，不代表已取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27EA2F-95CB-4C06-B1CC-BE3ECAD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8173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得真实演出市场资料。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AF8F09-B48E-450F-AB0E-64DFB2D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2485DD-6D17-4CB8-A486-84FD99D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查看资料缺口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F5CA76-7896-49F6-BF95-8CFC1EEB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EEE4E5-787F-463E-9256-B1A510D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按领域筛选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F6AD97-76A7-4FAA-A8D1-1A2D18B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47A313-0D34-403D-95DD-180C78A3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E1C365-9C3C-4896-93F1-E86D48E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2D40BF-9808-4B13-A93C-8206A10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E277A1-2C41-4458-87E0-8E65B73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7D3E22-21A0-4F53-80F0-DF013076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C68948-3BFD-4AEB-A84D-D83904C1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947C5F-0F40-4CA5-B68A-C0DD8130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2F40B0-CB52-4792-8D34-0E71D50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E9F9A1-6AC6-4648-BD3F-4402F17D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58D99A-2AA2-48C6-9BA8-90A04C85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99127E-E1A6-48EE-B65F-2245ECA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A86A00-8D01-4A9E-B917-C87FDB0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9F45DD-677A-47DF-A6B6-43D5A77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783AE9-4006-44D6-BE17-40871B05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83F854-FF3D-4FD8-8EC9-47B577DE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53C696-0696-4D5E-A2CD-7B637FA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0F524F-1B95-49E6-A1D1-0E87A958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1FC54B-5384-4EDB-8CC7-548BADE0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AFEC4D-7A43-4B88-BA36-F6D2ACD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45C613-9110-4684-A282-E0CE5296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DDAC4A-63D2-4DF0-9EB9-BA84605F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S38  证据详情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F44684-142E-4B3C-AC9F-363D7118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76F624-6196-49F9-96CB-2C868E42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716733-4F5A-4057-AD3D-D222249B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CD6602-69A0-44A2-B240-8CFFB96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E20A7C-45B2-434D-A593-80272871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796779-4B3C-4740-93F7-6A29ED24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E12DC8-8421-4313-8C72-6F4C552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304EEA-B4EF-4F7B-974A-EC282B65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2F2E98-D05F-4A3D-A306-A11441CD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DD6388-8682-4B3F-9C40-9DC1F63A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CD14CF7-8EF9-40AA-BEA0-2D92CBE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CFD3A3-39F9-46DB-A820-9502785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F99FAC-2726-4BEB-9135-8FB6A0E1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410F35-F355-454A-B50F-2B057B2A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76B919F-613D-4422-BFEF-CCADE000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911D33-EDA3-4777-800F-ED5C7C6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C94F5D-BAC8-46D7-A913-D04472B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466E41-172A-45BE-A3E7-42B52722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C2BFAE-D8FC-4D33-9C50-0A13041C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这条事实从哪里来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CB93C14-7639-44A8-9860-35F3917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事实 F-1024 / 产品证据链示意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56D2E7-D6CE-47C4-BAD9-304A7459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3755663"/>
            <a:ext cx="2752667" cy="143267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812EEC-3F1F-4B04-85E1-47300CCC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648" y="3876394"/>
            <a:ext cx="2462913" cy="12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7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97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VERIFIED FACT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F79FC7B-2FE6-498E-9196-08D72716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648" y="4085661"/>
            <a:ext cx="2462913" cy="28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84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可用资金 500 万元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89A47E-1923-4F9A-BAD6-087C8F49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648" y="4423708"/>
            <a:ext cx="2462913" cy="15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7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87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项目方已确认输入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CB3C84-3717-496D-8591-8C73DFB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4648" y="4826144"/>
            <a:ext cx="24629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49">
            <a:solidFill>
              <a:srgbClr val="57456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B20744-049C-4CD9-975B-A174C19E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648" y="4922729"/>
            <a:ext cx="2462913" cy="13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61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项目私有 · 当前客户空间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71A723-BDD5-43B0-B8D8-FD3728F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5284922"/>
            <a:ext cx="2752667" cy="1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来源资料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5B0BA9-3ED3-4B0F-9AF4-CB4D6B1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5478092"/>
            <a:ext cx="2752667" cy="3299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49">
            <a:solidFill>
              <a:srgbClr val="E1DBE8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EE0AF1-E37D-4366-A4BB-F50F4B0B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404" y="5558579"/>
            <a:ext cx="2535351" cy="180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项目资金确认单.xlsx（示意）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FD31F6D-1F78-4223-89C8-B6BCED6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5904675"/>
            <a:ext cx="2752667" cy="1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5B2BF2-CEEF-4AAB-BC6D-73EBFAA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6097845"/>
            <a:ext cx="2752667" cy="3299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49">
            <a:solidFill>
              <a:srgbClr val="E1DBE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9531CB2-BC61-4800-9E25-F8C69943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404" y="6178332"/>
            <a:ext cx="2535351" cy="180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资金计划!B12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8A8DFF-23D9-41AD-8EB9-28F2CB0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6524428"/>
            <a:ext cx="2752667" cy="14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24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核验人 / 时间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F611A36-4699-4023-A3B2-BC5EE78F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6717597"/>
            <a:ext cx="2752667" cy="329998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49">
            <a:solidFill>
              <a:srgbClr val="E1DBE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30B741-7339-4D72-AAEF-49020F0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404" y="6798085"/>
            <a:ext cx="2535351" cy="180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1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张敏 / 2026-09-19 16:20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846B34-1709-49F0-95BE-F156FD96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7192473"/>
            <a:ext cx="2752667" cy="540875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192965C-88C9-4D56-9D89-FE412223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771" y="7272960"/>
            <a:ext cx="24146" cy="379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F3A0117-9CF6-4ACF-85E1-8656EAB7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50" y="7305155"/>
            <a:ext cx="2479010" cy="15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7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87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此证据名称与定位是界面示例。正式系统仅向有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D54E0ED-CA70-450B-9ACB-69DCF8E6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50" y="7462910"/>
            <a:ext cx="2479010" cy="15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7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87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权限的成员开放原件。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6139D0F-BDC6-44D9-8F93-5043F141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3B3DB87-A7B5-4A0F-ACD0-4C1881F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确认已阅读依据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20C41CA-63B7-435E-929F-BBC2EBCE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0BB2E16-7944-4E62-B3AA-85C0048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报告证据问题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8EF1AAE-7B84-41E7-8E67-BE72372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80A693-5D85-4BC3-8DCA-8D7BCB8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90FC32-E605-4B75-BA41-547D739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A96525-4BDB-46F6-9712-7C9B511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FF3E777-156E-4D19-86B8-37F0CF9E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C7960E-6E98-46E4-BFEC-C5CF186D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F7EAF18-3738-4C75-B9E0-5A4B5E11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330ED5F-A398-4DB8-A28D-F393E89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023FC24-DBEE-4966-A362-4A81D2C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8A0E84F-B5A2-467B-A544-90520496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42A1F2-24C4-4ECD-83E9-EEC1E2DC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9D2B801-D525-42E8-8E9C-92D6F3A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24E2CAF-E79F-4A64-81C9-213512C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5CA1D43-2381-40C4-815A-BC13EE2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1AD102-B1CA-4C12-A0E7-F1A660F0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2C3382F-F44D-450A-8D09-31248115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0D6351E-D02B-40D4-88BB-514CA584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82F85B4-334E-46B9-BA39-B550FAE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71A4C73-1646-4FA7-8C74-1138A66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D9D12EA-0177-4E0E-A464-6BB94902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7EAFCC1-40A8-4F81-936D-AFE5A99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FF15EFF-A58A-4B74-9AD6-9B818269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S39  冲突消解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F6A5E79-7DDA-4655-BAF4-A13371F3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BBB0BA-0172-4AF7-8F79-3F577602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B36BEDC-737E-4CDC-B3CD-89CB0216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239AB57-173C-41B7-94E5-3C18C63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EB2537F-36B6-4912-87DD-6D4BE980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3F795E0-A64E-4346-ABB7-419A4E1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F513120-469E-4E5E-9556-3D8469AC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335147A-7F38-4CD5-970B-C0279F08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7A4477E-5303-426B-9E2F-C52AFFC5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761A0A8-3660-4356-A101-680ADE3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410B4BD-A8A7-4F76-B52C-C18ADD93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679E139-609C-49F3-B460-2BF00AE2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962E122-BE41-447D-A0F8-95841532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1905EE-7715-4E9C-B904-87760A2E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EA94292-AD2B-4D5A-8480-C77509F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97FE90E-C7F6-4DE4-98B0-DCBD9A3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211DA4C-82C1-4C5A-9C57-960621E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006A909-4262-4B60-BDA3-E34C4C9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B488438-EB1C-45CE-A894-CC0A6714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同一个容量出现两个版本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473D30C-7D38-4A6D-BDE8-39E0DF1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冲突 C-008 / 未解决前降低结论置信度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3DC4E91-7DA7-46EB-9DF3-87D0122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3755663"/>
            <a:ext cx="2712058" cy="915121"/>
          </a:xfrm>
          <a:prstGeom xmlns:a="http://schemas.openxmlformats.org/drawingml/2006/main" prst="roundRect">
            <a:avLst>
              <a:gd name="adj" fmla="val 15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30">
            <a:solidFill>
              <a:srgbClr val="E1DBE8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C475C49-A5C6-42A2-A53C-53D8FAB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3882543"/>
            <a:ext cx="2426578" cy="188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6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项目输入：12,000 席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9856652-C634-4A9E-9075-E801E47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4134716"/>
            <a:ext cx="2426578" cy="15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来自项目表单；尚未取得场地方盖章确认。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1C25683-FA2F-45DC-87C7-17E2A345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4369444"/>
            <a:ext cx="497686" cy="2061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975E297-5461-4F4E-B1B4-91ED25A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855" y="4393234"/>
            <a:ext cx="370806" cy="133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9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49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候选值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89E04F0-BF03-4AB4-BC8C-A468695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4765944"/>
            <a:ext cx="2712058" cy="1070549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30">
            <a:solidFill>
              <a:srgbClr val="E1DBE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8409645-9208-4999-838B-B6770CA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4892824"/>
            <a:ext cx="2426578" cy="188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6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场馆资料：10,500 席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9BE80A0-28FC-4403-BB81-5192ADFE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5144998"/>
            <a:ext cx="2426578" cy="15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来自示意座位图；舞台落位和安保隔离区口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19231CD-95DB-4C16-8611-959B2EB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5300425"/>
            <a:ext cx="2426578" cy="15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径不同。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1472753-B927-4168-AE72-E91FEECD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415" y="5535153"/>
            <a:ext cx="691971" cy="2061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4C453D7-A62D-4EE0-8CE1-AFD19C2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8855" y="5558943"/>
            <a:ext cx="565091" cy="133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9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49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另一候选值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FEA34E4-2279-494E-854F-2DF6B42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5931653"/>
            <a:ext cx="2712058" cy="14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2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12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当前处理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686C0EE-9244-47AA-9FA2-9B08388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6121973"/>
            <a:ext cx="2712058" cy="3251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30">
            <a:solidFill>
              <a:srgbClr val="E1DBE8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9691A92-3201-45E8-858A-44DFC8C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765" y="6201273"/>
            <a:ext cx="2497948" cy="177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9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暂不选择，以较低容量重算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C7E1421-F010-4E97-B7CC-F8B82E8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6542262"/>
            <a:ext cx="2712058" cy="14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2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12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责任人 / 截止时间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7C942CA-7437-48B6-A928-CE59528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6732582"/>
            <a:ext cx="2712058" cy="32513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930">
            <a:solidFill>
              <a:srgbClr val="E1DBE8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D7D5142-678B-464A-AF36-33B9F6F0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765" y="6811882"/>
            <a:ext cx="2497948" cy="177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9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99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李珊 / 9 月 23 日 18:00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0E5A203-C050-4B91-A630-1842E00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7200452"/>
            <a:ext cx="2712058" cy="532896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D6D7EA9-6402-417A-B7DE-CD9420B2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2675" y="7279752"/>
            <a:ext cx="23790" cy="37429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F5B4DB1-EDF5-4779-AE6D-34023D9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555" y="7311472"/>
            <a:ext cx="2442438" cy="15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系统不会静默选择“看起来更合理”的值；冲突必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22CE3F3-730F-4A4A-9A25-A84B42AD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555" y="7466900"/>
            <a:ext cx="2442438" cy="15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74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须保留两边依据和人工处理记录。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8151F94-791B-4C8D-8014-9E1CA775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53DFEE6-DE80-450C-9075-615EDC38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提交选择并请求核验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F3C4C17-5209-4E8E-8DB6-562F20A4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C5F1BA4-14CE-4E6D-ACB2-C558A2C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创建线下确认任务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C2EB4C5-B92C-405E-A00E-53BA524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3F1158E-FBBE-40FC-8CAB-B7EC407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03A074A-D5E5-4EE9-87DF-A648D2FE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E58C93A-151D-4DF6-874B-5DC5876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A0A020-7248-4704-BA49-5BE758E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C7A87F5-17F7-4B01-B08F-299CFC7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013AC08-03C6-4A1D-82F5-F7D32FFC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C00E2B3-DCDE-4396-B318-0E609F66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F109A69-FC7F-4DAD-A0E1-EB44A6A5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5085F29-4A00-4CCB-81A3-D142732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A3A2E15-03AA-4407-8189-B0A2C67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9BF115-34DC-41A2-9152-4B6F0DA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428931E-B99B-4F57-B63C-2E70BD0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60C4C9D-026C-4D45-9BDB-430BBD97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5F93C74-6B8A-42FC-8B6E-444362A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1DCCB1D-30CA-43A6-8D06-7D23115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4340035-2A08-44A2-9D46-D8C8012C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C7D1FA1-4B4A-4CAA-BC74-A1F41D59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29FE5F4-B0CC-48D8-9E5C-975B994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35A52EA-665A-44F5-9A53-A4E84A4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C25BF92-50D2-4647-9172-2E71D37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9012217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678C9A7-B226-4839-BF7C-42803DC9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F1EE0-0AA8-4F88-9650-B041AB6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60B72-16C2-4190-A601-097FCEA6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资料补充与核验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D58BA-1964-4274-8610-81D8D74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把缺口转成可执行任务，上传后仍需抽取和人工核验。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8C7F6-49ED-4FDB-83DA-2CD86DF8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77EA-A583-4F98-BC94-0F4C703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 + 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78366-01E0-4218-90F8-B14A9B7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C0715-A90F-4E07-80E2-75C5DF6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S40  资料缺口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8D70B-328D-4D45-9CDC-FF82DC27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58AB1-90E3-4292-80BA-7B90F071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BFBD6-36E2-4F0C-824A-6F1A55F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9655F-AD18-4D1D-BB67-FD59BC7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3870C-9CDC-4E67-B850-6E42265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88317-79BE-46B7-89E5-0917371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F0B8E-52B8-405A-9ECB-6DAAAE9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8A6C9-8293-41A8-9477-39C02EC1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CD956-CE51-4201-9524-422176B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24DF6-882F-4436-A3E9-08F4F136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07D12-7F96-47DE-A236-BCE92D5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225C2-02B1-40C8-AA0B-DD08156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4F8C6-FB02-41BF-8C81-A329C2A6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CF304-1E08-474B-BB3B-FE01688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AA84B-C4F8-416A-AD2F-2CB5C2A2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341F9-FB25-449C-BE6C-E9BA4420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63D79-0B38-4799-ABA2-35B8F51E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DD4FE-5BF6-45FF-A5BD-32E4B24C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09AA4-4437-44D3-96B3-B731CEA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还缺 3 类关键资料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7D206-F290-4FA8-8AF2-66D5CD7F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缺失不会被当成零或无风险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3D3F7-F0CF-4232-B912-D0561C04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763" y="3755663"/>
            <a:ext cx="2669482" cy="679079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06">
            <a:solidFill>
              <a:srgbClr val="E1DB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ADBB0-8BBF-4C6A-8447-899BCFAD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429" y="3864940"/>
            <a:ext cx="1147409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高影响缺口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9BC66-528B-4666-BC37-F5A29952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429" y="4044466"/>
            <a:ext cx="1147409" cy="25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14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2 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F01A92-5327-4362-8193-5C716D6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3896162"/>
            <a:ext cx="0" cy="3980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6">
            <a:solidFill>
              <a:srgbClr val="E1DB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CDDA4-C49C-4367-8783-61E8F90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70" y="3864940"/>
            <a:ext cx="1147409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一般缺口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7509D-AB33-435B-90FD-54C70F6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170" y="4044466"/>
            <a:ext cx="1147409" cy="25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4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14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1 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9644B4-9013-43A1-84F8-DEA947C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763" y="4528408"/>
            <a:ext cx="2669482" cy="1592323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06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E016D-5B6D-4708-A511-F10A90A9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4629879"/>
            <a:ext cx="1701600" cy="163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艺人授权与履约范围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C04EB-15EA-4AC2-B30C-C418193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4825017"/>
            <a:ext cx="1701600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影响签约、排期和合同风险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60E704-8309-469D-9197-25EB9C9F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06" y="4707934"/>
            <a:ext cx="624440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高影响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CF2189-3D2D-4E42-AB02-D022E309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3651" y="5059182"/>
            <a:ext cx="2419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6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04750-CDDF-413D-A3BF-C13E98E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5160653"/>
            <a:ext cx="1701600" cy="163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场馆正式可售容量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291420-C34B-41B0-AD20-B2524E1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5355791"/>
            <a:ext cx="1701600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影响票房、保本线与安全门禁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85245F-AD61-416B-A760-89DB1781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06" y="5238708"/>
            <a:ext cx="624440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高影响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FA28B5-AD64-40B9-A93E-8772CBE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3651" y="5589956"/>
            <a:ext cx="2419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6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EF31F4-1628-481F-A5E3-4C4D31E2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5691428"/>
            <a:ext cx="1701600" cy="163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2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南京同类历史项目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1443CB-8962-4E4B-B58E-2DBF16C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5886565"/>
            <a:ext cx="1701600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用于比较假设，不直接替代本项目输入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5CC36D-662D-4CF3-BD3E-5FFAC7A6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06" y="5769483"/>
            <a:ext cx="624440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待资料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881718-EA47-4789-959A-D0D4ABC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763" y="6214396"/>
            <a:ext cx="2669482" cy="1053743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06">
            <a:solidFill>
              <a:srgbClr val="E1DB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B95FDE-8A7A-4F89-AE87-9EA46E2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2" y="6339285"/>
            <a:ext cx="2388484" cy="18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4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系统建议的顺序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268EDB-1D8A-4CB3-B9F2-C573FFE0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2" y="6587500"/>
            <a:ext cx="2388484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先补授权和场馆容量，再更新票房与成本判断。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8619BF-83D1-4616-8235-9C170580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2" y="6740487"/>
            <a:ext cx="2388484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案例资料可并行核验。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727B59-8E38-47DE-9077-A21B9CC2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2" y="6971530"/>
            <a:ext cx="706398" cy="20294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D27CAB-E729-43FC-8663-EC5BF0B4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706" y="6994947"/>
            <a:ext cx="581510" cy="131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3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AI 辅助排序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6AEF5A-088A-425B-B23B-6B3A27E1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763" y="7361806"/>
            <a:ext cx="2669482" cy="37154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4AFE04-B8BB-44D1-B57A-792584A5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763" y="7439861"/>
            <a:ext cx="23417" cy="215432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36C854-A2A4-450C-B051-274AD6C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651" y="7471083"/>
            <a:ext cx="2404095" cy="15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优先级是工作建议，不代表核验或审批通过。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125822-D74C-4F4E-8D96-82EBA08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0438AC-E91D-4516-ABAC-49C7BD9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从最重要的一项开始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8E1625-AEFD-4C19-BF95-A117BFF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CC872A-5678-4665-8C74-B0411E6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分配给项目成员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220FA1-5E3D-4F84-AC06-925F0B7E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9209E8-7DB7-4643-BACB-CF09CF29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DD9A9B-1DC9-4C68-8733-87C8DE9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1508D4-DE34-48A8-B96B-D12142A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452DAC-B6DD-4ED7-B64B-FE954D3F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C69CE6-D023-434E-9775-820CD1AA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8B9E2B-76C9-4A9B-A0BC-A560EF30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769B69-E6F1-4F6B-AA87-B427995A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43D400-9DA1-4CBB-9B8A-CA98D570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20356B-E264-43D1-90F6-5C5CE89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2588F1-B469-4199-8588-E6D09BE3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F1DC3A-B5AE-45FB-954C-02AF490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5C49A8-F962-4203-8500-D6BB06D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140ADA-4A2A-406E-8CAB-26B3571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22786B-C59D-422C-9F2C-53F54546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5F4BBE-BF08-4BC5-BE18-47E8680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703A5F-9E6A-4B39-AC56-2EFED02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96EF88-715A-408D-882A-BAFEE66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BE9F87-6474-4EBE-BEBA-5C507AC0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E8CEC5-40E6-4D98-8B7D-FF865285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DB1A68-454C-44DA-9C86-C1711E8F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1B9E2F-E99D-4EA9-B947-B769EA9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S41  上传资料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90BFF6E-B741-423C-89F8-47E89A06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AAE4A0D-F4DA-4B14-8100-9137CFB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B1F88C-DB2C-4A6D-AA58-E6EF29C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922916-CC8F-466B-A460-CA40892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C4A1AFA-8EA3-4914-9EEA-A1AFB386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DD7942-1655-45AE-ADBD-0C43B70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BE424F-D729-4580-BDE7-7257D334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949F83-208E-40FF-BCAD-ACA8EC4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959400D-8235-490F-BA5E-022DD6EB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5E86FE-7827-417C-A482-EE0D154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F6C4AA-000C-429D-AD1E-3107342D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C38F347-64CE-4321-892E-6CC5422D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2E8C7AC-060D-46F1-92F5-33EE5D0C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944B03-A4D9-44DA-A290-D2C49A2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973DCEA-519A-41E1-86C9-86AFE724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48D7787-8852-4CEB-B9E5-B0C94AD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F390BC-9BDA-4A34-886C-E378B55D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720E0D-0DA8-4515-8EFB-1F04F4C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58A996-3EF8-4A1E-AD24-2FEDC51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补充场馆容量依据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77352D-4D72-4529-B24E-19B2CA3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仅星河计划·南京站项目成员可见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A90A90-3B64-45C2-9E15-6F76B7C4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4B148C-1A8B-4283-8C9D-F23A10D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62771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选择微信文件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204FC0E-11DA-4DE7-94EA-F5EE52E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068749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PDF、Excel、Word 或图片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A182DB-90EB-494E-A9FB-AD03C7DF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3945163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选择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E73716A-B76C-466A-ACC5-B2E1A75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315923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E8206CD-C0B9-480E-A829-459BB520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23032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拍照上传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BF81CCD-291A-4A2C-9D38-FB39A61C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29010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适合盖章确认、座位图和现场材料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B4D39D-6EDC-4521-8556-B73AD323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505423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拍照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4D988A-3586-4CC0-B862-AE173F50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97505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资料类型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8351E8-1B6A-47B3-BADF-52C0E14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17279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7917CB-6142-45A9-93B9-CB11F4A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25518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场馆可售容量确认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791808-49D7-44F8-BC49-681F077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609466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提供方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CCDB3AE-EAAF-4143-9749-CDD6E96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807205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9C454C2-76E7-4F96-83D3-5028AFC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88959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待填写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1EEE604-4FDF-4565-BF24-66D7498B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24387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默认可见范围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A4EE66C-804A-44AF-B302-6B38E13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44161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524B453-78D5-40F7-9D26-257BBCE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6524009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仅当前项目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2B9A97D-03DF-4253-B107-1F7A259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927726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21BD273-08BA-4243-AFA2-C8D7636D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010117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4E10A4-7ACD-4400-9127-D330644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043074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上传不等于正式事实。系统保存原件与哈希后，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ADE153-4586-4D55-AC29-F0676E1F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20456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只抽取候选字段并等待人工核验。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BBB143-57A1-4E6F-87AD-F13FAABB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E01C5D5-8228-4F9F-88CC-E5E7751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上传并开始识别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DBCBA4-22C6-42A1-8A3B-C40762C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6F239BD-982F-4C8C-A857-70382A35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稍后补充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885E3F7-0F98-475E-8DE9-951D699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A3D0C66-2B50-4012-A886-711EC36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BBA5C09-8342-47FE-884E-EC82B17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0ED75EA-B294-4E8D-9A72-D4CBF442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6D8F92-99FB-4506-B200-7A68DE36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6D66DC-C507-473F-A030-F9950E4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C89771-BC8F-45F1-8290-88226CC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7150BE7-FB61-4CC5-B637-1A5941D4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2E82C4-8ACB-4045-B5D9-32FB6BE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49061C-E2A1-4E97-987B-1DF1E9E4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958C3EE-06B7-48BD-A092-AC7C26E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84F75A8-E86A-41B9-98A0-4C1248EB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427AE55-0649-4D8F-B3C9-7C15E03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BACF8FD-CCFC-4863-BB55-5B0AE68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4FB7C0-BC56-4526-8404-B448C07F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AC08FB6-7C19-4B3D-9808-BB875E6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CAA1293-DA1B-40DD-8ABB-C2B9618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1CA07B8-293D-4297-877C-B38D95A3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CD26881-2E52-46EB-9656-5144533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2C3091E-617B-4492-B191-54E2D7A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E36B46B-95FE-4C0B-9718-0AA8068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CB53DB6-CBEF-4C79-8578-D26A099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S42  抽取确认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2CAC811-4607-4F23-96D0-DC06392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CC0AC74-948A-4155-9EA6-308710C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592543E-D643-4A00-9BBB-2808D5B6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DFA8ECD-FE57-4DDD-B839-A6EB39F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4D4566B-6DAF-4458-9140-714B429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22EB736-5DD0-40D9-9BCE-46D0FF6A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320E138-A4C1-4842-9D64-344B4862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B467243-D114-4E10-B9EA-501511C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558C136-2E94-43C9-A2D9-C8C3EBA4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407393D-01EE-40E0-ABBC-9829A74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D57EABD-8F12-40CE-BCFA-757EBD3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DC0B0FD-B0E3-4528-A86F-2FEE436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FD5D891-35E2-425F-9C02-99B654B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4BE1E3D-8D30-4878-84C6-E32EFE0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6A19545-EFA6-43BD-89DB-5BF27EDA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8CFBAEE-2083-4A01-B121-3C2611D6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87F4CDE-9CD2-4393-9E5D-9246CC3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F338F1F-D3FB-4923-BAFD-4F03B2E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2DC6AB6-8338-4FC8-893F-BBBDB3C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确认系统识别的字段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5152307-919C-4339-ACDA-D1DE028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场馆容量确认.pdf / 候选事实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68E3996-1CEF-4658-9324-74A2B82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 / 适用日期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DF3A988-FD19-4730-B4CD-D8C9B2A4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750543F-42B0-4F2F-8A5C-B94A0F8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南京示例体育中心 / 2027 年 10 月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741AAE0-50E1-4C12-902E-04EEDEFA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可售容量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987C37B-3619-433D-AAC4-91BDD74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BEFFADE-66D4-4C4F-9C35-62A1775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10,500 席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04314F7-916C-414B-9662-26877AA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292" y="4950336"/>
            <a:ext cx="2784824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与项目输入 12,000 席存在冲突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E6DB942-5EAE-4617-BFE4-9B03C71C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156314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04E9049-1CA6-411B-9A53-57133F4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354053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709F4E8-D6F5-4217-8763-858470B1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5436444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第 2 页 / 座位区域表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F722ABE-2232-4F40-8141-F7C705EE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840161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56AD57E-1593-46CB-A02C-7BC1BEE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971987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识别到冲突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75B2D71-8F0C-4210-9484-9651789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233992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候选容量比当前项目输入少 1,500 席，确认后将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2A2A2E0-443F-4AC1-90FA-9E26828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395478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进入冲突消解流程。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E627E50-2D58-4C8A-832F-A977FFB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639356"/>
            <a:ext cx="81987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0C33214-CB9C-45D9-946F-565E9B2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6664074"/>
            <a:ext cx="68804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需要人工处理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C6C71BC-15A1-4844-90F7-F587BF9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051313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3C9FFEF-A140-4017-AE10-87FFC05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133704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6BC308C-5C48-451E-93A3-2B9673D1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16666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以上资料名和数值仅用于产品示意，不构成真实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B848F62-C497-4532-8E0A-26B3C73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328147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场馆事实。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2ED2581-A219-47A3-B838-04381A03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A72A2CC-9BA4-43E3-BF67-DE720B23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确认并提交核验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6AC58C-C7E1-4310-BFAD-568BD38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962744E-9639-4B62-BC8E-E21A470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退回重新识别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B134536-C300-4DF5-9399-E2F3A1FC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4C7E465-2FCB-444B-909C-202A0C3B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B287922-B367-462A-BABC-79C2FFD8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1BE36A2-F260-4AED-842B-44575989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F8A6E4D-3E91-437E-BEC7-0941793D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B79A32A-A7C7-4047-8B9A-2036AEF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237F033-A737-4BE5-A8AF-E158199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ACE936F-48EA-4A04-A87D-C8F4CFF4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F742414-1E77-4305-AF78-B404484F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2FC2FC6-EF50-4CF6-B85C-663D5D50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F3D108D-10E0-4BB1-A2F0-5EF6AB5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EC2F01F-1E6E-47ED-A604-02444BE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775534B-614F-41F0-A84C-84EABBE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EF4C48F-DA59-4E22-AB67-81E7579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62ADD6D-148A-4500-A38E-5B4FB177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AC36B95-F5CD-43E1-9462-C89E2C3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1F4A2B0-9147-4B61-9764-28ED1C3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F78DBB8-22BD-4995-9174-1FA99DF6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01E9112-8662-4113-BEAE-F1120285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27512FA-5EF8-498A-ADAC-D795C51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D0F155D-DCA7-4113-99F0-435904E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829162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CE343D1-FE99-465F-83D2-E42689DD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5DC33-65F0-4E1D-ACC9-4781909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DF496-1378-43AC-8315-3B500B2A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风险与人工门禁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12C8B-E82C-4096-AF46-8C9D60B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风险可以解释和缓解，硬门禁只能由对应责任人确认。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F9196-B1EE-4787-82DF-3B887308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E01D1-104D-46F3-B251-6F89915A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 + 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803E5-6B8D-44FC-928A-59ED59F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2A0A1-D2EC-48A2-ACA2-627C84F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S43  风险列表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E1E34-CC42-4405-AFE3-8D23161C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A6B9-5517-4A93-B8DA-E66F1BB0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CA59-9A5C-408E-B040-107CF33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6CFF7-8167-4CD9-BB9A-95F65672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22CD3-E2C2-4734-9D76-5CB12475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D5E48-97DD-47D6-83F5-0017D87A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9AA86-FB2C-40AE-B095-2F974AC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9F4F3-2843-4DBA-9045-A38B57B8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4015B-A9B3-4D04-AEDE-E7E46D3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1CD6D-336C-41B0-9A65-109B5B0B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4A620-BF92-4262-8B23-249DE42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B4D09-C8C7-4ABA-AE21-B71F698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AC1B1-8617-4B0E-9520-C840F1A2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649BA-F27A-4A6F-A98B-A25B50C3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27B66-6AED-41E0-BF93-2E130BC1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74933-B892-41F8-8090-9A227B6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D6ECD-FF61-4FAC-B86D-6FABD104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6EB02-30ED-424E-A99D-C8E8734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BB20C-6105-4014-9D8C-7D73D0E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先看最可能让项目失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E69943-1B16-4864-A97F-72290188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控的地方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F64DB-BBF1-4225-B29B-F5DC83F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风险 V1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03473-EB9D-4E09-9950-DD167057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465" y="4041725"/>
            <a:ext cx="2668079" cy="327659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CD3924-40F2-4052-A49A-97C46AB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71" y="4072931"/>
            <a:ext cx="826948" cy="265248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67D36-C36E-40F7-BBA5-04BBAD6B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27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799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全部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031D4-31CC-49CB-B89E-1F78BB6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63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高 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7EA86F-EEFF-460F-B25A-4E8D5F4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93" y="4135342"/>
            <a:ext cx="795743" cy="1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99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6B7C8-21EA-4CEF-A186-7C2B5CB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465" y="4463001"/>
            <a:ext cx="2668079" cy="2652476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801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A9A7F6-488A-400E-85E3-555AD741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4564419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峰值资金缺口未落实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21C4B-ADE4-4A24-B0AB-8054D147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4759454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中性情景缺口 94.608 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04103-44FC-4FD8-8DDC-A116162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07" y="4642433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B27541-BFEE-4E02-A34A-7F64BEA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4287" y="4993496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76C93E-AF23-417A-BBB2-405037EE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5094914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艺人授权范围未核验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DEC2EB-9778-4264-85AF-E173CF64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5289949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影响履约、版权与正式签约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D51E05-3C27-45B2-98E7-FA384EB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07" y="5172928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38A7BA-1A49-494E-B93D-0A6E1243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4287" y="5523991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35BB26-F62F-46CF-91E8-C2F5A85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5625409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场馆容量存在冲突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F1F3C1-9CFF-46E2-9B86-C9E366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5820444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12,000 与 10,500 两种口径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856C50-16C2-444E-8FFE-6FECF956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07" y="5703423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06D693-006C-4405-A26A-11EE1C7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4287" y="6054486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CDAED5-594E-4E05-BDB8-4D439040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6155904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保守利润缓冲很薄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B4AA47-3998-461E-9E5D-5BFF37B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6350939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65% 上座率利润仅 12.856 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7918CE-6B95-433E-BD6C-510EDA8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07" y="6233918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9E1C25-34D1-4374-A878-6DE5E40C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64287" y="6584981"/>
            <a:ext cx="241843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801">
            <a:solidFill>
              <a:srgbClr val="E1DB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398565-D586-46CA-AB28-E18F8B1E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6686400"/>
            <a:ext cx="1700705" cy="163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21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案例数据仍缺失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D29A5A-7B5E-4A57-A829-6B20A2C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6881435"/>
            <a:ext cx="170070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37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影响比较依据，不替代本项目计算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B6C059-72B8-4DFA-B946-AF9C4E5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07" y="6764414"/>
            <a:ext cx="624112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860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DC08AF-D49C-4AEE-8352-4F37BF5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465" y="7209093"/>
            <a:ext cx="2668079" cy="524254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A696FA-6AEC-446F-8816-D52B9EB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465" y="7287107"/>
            <a:ext cx="23404" cy="36822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CB51E1-0F6F-4C1B-A7E9-457F0F08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7318313"/>
            <a:ext cx="2402831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风险级别由规则和证据状态共同决定；大模型只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7F13E4-76A3-403D-B611-1B311D4E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287" y="7471220"/>
            <a:ext cx="2402831" cy="152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860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辅助解释，不单独创造事实。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9D7535-D887-4577-930F-B3EEBAA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B4901F-397E-4BAC-8EEE-9589287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制定风险处理计划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DFF443-CA20-45E7-8CEE-40439B87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E9B972-CF23-4041-BCA0-38AE496C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按级别筛选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4F76AE-396A-40AC-A8B6-D4AE9FC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460AF9-46A7-4021-B969-638B848D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07602E-CE65-4071-B104-E015D41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BE7E21-498C-45BB-81EC-18FADBA3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9EE69F-40B4-4493-B843-D7FC5A9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83F7FD-A9D9-4127-B54C-AAEC63C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5162EE-3E4B-4E87-ABD5-33D52D0E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705A2E-7EE2-48C1-B9DC-40259C61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0E21E8-1A30-46CF-B005-E4A4F737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34F933-F88C-49F9-BA64-9E129C39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7F1167-E082-46A1-BE0A-2E62F0F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206EE4-A312-4090-8EEB-0D6BFA2B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8ECBA9-7E13-4183-AFF0-3A60A8D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CC589F-6862-4C4D-8837-CCA7441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2A33EC-A5CB-442D-B0EC-3953892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D3860F-33CC-4404-841B-DADB54B6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000E74-A9A6-468B-81B0-C533BDD8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DAD375-F3AD-4095-B480-AF7E133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7DA085-4FD6-4063-AB6E-000E1371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A83FCD1-0369-4607-8FA1-77E5AAB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53059C-FD74-45E9-8898-4FEAA88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5AE2AC-629B-403F-B733-F90E7E09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S44  风险详情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47DFD4-E563-4382-9F7E-DE9DCBD4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23FFD2-3ED3-4B78-8B3A-CC99AA28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C1D482-0C9C-4DFD-AFA7-D192204E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0F79E5-8158-48E2-855A-DB88A003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3358D9-97F5-4B26-9E8D-9BB611F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20A2B1D-8D09-44F4-B7EE-541B7AC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E91431-D05D-4DE3-A24A-EA45D3E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402BBEF-73CD-47A9-9B9F-66777F4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F47AEE4-1164-434C-B1E1-1694786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0F7A4E-12BF-44D5-9747-ED43F8F6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A362F2-231E-499E-8B12-1C5AF3A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5F6DCE1-8ACC-4EAB-8F06-69B62AB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F24B443-6122-47F1-BF21-20E3A2F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557999-2EBD-40A0-95E5-5683E924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414EC33-B6E2-4DC7-886C-BBB45300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E10835-BF3A-41AB-A763-0B4157E7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518BBD-94B7-4769-BAA6-536FD53E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14E7D2-3D56-490E-8A9C-4AF06FC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51CF85-62E8-492B-92CD-F0F7F86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资金缺口可能卡住执行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C7FE6A1-016B-4376-B378-88CCE13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风险 R-001 / 高风险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E61DE38-BC16-466A-AFC4-5CB5120D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32" y="3755663"/>
            <a:ext cx="2514544" cy="1308739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918B729-3164-414D-94D2-1ED74D8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3865950"/>
            <a:ext cx="2249855" cy="113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37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HIGH RISK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5F1E9C-49E6-49DD-8EE7-B872E6A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4057114"/>
            <a:ext cx="2249855" cy="257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47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47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峰值资金缺口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3E379E-73FB-4C8D-8861-4D19F78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4365918"/>
            <a:ext cx="2249855" cy="14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1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11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按当前保守现金口径，中性情景仍需额外资金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7F136D-1894-49B7-8C8A-F2EFD56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4608549"/>
            <a:ext cx="1580780" cy="34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68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1968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94.61 万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999304-1F93-4091-A0D1-F6DEDE1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318" y="4799713"/>
            <a:ext cx="772009" cy="12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5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95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中性情景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D3F0527-6F98-4991-B289-AA9ACA8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32" y="5152632"/>
            <a:ext cx="2514544" cy="1499903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52">
            <a:solidFill>
              <a:srgbClr val="E1DBE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34141E-3603-4DAA-B03E-FFCE6DF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5248214"/>
            <a:ext cx="2088101" cy="15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风险依据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911C3E-636C-4FF8-BEB6-1E1E41C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5432025"/>
            <a:ext cx="2088101" cy="12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总成本 594.608 万 − 可用资金 500 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93AD32-D0F7-484E-BE55-EF16EF24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155" y="5314386"/>
            <a:ext cx="102935" cy="22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9B12D1-4C5E-4381-B1D1-E4880F8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6472" y="5652599"/>
            <a:ext cx="22792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52">
            <a:solidFill>
              <a:srgbClr val="E1DBE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CCEAE7-4D75-4F93-B7CA-59E27678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5748181"/>
            <a:ext cx="2088101" cy="15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缓解动作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1DBD56E-D2BE-4F60-B83C-B8BE732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5931993"/>
            <a:ext cx="2088101" cy="12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落实新增资金、调整付款节点或降低前置支出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F4AB7D-7B5D-4838-BFC9-DA7BB1A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155" y="5814354"/>
            <a:ext cx="102935" cy="22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4E28876-92CB-4C04-90E7-7EF0920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6472" y="6152567"/>
            <a:ext cx="22792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52">
            <a:solidFill>
              <a:srgbClr val="E1DBE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BECD0F6-3797-4102-A01D-C876209A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6248149"/>
            <a:ext cx="2088101" cy="15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止损信号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E330CE3-C585-437C-BCA3-11FA8DA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72" y="6431961"/>
            <a:ext cx="2088101" cy="12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69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资金未确认前，不锁定不可撤销支出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EDA46F-C6FA-43C4-AAD2-51AA4B70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155" y="6314321"/>
            <a:ext cx="102935" cy="22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27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02535A3-FD87-4BB9-A8D5-466D5DF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32" y="6740764"/>
            <a:ext cx="2514544" cy="992583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352">
            <a:solidFill>
              <a:srgbClr val="E1DBE8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8DDF48-67AB-4C57-8124-B37F338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6858404"/>
            <a:ext cx="2249855" cy="174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84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84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人工责任与口径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7AFC7DD-A260-4257-975F-2003557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7092212"/>
            <a:ext cx="2249855" cy="14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1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资金拨付、亏损承担与合同条款由负责人确认。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FAFE3CA-325A-4484-A97E-8632BEE2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7236321"/>
            <a:ext cx="2249855" cy="14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1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11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v1 假设全部成本先于回款支付。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A969D29-BACE-41AF-88DC-FD8FD08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177" y="7453954"/>
            <a:ext cx="641576" cy="1911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B97961-42EF-4462-94E4-FF87543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997" y="7476011"/>
            <a:ext cx="523937" cy="12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5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695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人工硬门禁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5771ABF-DF6A-4002-96FB-B84181B4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1A767F5-7FDD-435B-BB81-1B47323E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创建资金落实任务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ACCFC9-97B1-4548-8FAE-B4B89E6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402C00E-9270-477A-88BB-86BC6475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标记为已知风险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AEB0EF2-1242-47CA-B8C1-F997F9B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76C44CD-BF19-4A82-92CF-D960A84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E670C68-DBF7-4B74-B056-128E482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2671725-399D-42B4-8D37-4CE7EFCA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DB8A710-FBE7-4280-B491-4BEBED9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A1FF167-31B1-41A4-B8E8-6F74553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83C619E-2733-4392-8585-9DC88357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53F800A-C1B9-4A24-87DB-5E23858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47320C6-5C8C-465E-8848-78E5029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FA8BC2A-23FF-40B7-98B7-AA8ABE1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B76A0CE-DCEC-42BA-A57D-F73E9B43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E5AAD5C-F8AF-449D-AF82-07B7335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9BE0235-7122-4D80-B3CC-C5A377A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B8A5B2B-3530-4C5A-AFE9-11465202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48D83DD-5D33-4042-81ED-A0D9359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8531FE2-6CF6-4C38-A6D3-7409BD4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9B7F7D0-D2F2-483A-8CF1-3E1C5BB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209D3A9-DA74-40E8-AA21-DB4B89BE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BA8A618-42FA-4551-8C25-012A7FC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B6363B2-9CE7-4F95-ADF8-A12067A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B0757CD-A6B4-4770-849A-B52625C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1F9F800-A365-4BE9-8E2B-98F24F9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S45  人工门禁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78CE810-734A-424D-8025-8B0B4BD6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D411AB1-D482-46BD-97A6-1D9C4E6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346E872-6FE0-4388-B95B-EFB34ED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8E36956-0BAE-4229-9B02-9F80AB2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EC9EF58-B6C1-42EE-867E-A16C497F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224A580-35A9-458E-8877-A8B4EA63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5D49E6D-253F-45C0-9047-1E331C9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825AD11-231B-4B5F-AED7-660D358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6BF2598-0E99-4F03-8EF3-61B2C59D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796C5D1-B1B8-481E-8041-1274339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E76CE6C-F39B-4ED2-A051-6F1D9C80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51AC6BA-B94E-4EA4-8998-3460BC6A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6103D70-64F8-46C8-BF7A-6A070A5F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C481A76-519A-4925-AF62-7E822D3F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3BF924-220F-4F78-8777-EC35CF35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C284B3E-55A8-4745-AE6B-627C5F6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F9D93EF-BE3C-42FE-976D-FC4002EA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D2937A9-81FE-4B5F-ACD6-2C34F20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B6AA64D-9B82-4E93-8633-B10253E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四道底线，系统不能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C9247A1-39B3-479F-B80E-126DA47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替人通过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679C293-917B-434C-AE00-DE9E6F6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当前状态示意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5D15262-AF70-4827-A44A-3D05E655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511" y="4041725"/>
            <a:ext cx="2804387" cy="2230389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00">
            <a:solidFill>
              <a:srgbClr val="E1DBE8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97B54DB-1144-40C5-B640-DEC84650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4148325"/>
            <a:ext cx="1787591" cy="1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政策与大型活动审批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B91C4EF-B3A1-4D4C-90EF-26C84C7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4353324"/>
            <a:ext cx="1787591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负责人已核验示意文件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7397F28-FF72-4DAF-8371-47349FF6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302" y="4230324"/>
            <a:ext cx="655997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4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4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已确认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F4A9CA2-7071-4272-9B54-1313B27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7710" y="4599322"/>
            <a:ext cx="2541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00">
            <a:solidFill>
              <a:srgbClr val="E1DBE8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DCCFE93-180F-4DAF-9A72-A000422D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4705922"/>
            <a:ext cx="1787591" cy="1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场地承载、消防与安保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364FC44-3EB3-421E-9896-FFB8A050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4910921"/>
            <a:ext cx="1787591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另有容量冲突待消解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CA5D0A3-E5AF-45A6-AB44-4D0758A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302" y="4787922"/>
            <a:ext cx="655997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61E0C9F-A233-4736-8A3C-6D491CB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7710" y="5156920"/>
            <a:ext cx="2541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00">
            <a:solidFill>
              <a:srgbClr val="E1DBE8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6323657-E7E4-45B9-AA62-6DD95D5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5263519"/>
            <a:ext cx="1787591" cy="1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艺人授权、履约与版权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8E0C04F-4C2C-4867-8E42-0F387B7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5468518"/>
            <a:ext cx="1787591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正式授权文件待补充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F393EEC-CD24-421C-A995-2CBBB966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302" y="5345519"/>
            <a:ext cx="655997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3246819-DDB1-4C39-A923-301AC9F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7710" y="5714517"/>
            <a:ext cx="2541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00">
            <a:solidFill>
              <a:srgbClr val="E1DBE8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CE71706-BD22-4FBF-809C-6DC5A2B6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5821117"/>
            <a:ext cx="1787591" cy="1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6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资金拨付与合同责任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0C68522-BCBD-4CAB-89AA-1DD2B4F2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6026116"/>
            <a:ext cx="1787591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资金缺口和亏损承担待确认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F167550-99A9-44B7-82BF-3D0786F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302" y="5903116"/>
            <a:ext cx="655997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4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D9B707D-7BB8-4D35-93F8-85F7C3F5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511" y="6370514"/>
            <a:ext cx="2804387" cy="713397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00">
            <a:solidFill>
              <a:srgbClr val="E1DBE8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E6A22E-BA90-43C4-B3DF-7CA23F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911" y="6485313"/>
            <a:ext cx="737996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已确认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6200C41-95C4-495F-BF19-E83BEE1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911" y="6673913"/>
            <a:ext cx="737996" cy="2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85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6002B9E-4AD2-4C04-B476-035761E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31307" y="6518113"/>
            <a:ext cx="0" cy="4181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00">
            <a:solidFill>
              <a:srgbClr val="E1DBE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BF34F11-6DDB-4688-B56F-DAE3DCA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06" y="6485313"/>
            <a:ext cx="737996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E809E9B-FFFA-4FBF-9ED6-F0D99BDA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06" y="6673913"/>
            <a:ext cx="737996" cy="2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85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CB7746B-1E51-4921-8175-5F49DBCE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866102" y="6518113"/>
            <a:ext cx="0" cy="4181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00">
            <a:solidFill>
              <a:srgbClr val="E1DBE8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8F53B80-6EB5-4397-AE1C-49A2F2D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502" y="6485313"/>
            <a:ext cx="737996" cy="137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5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阻断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214A597-A5E6-4E51-85D4-515934F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502" y="6673913"/>
            <a:ext cx="737996" cy="2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8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85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0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1DD9FB9-A340-4BE6-A2BB-F4B2B72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511" y="7182310"/>
            <a:ext cx="2804387" cy="551037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98CEC55-06A3-4EB6-B94F-993C3D8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6511" y="7264310"/>
            <a:ext cx="24600" cy="38703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46B893E-F4BF-4C8A-91B2-FDD0F77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7297110"/>
            <a:ext cx="2525588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4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任一道门禁未关闭时，系统只能建议调整后推进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4F4041B-8003-44BD-A3AB-4DFE8EF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710" y="7457829"/>
            <a:ext cx="2525588" cy="160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4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4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或暂缓，不能输出无条件推进。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657FEF0-F351-4794-ABA0-CF28BD3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6848642-F8D1-4355-B1FE-FAE0269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逐项确认门禁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08C7F9F-3FF6-4637-A5BA-5725B9CB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C6A9AB9-721B-43A8-82D8-DD3ACF2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指定负责人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169260-892B-4C6D-9B08-DDE362CC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4D32E25-8B83-42ED-9119-B2DE4C82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E02C881-F5A5-402D-AD51-62F17A98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1EDE56C-2880-44A6-A96F-DBEF77A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56CC63A-F312-453A-84C6-9CFF290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A874C5E-3821-44BA-B9FC-80920E85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2D9ED35-DCA6-4A12-8195-CB0C8A78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316AE46-BFD2-480F-8844-8573E09A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2A56169-1A5F-4E0B-8284-ADEB784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54AFC6E-9E7A-48B2-95EB-A806F175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489CE34-6C2D-4ECA-9502-BF6952A6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CA17EA9-D2A1-4DC9-A9E2-7EFF1AEC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B3B87FB-C0DB-4732-8C7D-CCCAB4F8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9F87588-DEAE-407A-9AEF-3485DF6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77B2F20-6258-4E88-84DE-3B20327A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5B3158C-BF3F-4D93-952E-7394CBFE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D3135F0-A8D1-4983-9D9E-CB936FF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6D10FFF-07A6-4BEC-8A51-0622B4A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E99064D-2E38-458F-93F4-4ED0395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68D893C-503D-4EB8-AA37-86A3CC4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BA73A9E-185E-45C4-A3D9-F0DCC877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6153257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2F88B67-E8F4-4F53-B0B7-6903E434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758E8-E245-4B3C-97CF-54D5900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21B26-7D3E-4F8F-B25C-948A885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确认与留痕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9688-C45C-43D1-B988-2CE5904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负责人核验门禁、填写条件并形成不可覆盖的决定记录。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0E97-2702-4B85-B9A9-87F4F13B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88D0-46D2-4515-A838-CAE7A926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7DBD1-C9C7-4900-8E42-7EF2D2FB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89961-3386-4D20-B416-904DE0D2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S46  门禁确认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C6655-FD95-4D0D-8C34-78478377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2B501-0C79-43C1-9B02-7B6F7E2C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F31EA-9D15-4FEC-A3FC-0393962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BFF00-D7F8-49F0-B919-875EF411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DDD66-FEA3-4217-A28D-B7CD64A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CEE7A-BF4E-4887-B0A9-B04C0F4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BE308-422D-4332-9887-67EF5C7A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579B0-D47D-47B1-8966-44F330F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C526C-3D14-41F4-A4CE-07BA0EF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5BF4B-19D4-4A00-B255-68850F7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89045-A737-44F7-B943-875B74D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ED4E1-3DE7-4BEC-830D-50BB350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FE1C1-F048-406D-9966-B512015B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033CC-A867-4C39-984E-F97BF17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F247D-CD35-40A1-98E9-F1062C4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18B87-E019-45BF-9E72-B545E75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7BC7E-9755-442B-B2B6-61913C12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21EA3-9688-4D0C-8A65-D0A9F379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E8DCA-519F-48B8-BBA1-244F50E2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确认政策审批这一项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8E845-5AEE-4220-A254-2274116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门禁 G-001 / 只能由授权负责人处理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B76EA-D2D6-4CAF-BBC1-7D3C2018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0C2EC-A4FE-4ED9-967F-CCB93B3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C8862-7E54-4C6F-BF6E-BE97D77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已由人工确认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5B1851-B083-4FA4-A8A4-3F609269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责任人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283F6-59AE-4B13-9021-4F199DDD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F6D433-99FE-4ADF-B317-4CAFE82E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张敏 / 项目负责人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310280-9C3C-47AE-A40C-05B01FC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0244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时间 / 适用范围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1F418F-54A2-498A-9BFF-DCA2E531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2222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0C7641-9035-4075-8CC9-AC32B60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53046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2026-09-20 16:30 / 南京站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7A25A8-E0E3-45B2-893B-F14E3FAC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708335"/>
            <a:ext cx="2817781" cy="560261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04F878-0D58-4D9E-B2C4-00A8573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81544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审批确认文件.pdf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F7D0E3-236B-4604-99BC-D45D8774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02142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产品附件示意 / 仅当前项目可见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F6C24-8C81-441F-BA5C-A86CC3E9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89783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已上传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0FD9A3-683C-4EEC-B89F-B18366F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367465"/>
            <a:ext cx="2817781" cy="715156"/>
          </a:xfrm>
          <a:prstGeom xmlns:a="http://schemas.openxmlformats.org/drawingml/2006/main" prst="roundRect">
            <a:avLst>
              <a:gd name="adj" fmla="val 14977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3CF30B-A82C-4163-8F86-F747023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449857"/>
            <a:ext cx="24717" cy="550374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0CAD7C-DC15-4FCA-A500-96E9358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8281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确认会记录负责人、依据和版本。模型与 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315538-7138-4B2E-92BD-8B87910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6443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无权代为提交；资料变化后必须重新确认。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4B76A6-B0D7-47B1-BD55-926420C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B7DD3-9232-44D7-81C7-0A944C4B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提交确认记录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D2C08-EEE1-400F-ADCF-A845AD6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D6181C-4B57-4B58-9179-56A3F01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标记存在阻断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3EB70A-45A7-4AF2-8060-55D640F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E1C00F-6864-4CF8-81E5-CCE71E7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B4B0A5-B349-41B8-BAA5-47EA35E0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54C5FB-D0C2-4AB7-A37F-FACFAEC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F1889D-6B63-4059-A429-70EEB7E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6C4B2-C21B-40E1-8F6D-49EADC16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A04E2F-BE8A-45E3-A4BA-022A25F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DE3C6F-76B9-4C11-A81B-DEBA1D16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FC7F67-13A8-48E1-846F-A953C100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F0AFAB-4EDF-4958-B85A-16F344A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B7A157-5E16-4E89-89F6-EE04E452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EED0B6-8527-47A6-B0A1-71FC76C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49CD3D-3EAA-4A6D-BF33-B17D4B3F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C7EFAE-A63C-431D-ACF0-F161080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D42B1C-0904-4721-B556-1A8A15A6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852FC9-59A6-4BBA-AB1B-9202AB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0211DA-2FA9-45CB-AF88-EDB2EE9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BB7F13-0997-44BB-B834-EF41A3ED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DC7700-8FE6-4D2A-91AB-CB2BB4D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6E40FB-D5A4-43DC-A6EC-D2FC23D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524555-F23B-4E43-96D4-956F2504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947B84-70F6-4695-B7CA-61495F0E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S47  负责人决策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0E412E-B792-4395-9FB4-8262EE66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D79153-8B96-4FB8-A594-7CD257B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E885AE-A570-45E3-B9EE-105D0856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A58E88-BB21-42A6-9353-8BB202B7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81CEECA-3071-4D01-8C60-3021514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8B9A67-702D-4D68-8E35-3775FB54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094469-60EF-4C36-AA81-F08CCBA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3319CC-10B9-441D-BB00-84EC5A8B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5E529C-66E4-439F-88E1-26FD3F8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73086A-BCDD-4902-B7C2-4CE3C06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3F25DC-761E-482F-9F46-8AC6D1E2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4CB890-97B3-46DE-9276-01C53A1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5CE245-6D5C-4179-A2EA-2F6BC51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86DABB-761B-495D-B43A-8E85D9D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D0B867-B0BA-4182-AA03-057C6D4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1465DA-E3BE-45B3-A823-47DDBB4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9D8FC1-5478-4861-9D8C-49CDE61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706D21-994B-49F7-8BD2-E1B416A9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4C31CE-699A-4F96-8F1B-61D6D8F8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确认你的最终判断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69D5FC-8CFB-4725-82FF-4977EEA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系统建议：调整后推进 / 判断 V1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BEB2B2-F60A-4F23-83D0-692649B8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A8F88E2-E1BD-4D52-970B-00CA46F3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17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ED9B881-E77B-45AD-868E-A2ABE45D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6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调整后推进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6CB104-E792-4ECF-99B8-8DA65A5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9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暂缓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5D7F3C-3BA2-4953-B540-760AC77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1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终止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9B1580-B52C-4642-8E3C-962E695A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2005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最终负责人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31DB65-C1EF-4A36-8374-B2C4567B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3983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CE5AD5-928A-4D91-AEEE-99EC6C4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4807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张敏 / 项目负责人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6EFDBF-0AC2-4F2E-B858-C37B6F8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8349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前置条件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5A070B-88B5-442A-9EE2-2E0A3F8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032727"/>
            <a:ext cx="2817781" cy="509178"/>
          </a:xfrm>
          <a:prstGeom xmlns:a="http://schemas.openxmlformats.org/drawingml/2006/main" prst="roundRect">
            <a:avLst>
              <a:gd name="adj" fmla="val 161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7DEA324-D2BD-495B-8642-914CA61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1151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落实资金缺口；关闭艺人授权与场地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B5A191-EB96-41DB-A22D-C89ABCD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299675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安全门禁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3C17A5B-5C61-4969-ACC8-C8B5AB8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6407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决定有效期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F3CA9E-2691-4254-A069-D2CBA7EE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8385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D3225D-E058-4433-9B9E-4EA8B5CD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920905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关键输入变化前有效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F99F188-1A8F-48DC-A41B-A810C7A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692" y="6201035"/>
            <a:ext cx="2784824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与系统建议不一致时需填写原因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EAF2F7-A82C-4283-8485-72FA96B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456448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E8D15E-2D3D-451A-BBCC-FDF54C11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6571796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C4694E-5435-41EC-AA09-64147FB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6761296"/>
            <a:ext cx="741521" cy="228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3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283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7E466FF-0BAB-4499-B6E0-179D756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66474" y="6604752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F3E43C-475A-4142-876D-632FC437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6571796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保守利润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24AF46F-9FCF-468B-AA1B-CA44A6C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6761296"/>
            <a:ext cx="741521" cy="25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3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36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+12.86 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E640C95-EF99-4D60-B21E-E45C495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5735" y="6604752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B9204B-1632-4185-8ADA-F6D989E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6571796"/>
            <a:ext cx="74152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资金缺口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25F857-5227-48D9-A090-6BE2C26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604" y="6761296"/>
            <a:ext cx="74152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94.61 万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6E33C9-525A-450A-8083-866D60C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4C1953C-5A64-47C8-BF71-8E1CF7A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确认并保存这个决定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38CB463-E3A7-435A-8D30-F210EF31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4D17EC-66B3-41F4-824C-6EC1AF02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返回检查依据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BDE6F8-3F37-40EE-BB57-33F4340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3879A8A-1183-433C-8CE7-EFB104A8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B92C00-A49C-43F0-9FB8-B9EDAF5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2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C645C2-3B03-4DDD-A644-8FBC988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002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B469BC6-95C3-4F7F-AB67-F6DB56F9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6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0D85C4-4C5E-4029-AAB1-096FAA2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0167F1B-D2BD-4B6E-A160-4842A64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7431BE-F96D-4F6B-B1CE-A90C545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035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E02AE5D-64E0-4F2A-80D9-EE564A5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9A681D-677F-42A0-9A9D-4284E72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E09C49-02C2-4C72-9DAA-2491CA82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2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F39A22-7313-49A4-A3F0-2B3283E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4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105735A-EB20-4F27-B954-37638C86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68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A3526EC-33D9-4180-BA9D-6F6ED5E5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2177288-2381-4443-93E9-3577579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7F870E-257F-4F93-B33B-B0B6A21F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772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33A24AA-3C37-4840-9FCC-C9B8DC8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37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87E863C-565D-453D-BE33-2BB33F6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760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07AB84-15F8-4D2E-98A0-B13E20B5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6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7036470-2693-45D2-87CA-0896DE9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FB9DA74-6583-46E7-AD79-08EF9EFD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7B47A5B-2B4B-465A-9016-53277D5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S48  确认完成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FAB3455-4D87-4A6B-A3AF-B038661C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FD29FEC-B314-4423-91A3-F497C88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A451B35-3ECE-4B32-9CE2-625E8D3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C9431BD-27CC-49DB-A547-384F086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E845EC4-C76C-4BC0-B6FC-6ABF78D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835F35B-CE88-448B-9FF6-04D2C27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93EF143-453E-4FB9-A295-BAF3F0F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B313FC0-32A8-4166-A154-BAB5522E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D9FF20E-9FA6-491F-ACF2-53E0A04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2AE1702-A3BA-46FA-B39F-19F7AE26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F954F1-CEB8-4DC9-9EFF-FE4B0FE5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4B6E340-BBBF-4401-9A0A-9690968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95D3DEB-1172-43F9-8A5A-1832594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79A84F3-9AAB-49F6-8135-E75D63F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2760D6-A39E-49BD-BF13-F8E0404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D8564BF-CBAF-4BDD-9AA0-3A490A8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802277F-9F56-44B0-938B-A1BCE5A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8D4DC39-779A-4363-9EA5-F0DB238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840E5AA-01E8-4DC0-93EA-86AECB6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决定已保存，先落实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A46D461-F42C-4419-81FE-47479DA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397261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推进条件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D1F83DC-306E-4F1A-A0FD-D6E977A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40997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决定 D-001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1FFD698-20B9-4D61-AED5-7739CA3B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23" y="4041725"/>
            <a:ext cx="2561962" cy="1333419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A38F55C-4F4F-4AB5-A6D7-A66FC52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4154092"/>
            <a:ext cx="2292282" cy="11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DECISION SAVED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5DF74AD-937B-4093-AF7C-D78C52BD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4348861"/>
            <a:ext cx="2292282" cy="262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4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调整后推进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E3CB71B-2B4C-4CA8-9959-081ECE56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4663488"/>
            <a:ext cx="2292282" cy="146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6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826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负责人：张敏 · 2026 年 9 月 20 日 16:42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534918A-D886-4205-ADF1-AA193B5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4910695"/>
            <a:ext cx="1610590" cy="356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005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3 项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9AB9554-C146-400F-A43A-B4F7F50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3296" y="5105464"/>
            <a:ext cx="786567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前置条件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C326CD2-C2AF-43C7-878E-E75D4CC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23" y="5465037"/>
            <a:ext cx="2561962" cy="152818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491">
            <a:solidFill>
              <a:srgbClr val="E1DBE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55A678F-E354-4E28-A48A-67042A5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19984" y="5757191"/>
            <a:ext cx="0" cy="33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82">
            <a:solidFill>
              <a:srgbClr val="E1DBE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782947C-DB99-4956-88AA-737E133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5592386"/>
            <a:ext cx="164805" cy="1648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7491">
            <a:solidFill>
              <a:srgbClr val="7954C6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F6B452C-21F6-4D4B-9AAE-C613847F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5599877"/>
            <a:ext cx="134840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9707765-073B-49E8-954B-D8C97A4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5554931"/>
            <a:ext cx="2052566" cy="15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落实峰值资金缺口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F58FB93-0FB9-4247-9731-F456B7A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5742209"/>
            <a:ext cx="2052566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财务负责人 / 待分配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0CCBDBC-B7AB-41CF-9B8B-D163A06A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19984" y="6266587"/>
            <a:ext cx="0" cy="337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82">
            <a:solidFill>
              <a:srgbClr val="E1DBE8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CED8B5B-E372-4F1C-81C0-545CFDB4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6101782"/>
            <a:ext cx="164805" cy="1648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7491">
            <a:solidFill>
              <a:srgbClr val="7954C6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CCEA18E-3166-47D4-8AFE-40AF669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6109273"/>
            <a:ext cx="134840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321A92D-3927-41ED-9473-BF2B230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6064327"/>
            <a:ext cx="2052566" cy="15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完成艺人授权核验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020977F-E796-45A7-849E-A2A4CEEB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6251605"/>
            <a:ext cx="2052566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商务负责人 / 待分配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9CE4183-A697-467B-AF9B-D068A713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6611178"/>
            <a:ext cx="164805" cy="1648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7491">
            <a:solidFill>
              <a:srgbClr val="7954C6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C1E8BEA-6382-4C51-8986-9EABEAFB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64" y="6618669"/>
            <a:ext cx="134840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46CC469-D8E7-48CF-81E9-B1AC6CF8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6573723"/>
            <a:ext cx="2052566" cy="15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完成场地安全确认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748B392-EF43-4F78-9F26-803DC4B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788" y="6761001"/>
            <a:ext cx="2052566" cy="125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地方执行 / 待分配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18EC083-4B45-4D79-835E-7CE9F00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23" y="7083119"/>
            <a:ext cx="2561962" cy="650229"/>
          </a:xfrm>
          <a:prstGeom xmlns:a="http://schemas.openxmlformats.org/drawingml/2006/main" prst="roundRect">
            <a:avLst>
              <a:gd name="adj" fmla="val 14977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42468C4-1DBA-4201-8B10-C33271E6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23" y="7158030"/>
            <a:ext cx="22473" cy="50040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8262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CF5B0F8-B1B2-469A-B26A-79EB3A84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7187994"/>
            <a:ext cx="2307264" cy="146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该记录保留当时使用的事实 ID、证据、假设、计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88E5877-B588-47E8-A437-8446FC9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7334820"/>
            <a:ext cx="2307264" cy="146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算和负责人决定。后续变化会生成新版本，不覆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8183B8F-AF9A-4C1C-844F-C9FDBFFE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581" y="7481646"/>
            <a:ext cx="2307264" cy="146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826" b="0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盖本次记录。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4A89F48-6593-4969-A072-EAFE4E2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832217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33C7B5C-3BAA-4506-A572-B5B2C66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7939326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进入项目下一步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8F1B8CE-A312-4B1D-A399-CD1C6C9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44173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5528E6D-CBD5-41A2-BB7C-EFFB3CE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34804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查看完整判断记录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E8882EA-7FEE-4B2F-A84E-50EC279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90DB8BE-C905-483D-830C-CF26D55A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670A2B7-8345-456F-9BEC-E4EC2DDA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61B2345-B008-430E-844E-2C1A3F5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57E9DAD-F010-498C-B466-35C7E56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8636597-EE40-4A88-9477-438AF5F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4409FAA-A581-4A18-B007-9213188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8B41CCD-2C7E-48D2-928D-A5DDA08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935FF38-5822-4AD1-B95D-E2B7F76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6453778-BA08-43F2-A319-AA706EA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55F951C-B40A-4585-9810-C05D139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FE509CE-AC35-4EB4-8EEC-481CE1E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3B93F01-9668-4A03-8C79-C3C9769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E956388-B489-4019-8E4E-FC510289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D23681E-2720-4487-9787-86B5870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AD71D75-EF09-4FC0-854D-57CB7C4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23FC9E0-12DC-418D-8997-028CCD1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DEACA36-70D7-4D51-9E88-9AD5E0D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5A5A74E-1926-45F5-B752-DA87490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27D2A10-880C-401B-B080-FA07ED96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D3CB953-3038-46D1-9301-B36E505E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</p:spTree>
    <p:extLst>
      <p:ext uri="{BB962C8B-B14F-4D97-AF65-F5344CB8AC3E}">
        <p14:creationId xmlns:p14="http://schemas.microsoft.com/office/powerpoint/2010/main" val="15024269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631A2B7-D166-4C41-9BCE-65E616AB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96719-18C7-4A95-AED9-5BE1B8CA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1DAE-7EA3-4016-A8E9-5F0B2333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判断版本与决策报告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E7256-5263-4DD0-8B42-D40EC0D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每次重算生成独立版本，报告共享遵循客户空间与项目权限。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B2A87-63F6-4CB8-BCB1-0D04D82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AF7B1-938D-48A1-A133-419784D7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现有链路重设计 + 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E7FC-122E-4F9E-BC5F-606CD871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27AA2-46D2-4D8A-99E6-E68857D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S49  版本对比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EB318-3F43-41DA-9687-B2E7779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AAAA2-7F69-4C80-8DC4-06C57FE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A2A06-9BFA-4F69-B7CE-A0975956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B30AA-156D-41E2-9572-4F2DE301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762DC-CDCB-4174-83F6-CF9F17B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D6153-38D0-41D3-BD3B-77DB86DB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B70C8-8905-44B0-8E15-70314C3C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06C10-FFA1-47CD-A86C-D7828A7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4686B-57B3-4A67-9560-5184E64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1B231-3BB7-4696-B4C2-72C0253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F49C9-DF9C-4FB7-BB6C-15BC1431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793CC-C59E-4474-B836-DA1FD0B8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7FBA7-898E-4781-8010-0C8E51A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版本对比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D508B-104F-4111-9342-F040778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64C1E-78B8-4261-857B-1EF0C99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04C77-FE8B-460B-94F5-6086BEB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9BDFC-665D-40F0-8DD2-AB26BDB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21FB7-D2CE-4318-8F21-052BF82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6CB45-889D-48DC-9448-959718A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3E399-6BD4-45F5-AE87-497FB79A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F0972-22E4-4BDA-88A0-41F6B48E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这次判断变了什么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053B7-B2A4-424E-AAE0-65F6E65D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V2 对比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B8CAA-152E-4D3C-9FA7-A67F8F70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A5245-D064-45AE-9341-921D950B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 V1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A3CB3B-6637-4F12-B7F2-CD90109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118.19 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A3A91B-2553-4400-A06C-4DF07769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B056B-B34B-44A9-B235-5BF979F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V2 示例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930858-544D-4452-A937-3A85141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94.19 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C7E44-418B-4C21-8C3F-E37C5732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7133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AC8FC-7780-413E-A90C-E795FB8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6784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场馆固定费用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B8B7E7-0574-4ECD-AD0E-AD332333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8844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新增盖章报价；固定成本增加 24 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E16BC-510F-4F4A-A9FE-41A882F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7608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+24 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55DFDA-28A4-4200-89EA-891A5902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099E89-5B40-42BC-BE83-8CF8ACF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中性利润变化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ECB82F-A366-41D9-BFDC-49AAAE9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其他输入保持不变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AFE9C3-92CB-417A-9092-38E9FD0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−24 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803A8A-6073-4C36-9D6D-11BA993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40773B-CCE3-4469-9C52-69D03CB7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7989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人工决定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E86443-C84F-4CFD-8737-9DE18ECB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0049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V1 确认保留，V2 需要重新确认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47EE85-26C1-4F3C-8384-41BD8BD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8813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02965D-1074-4A46-8084-BFEB82EC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3509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AD4490-795B-41E9-AAE6-13ED947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4333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BAB455-B24D-4039-A1D2-006DF141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663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历史版本保留当时的输入、依据和结论。重新分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C9CDD3-A2C8-4A0A-BD27-CDD5A48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6278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析不会覆盖已确认记录。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BD8EDE-5FD1-4972-BACF-E2472A3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0AB457-1D93-4F18-90E1-6E5723C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将 V2 设为待确认方案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0DEACE-145F-4D1E-B74E-A05F06B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5BE0BD-6B5F-4114-8DD0-6387529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CEED68-9DA2-4D40-9BE3-AEAF3C4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S50  报告预览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DEBFEC-85A7-4F51-9A69-9EF91321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01F2B5-5D3F-42F6-B788-F812655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238D99-6E67-45C4-9EE1-71E5170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529FA9-B8BF-4869-ACFA-1026290A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953F15-61E5-4C05-9335-9A063D31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C31A70-4F00-475B-B007-FFFBE48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2165B6-8AC9-4500-92DC-70057FFF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EB3585-9F78-479A-B45A-BA752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456E55-6699-4C72-BE08-DD5FF93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BD4617-A1AB-4F35-9518-404AFDB9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DBA7D3-63BC-461C-A08C-8385274F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7F91A6-5D38-44C1-A6B3-55CD952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DB13BB-A8FD-4A50-9E95-D16E9CC1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报告预览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93CC7E-3EDA-4E75-A39E-CBD7255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4E91ED-4B4C-4B45-B882-04E6ED6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2D4B94-0B12-4E49-86EF-4571C2E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FBADEE-57B4-4DEE-A0A8-BCBE908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ED0968-BF75-434C-8233-351E747D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193ACB-670F-4596-A7B4-B51ED13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FB584A-142A-4B7E-B483-10133AA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65B280-4201-40F3-942E-AEEBA276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项目决策报告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9B6693-2746-4CC3-A5A7-2A11D3C9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报告 V1 / 产品示例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FAF094-83BA-41ED-B86A-410AE5A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466564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DD629D-956C-46B0-8366-9B395274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879250"/>
            <a:ext cx="2521172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DECISION BRIEF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8097AB-4FFE-4408-9742-6A95250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093467"/>
            <a:ext cx="2521172" cy="28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条件满足后推进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4427C8D-69F8-4552-9D6E-22413057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43951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艺人授权和资金缺口仍需确认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6DF430-2FB2-49A5-81BA-E1B3BD8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711401"/>
            <a:ext cx="1771412" cy="392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20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+118.19 万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59C73A-88F1-4395-8C80-C81960F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104" y="4925618"/>
            <a:ext cx="865108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中性利润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DDC66F-6F32-4A8C-99BE-E3784BE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32109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508263-DCE3-4DC6-8A1A-0BB9BC2C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42820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判断摘要与推进条件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EE08D66-3D3D-42C0-8024-B4CD256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63418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利润区间、保本线、关键前提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4B7A5E-6F1B-42B5-874C-F3EF0E4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50235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530B5C-226A-4470-A6CD-2F44137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AB5542-F022-4A5D-9A69-912B7BF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98846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三种情景与计算口径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8F93A2-2136-41D9-BA55-C4C0BCEC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19444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完整假设与可复算结果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CEA7A40-6898-4020-B2AF-3F0185F7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606261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9582C49-A4FA-49E3-B300-5D82310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644161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9D4022-9ED9-48B1-B9BE-80FD75BA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54872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依据、风险和确认记录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730B8E-A0E2-49A0-9866-D37B549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75470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来源定位、负责人、版本与时间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AC8198-3650-40AE-8C8E-DAD4DACC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662287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E918B0-A3FE-4F88-9023-9BB179B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10074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124DCED-12ED-4AF4-A6A2-BEA842DA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183139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9B0DC9-494E-4355-B7CC-BD5F2D8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21609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导出摘要、测算与已授权依据；保留事实和假设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771118-961B-40EF-BB19-76C3DC6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37758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的区别。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B1CB30-B9A3-4CF1-8576-6007DC5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44E682-0242-411A-A595-9C649AE9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导出项目报告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73F944-1D0B-4943-956E-FABB810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0034F9-5FE6-492B-BD53-5CD144CD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6B898F-A8BE-42D9-92E7-25CDAFA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S51  报告共享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E0AC07-6AB4-4489-AE48-18F854B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8E25F4C-62C6-4E2F-8CFF-1D74977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99C253-5EFD-4B64-8908-494E536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128307-FB0F-41A2-96F5-B68042CB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2353BE4-886D-45B1-9790-0B2DD9C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9BEF27C-5D70-4903-A703-645B6DF9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AF6AF5C-FD18-412E-A81F-9BCC8188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ED1C654-079E-444A-B4C5-B86E562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DDAE3AA-879A-41F9-A144-65869BA1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D38722-DE07-4D54-BCAD-1056C8B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BB9A5-EA88-49EE-814B-8A450B77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D48BFE-40C3-4F86-9426-047B245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0FF0801-DE55-4AEC-948E-F8A0166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报告共享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5FEFF71-91CC-4F3E-BBD0-9D3816D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2808B5-8C3F-4FB3-A77B-4EC52CE0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2AFFC27-3318-4336-86B0-3E09C2EE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1EA1323-9D59-4F9A-B1D9-ABD02D58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C5A0EB8-A9FC-4785-83AC-DA2A04B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BCFBB4-411B-437A-900A-87F340DC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E3894E5-4CC8-4194-AE2A-C1F30E9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69409A-B15F-44C4-ABAC-B368F481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谁可以看到这份报告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6792F61-D489-49FD-A891-440C14CD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让同事查看指定版本的项目报告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A69667-5D7D-48AA-97BC-4912AB1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AA7324A-E392-4C38-964B-E656D12B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249" y="3854532"/>
            <a:ext cx="131002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项目成员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08E1B78-C6D2-4A36-9123-622AA00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661" y="3788619"/>
            <a:ext cx="134297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FADAB10-38FA-4646-9FF0-0B83E6A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8139" y="3854532"/>
            <a:ext cx="131002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指定同事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9F4DDE-54C2-4704-A3C5-09DB6DF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2005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接收成员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9E70B5-6363-43E5-9EFA-490B2C65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3983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68BD367-EE41-4B02-A1BF-9CCC551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4807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张敏 / 项目负责人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DC824F8-73B2-4C0F-8BAC-0955635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8349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有效期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FE854F7-490C-4180-95D0-DB8D4DE8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0327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647C1CD-3B9C-4947-8788-ACD8DCF2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51151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7 天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B517544-8EE2-438C-AADA-7FDF5B91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518835"/>
            <a:ext cx="2817781" cy="1202912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A0114E9-3485-4E3D-AC13-148327E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62594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报告包含完整财务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26757DB-6849-426F-873C-77C9311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4016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仅对原本有财务权限的成员生效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CE14214-7C84-4858-9260-0A01D77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570833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DDD0AB7-8EC1-4AEB-92B3-D13717E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149" y="5733053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9E613FF-BD48-4E8F-AD1D-2BF6EC3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6120292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55B0181-968B-4412-A9C6-1ECE9A0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227400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允许下载原始资料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235B5DD-E8B5-4181-A36F-9165B96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441617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合同、报价附件仍受原权限限制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3301EC8-6C07-47C9-97EE-37C2269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6309791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7832B7C-84DF-4DC5-A130-E3BE26FA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323" y="6334509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0685402-1299-403A-903D-91D9FD6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82061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F003402-D2AA-4E7B-9630-097545A9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0300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67A1B85-81BE-4FAF-B7C1-B45CA674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93596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分享不扩大原资料权限；接收人需要登录并具有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2E291C-D7CC-4CFF-AA02-202C101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09745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访问资格。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FFE5CD2-1564-4A50-B9C7-2D9F9504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B688F8E-E387-4B0D-A769-69F8F3F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创建受限分享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EA0739D-9CF2-49D5-ACB5-35801DC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0D8DFE6-04E7-4458-A63C-59AB5EB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20562021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31AC48A-0F7B-476B-BFD4-0F4EEEE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052EA-77BA-4228-950B-00D9AA1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B52D-EBF4-4FD7-8FAA-746CB9CA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客户专职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B2038-B949-4780-B51E-48403668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客户设定目标和边界，Agent 持续维护计划并解释每次变更。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94AD3-921C-4610-BE22-CB4352E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F8584-A325-4A12-9629-C75D289D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44D4F-44FC-4AB2-AA31-03390D5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12880-E391-4B2B-8F9F-DCE4D911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S52  Agent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E0618-7604-42F4-9ECB-E60F4E7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092F2-BA0C-4DBF-AEE1-B441A949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E2912-7FC6-4FF9-B568-E50454C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AE537-279C-412A-8603-27C079B3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A672E-4AE1-42E5-9010-CD19B9E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9D86A-BEE9-45A9-A0FA-04F384E4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30901-8F15-410C-9815-B8BAF9A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13EE3-D719-48C1-8587-6BB2D599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D4918-440F-4102-9D04-ACA3CC0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6A5BC-3E3D-4410-91AC-1B6AB4A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D7EE3-6C28-489D-99A9-7C53263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CF3A0-A4CC-4F94-9F7E-04E7192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CCA3B-9266-48AD-875A-6E772ED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FA3AC-7CB8-43CF-8A85-3701D477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089BB-938B-4572-ADBB-67D44A9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D5EE2-4C4E-4D2C-8B76-B4E6487A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DEF5D-90EF-448A-B7B6-E37E1B2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28DC5-5F9B-4F9F-8E99-8430A9F1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819F4-A8F4-432C-B381-702F59D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今天最值得处理的事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A9A1A-3C80-47AF-BAA3-834CBA95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星河演出 / 专职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769A6-E984-4E43-8C3D-EDED832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66564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30204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9FAA0-B2B6-48D4-A5F4-D58FE7CE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3879250"/>
            <a:ext cx="2521172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YOUR PROJECT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38D444-3C63-4915-A855-34B6315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093467"/>
            <a:ext cx="2521172" cy="28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南京站需要补齐资金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693FF-7584-471B-B97D-9CAE1AF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43951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中性情景资金缺口 94.61 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1A808-A4E3-4120-BF73-EDF53D1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711401"/>
            <a:ext cx="1771412" cy="392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defRPr>
            </a:pPr>
            <a:r>
              <a:rPr sz="2206" b="1">
                <a:solidFill>
                  <a:srgbClr val="7AE3BD"/>
                </a:solidFill>
                <a:latin typeface="DIN Alternate"/>
                <a:ea typeface="DIN Alternate"/>
                <a:cs typeface="DIN Alternate"/>
              </a:rPr>
              <a:t>3 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1EA14-46C8-4746-95DE-034790A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504" y="4925618"/>
            <a:ext cx="865108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关键待办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C4F75-1F83-45B1-B017-7ABF2640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32109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B7284-8D38-4FB3-97C4-BF07577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28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确认新增资金安排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77D0F-044C-48ED-8008-5BFEC60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财务负责人 / 今天 18:00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DD6B3C-D2EE-4FEE-BC5A-7C0DE92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510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优先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44663F-FF8B-48A1-8429-8A037DE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DCA90F-8BFE-46E8-992A-422C8CAC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9884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补充艺人授权文件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29B689-BCD4-4ACA-BA99-4020B4C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1944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商务负责人 / 明天 12:00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6FA6C1-D505-4DDA-9741-871B7AD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60708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待证据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AB5AC2-F0A9-4705-8424-AD3C2249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644161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62D9F-C736-42E7-985C-10E96F4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54872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核对场馆报价口径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84128B-3DB7-4049-95A5-18C65E0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75470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地方执行 / 明天 18:00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070F52-A025-4550-B9DC-F777D58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663111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F59791-6468-407F-9C5C-E67EEE9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100747"/>
            <a:ext cx="2817781" cy="39218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0E3CC5-0F3B-427C-AA41-267D66B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7183139"/>
            <a:ext cx="24717" cy="227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AA6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BEBFC8-745E-4B84-A58A-2E0D58E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21609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持续跟进功能示意。自动任务在授权后启用。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314F67-7C33-42AA-8D5D-3881BB1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095869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06C730-DA1F-4243-9CB3-EE7A7C4C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202978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查看今日计划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DD15BB-C05E-4D78-BD22-A439647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505F8D-C9BA-41F7-8E39-833534F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8C3F53-A4FD-4E45-A67B-7D55DB4E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A608FA-7219-4ABB-BD1A-1CD93D6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78AEE0-1256-4496-BABC-2C9CFD37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E873F2-F7CA-47A4-B5F7-60867C0D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4C73AD-B89E-47FE-97D0-0F80CE6B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92DB3E-3D9C-4DB6-A3D4-5B2CD0D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6501A7-C437-4A3F-98B0-D367D16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20F4AA-75FC-45F0-B5AA-27C7490C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28B69D-8CA3-43F8-9972-51EC7BBE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28041A-523F-4AAB-AF1E-D6D3330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5B80EA-08B0-4805-A626-37CF9B82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BAA6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5C777B-13F4-4FAE-9D9F-4C47DE5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EE7901-714B-4547-BD68-5DB0ECB8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B6D421-3DB1-441C-BDDE-DA65AC9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A1B69A-DA72-42D6-BF31-E41CAFB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E07861-D065-4D92-AA80-380E1979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1C8D3F-639E-4320-8062-D28474D2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953040-FDFF-4209-A6BD-EA0C9259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039FE1-0AC9-4949-B1A0-D3D5B290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Agent主入口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C1DA9F-55BA-4FFE-88F7-7B4C448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S53  计划确认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F72121-C5C2-4A05-ADAC-676D5B6B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119D26B-8E8C-4681-98E2-68280DC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9C9B29-2A58-457E-936F-52E58F1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01C3DA-D7D9-4A65-B008-0434D5B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233806-CD45-4BBC-BFCA-FE9263C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B03507-D43F-4DB0-8918-9031997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95B8F31-92F9-461A-BE82-4B61255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DCEEFA-0EED-4D38-BBE8-3631681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0087FFF-ABEE-4007-819E-06CD914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A84B28-84EC-41DD-AD59-BE0072C1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3DD633-E572-40D2-B050-A5877DF9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E5E16D-A51A-4B23-AE6B-4A42265E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164F1A-A3F4-48AE-85EF-C736D2A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计划确认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013BA1-2E66-4601-9E26-3436E41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A6CD6F1-3E33-4189-8F52-6C68ED1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66819A-B30E-4677-ACC7-124B943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06A23FC-1DC1-4099-BCB8-CF3D22D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0AD9B2-FE36-4CCE-ACC1-E19B8A64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EF4EF8-BFF2-49F1-AB85-A0A3A72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786CB8-C55A-4ADB-A405-0EEAE0F1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14CF9F5-F574-4B5F-B169-5AA6F857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本周项目推进计划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75090C-A2D9-4E2F-9911-476A570E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Agent 建议 / 计划 V3 / 待负责人确认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94306A-89AA-46E3-B83A-8542799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06522A-DF6A-4CAF-BF47-BEA3606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07698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47C70E-AAEB-461F-94BE-226A1C4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9572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2BA314-993B-47FA-8B7E-574E4DA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90396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22CDDE-BCDE-412F-9CD0-9C93DA0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3854532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核对场馆报价与售票规模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412B4B-7F7B-47CF-B33B-885BE80B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060510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李珊 / 9 月 22 日 / 需要报价附件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1DF2AB0-EF7E-4767-A2F0-A3646A18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63724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7680F9A-C3FC-4B07-9186-57D5BB0A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5598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7CAA11A-5DC0-45DD-B4D0-AD7F2247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46422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7FCA8C-7B23-4D8B-91FF-06711AC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41479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落实资金缺口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9269B0C-5516-4025-ACD9-B818E4B9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62077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王宁 / 9 月 23 日 / 需要资金证明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98B542-8D0C-47E1-B749-2DBBAA3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16249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AE68F4-B92D-43AA-A637-4102F9A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024488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5B8340-A9A5-4751-8BEE-E4248C8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97505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确认艺人授权范围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13CA10E-7AE5-41EB-B8D9-6B48461D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518103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张敏 / 9 月 24 日 / 需要授权文件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D11FD1-6ADF-4722-8F92-9B18372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535314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95D9B7-E184-4D4D-8295-9B1335DE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667140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派发范围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235CD1-9C2B-444D-9371-537B029D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929144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仅向本项目已加入的成员派发内部任务。对外询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25B1C98-6777-427D-B89A-DAB11F7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09063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价另行确认。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B080F1-585B-419F-BE7F-A9AF4F9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334509"/>
            <a:ext cx="618017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0A04E4-ACDF-41B5-B567-574601BD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6359226"/>
            <a:ext cx="48619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组织授权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95C533-A42C-4CCD-A7CF-E761EC26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746465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E1B4875-3B1F-4FF4-81D3-B66C14A2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828856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B8ACB8-37D5-4738-9657-3DE945E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86181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计划依据：项目 V1、风险清单与 3 个未完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2B2274A-4305-40B0-B212-166F9F1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0233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成条件。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8A562F9-AFC8-484B-8AB1-038DE67A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5C9093-889C-4376-AA32-24965C3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确认并派发 3 项任务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68FD24C-349F-433B-9960-F6223B9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700B598-2AC8-4A6F-AF03-5F778E9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先修改负责人或截止时间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5FB1EF3-5302-4087-958D-82668AE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31BB62-E18C-4FF5-A5ED-D7508B7B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2BB9DC0-5C8E-4A80-AAF4-02F16258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S54  Agent 对话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A281FCA-0DD5-4FC4-9507-4B268B0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DDD7296-50C6-4D4A-918C-77A08788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E22B5FC-94A2-4B99-9AD2-C23FB26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8135FD9-254B-4843-8E3D-EC8C549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0EF7CD0-50AD-4797-8B30-2676D595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CD7B14A-7C63-4401-B445-79A1FFC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381F61-98C4-4A90-8E43-35217C0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A87E240-5FC3-4FAC-BEC0-7E01EE39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C7BD69B-D203-42F6-8B32-A4FC93ED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CD5DB61-13D8-4678-BA4B-0F6D5331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FD5BF9E-96F5-4725-97F4-5689290F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EFCE47E-FB4B-49B0-A438-C5E6A2E2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8B48ABA-0CAA-435F-87A9-F40B8B30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0BFE0F5-43AA-4097-B4F1-0687A652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6573449-55E0-4237-AEFA-1625BA93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61E2451-1BBC-4B0A-A1CF-BC140109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3B82DBD-B7B4-4466-B1AB-BF24871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D717088-2412-46A7-B941-D7D904FD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A0DE7D7-82E7-492A-8D63-296B34DF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和项目 Agent 一起推演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82BC1CD-079B-43E8-BAD7-1FAF5FA6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当前范围：南京站 / V1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DEB2160-BCCF-4DE1-B051-652F077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703621"/>
          </a:xfrm>
          <a:prstGeom xmlns:a="http://schemas.openxmlformats.org/drawingml/2006/main" prst="roundRect">
            <a:avLst>
              <a:gd name="adj" fmla="val 21077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FC8226D-9C10-4F3A-872C-1C5A9EB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我想把固定成本再降 30 万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AE8070D-97B8-4FD4-B340-0E040730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用户问题 · 这会改变哪些决策？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7D71216-1496-49AE-B6C5-45675D9D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58154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FC18057-D390-4395-9E5C-5C1D171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689980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可以先比较场馆和制作两项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1336B30-A15A-4ACF-A5CB-2A3E9D94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951984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降低固定成本可直接提高利润。哪些项目能减，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769B4DC-9CCF-422A-80E4-EC5C1EDE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11347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需要新的报价和执行方案支持。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B5A13F7-3404-41F3-A5AC-DF19F8AB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357349"/>
            <a:ext cx="1021816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B471C9C-6452-49D3-9205-2A882BB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5382066"/>
            <a:ext cx="88999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F0C47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F0C476"/>
                </a:solidFill>
                <a:latin typeface="PingFang SC"/>
                <a:ea typeface="PingFang SC"/>
                <a:cs typeface="PingFang SC"/>
              </a:rPr>
              <a:t>推理建议，待核验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08DAF03-2617-46F3-A5C8-DF1BE2DE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769305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A8555B-E4F6-4D51-9307-F433D158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5884653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固定成本降低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E74D8B4-7B81-4B1D-AD37-66BEA20F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6074153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BAA6FF"/>
                </a:solidFill>
                <a:latin typeface="DIN Alternate"/>
                <a:ea typeface="DIN Alternate"/>
                <a:cs typeface="DIN Alternate"/>
              </a:rPr>
              <a:t>30 万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118A608-0E2D-4BE6-808F-562DF546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5917609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447EEC3-42C7-42F9-A7D2-1E4D7344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5884653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其他输入不变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5823A24-6118-4E65-9C89-527BE1AE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6074153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66D9B1"/>
                </a:solidFill>
                <a:latin typeface="DIN Alternate"/>
                <a:ea typeface="DIN Alternate"/>
                <a:cs typeface="DIN Alternate"/>
              </a:rPr>
              <a:t>利润 +30 万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6ACA13-937A-4805-ACDB-E239A5CB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609696"/>
            <a:ext cx="770441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140EF28-C628-4EED-B36D-542C8854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727" y="6634413"/>
            <a:ext cx="638615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查看计算依据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68591E4-A1F9-4ABA-A660-9A3CCAC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89" y="6609696"/>
            <a:ext cx="770441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0361CB9-9700-448D-B410-92B23BF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602" y="6634413"/>
            <a:ext cx="638615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创建询价任务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2CC6CBA-58AC-4B79-BED2-6BDAEF2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565" y="6609696"/>
            <a:ext cx="568582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2F9986-7272-4964-BE8F-6E23A4C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5478" y="6634413"/>
            <a:ext cx="436756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比较方案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AB7CE85-672B-4A4D-82DC-021EC31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6397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继续讨论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F327009-E4C4-4C3C-881F-26824D5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716171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AFF5DBA-E601-414D-B6D4-36E00E4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724410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输入问题或补充限制条件…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F51100D-255B-4AA7-BA49-E50C60D5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095869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3647C9-BE1F-40F0-9A1B-16F16D17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202978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发送问题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8DD1FE6-A576-4F2B-9026-AB9A292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83884E1-64AE-40E4-8E12-67187B31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A0BEF4D-8536-42E5-B035-D8612FB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07E17BD-7E7E-41ED-8CD5-D7370AD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5FAB22E-21D2-4291-83B8-4E59347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332D333-D264-42B5-8108-35FFEA2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CEEBB59-7A01-4F1D-8EB5-E8E0315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CDFEC7E-FAF4-496A-B239-9A41A25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D75F47A-BDAE-47C2-824D-6AE01BE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0E596C-6323-49FB-87D7-2325525A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EE79AD1-2078-491A-9803-1CD47A39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800DA9A-C543-4AC3-ACD1-461F16C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7E8A77A-13E5-43DD-8DC7-3AA5F3C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BAA6FF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45B929E-12B3-4BC4-BD0A-5175EBB7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F478D6-B13D-4096-99D1-E8A1724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5B8647F-06F5-4B6B-9CC5-B830DA0A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EF2504A-95C6-4BD9-B91B-42EE335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409FC09-EE0B-43FF-8BD1-25E7263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0640F70-3F3F-4908-857B-A38CF45D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5586FFD-A5E4-4C57-8078-58103D77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E61AA4A-BE87-4543-B673-937218C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Agent主入口</a:t>
            </a:r>
          </a:p>
        </p:txBody>
      </p:sp>
    </p:spTree>
    <p:extLst>
      <p:ext uri="{BB962C8B-B14F-4D97-AF65-F5344CB8AC3E}">
        <p14:creationId xmlns:p14="http://schemas.microsoft.com/office/powerpoint/2010/main" val="19740346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AB0D89C-4768-4B2F-87AE-13D61C4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59A5A-89A8-47D0-A116-AB28F73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1230-BC99-45AB-B036-829611F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人工任务与证据回传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F359E-A3E2-4FD0-AAE7-C6E883DA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每项任务包含负责人、期限与验收要求，提交后进入核验。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5A6AF-6C31-41C4-BDFB-B461D07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8673E-FFDE-413B-A537-93999E34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6DB0A-5037-45B7-877E-2FAA7110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8EA40-578F-4A0C-A340-5A7CBF0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S55  任务中心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2EF52-957E-4D45-9A33-8CA39D4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5D8E8-F5E7-4817-9F71-8656910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0D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D47DD-8DE6-4178-8A6C-00E3247B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162E1-D9A3-48F8-B665-C5179A48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A3604-D45F-4222-B6D3-D1A25CB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17F2F-751F-45A2-A037-56B32FA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763B-3052-43DE-B505-FD0D1CE9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B96E4-A409-458D-AC12-99763384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E59F8-3ED5-4494-9E16-7B808CE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6548B-AF8D-44E6-B0D9-8352759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CB242-1B8F-4E32-869B-77346B8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CCAE9-F095-481D-B751-C879365D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182C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F97F3-130C-42F6-AC84-9F79929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876B0-E4E9-491E-BF26-9920E183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E9233-2A72-4D42-B056-C86908E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E031F-E320-4DDF-AB61-9A1CDAD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C724A-D831-46E8-AB7E-5DBCF42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F8F5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7F140-0235-497F-B8C3-35D2D62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FF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0A63D-453F-4F71-B483-9C26733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项目下一步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F6ADD-B1B3-46B7-B1A2-FDD3C58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南京站 / 项目 4 项待办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69316-1D79-4009-AAC9-620B432C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0244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20622-632A-4E22-8861-CB9542C4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57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8B6A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ABE03-C983-475B-B613-B6CCA96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待处理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108FB-189B-433D-A28C-45E0723A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待核验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5E2C9-F90B-45F3-AA41-3A9639E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A1415D-D5E5-4DC9-B8DD-C39A384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200575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7B745B-88A2-4762-906D-71CCDC9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30768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确认资金安排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B0D2F9-4246-4B75-8DF9-BF68592C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51366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今天 18:00 / 财务 / 未认领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7FA46F-4375-4942-A958-DEF184F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39007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FF8174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FF8174"/>
                </a:solidFill>
                <a:latin typeface="PingFang SC"/>
                <a:ea typeface="PingFang SC"/>
                <a:cs typeface="PingFang SC"/>
              </a:rPr>
              <a:t>高优先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398EC7-E251-4340-BCA2-A4A69CD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476083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10BAB-C8F2-4FBB-ABCD-8DB7B66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8679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补充艺人授权范围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7633C3-F8BC-445F-B29E-6FCA0C5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0739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明天 12:00 / 商务 / 进行中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897AF4-B53E-49C6-8136-FD0D2BBE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9503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834411-E51F-47F3-90FE-841A9608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32109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CF3D85-6375-42BE-B2AA-9BBBB74C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28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核对场馆售票区域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D5A569-646E-4A78-B230-1F29C75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明天 18:00 / 地方执行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44FD18-2255-471F-9705-96AF461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510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待处理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7940EA-7172-456B-999D-8FB61E12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296C90-82A3-4F80-9A9B-3A4EA44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9884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复核渠道费用口径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2A762D-6C74-4BBE-8B4D-265763D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1944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9 月 24 日 / 票务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18A209-0D9C-4893-8423-253F045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60708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待处理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96BB3B-D721-4371-94EB-F491737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540487"/>
            <a:ext cx="2817781" cy="703621"/>
          </a:xfrm>
          <a:prstGeom xmlns:a="http://schemas.openxmlformats.org/drawingml/2006/main" prst="roundRect">
            <a:avLst>
              <a:gd name="adj" fmla="val 21077"/>
            </a:avLst>
          </a:prstGeom>
          <a:solidFill xmlns:a="http://schemas.openxmlformats.org/drawingml/2006/main">
            <a:srgbClr val="201929"/>
          </a:solidFill>
          <a:ln xmlns:a="http://schemas.openxmlformats.org/drawingml/2006/main" w="8239">
            <a:solidFill>
              <a:srgbClr val="3B304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BAF23D-1E32-49FF-8AE3-5314A7D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672313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F8F5FF"/>
                </a:solidFill>
                <a:latin typeface="PingFang SC"/>
                <a:ea typeface="PingFang SC"/>
                <a:cs typeface="PingFang SC"/>
              </a:rPr>
              <a:t>有任务无法完成？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71C856-A242-4731-ACA7-C8B91A4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93431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B6AFC3"/>
                </a:solidFill>
                <a:latin typeface="PingFang SC"/>
                <a:ea typeface="PingFang SC"/>
                <a:cs typeface="PingFang SC"/>
              </a:rPr>
              <a:t>可以说明阻塞原因、请求澄清或拒绝认领。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E7D529-6218-4CF0-93F2-D1FE572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9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0A6AAE-4721-4F89-A3CC-0B1A3AEF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3B30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6EF094-A0C5-45AD-853A-B919C575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C961C8-829D-4C70-B773-8F9F224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7E9D7E-7B5E-4970-90C2-73643F9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707931-0369-4420-8D13-812AEB3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F9CB7F-7C6E-47E4-A279-CC565B20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EE31D0-0885-4729-9C08-F287EC2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8E849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54E5BA-D0FC-40E7-880E-0FBBB97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970575-FA01-45BA-93AC-1517F19D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BAA6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8373A6-B6FC-4F91-9E7B-5E80B08A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9122BA-9D41-4AB4-8827-D68FA75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A6FF"/>
          </a:solidFill>
          <a:ln xmlns:a="http://schemas.openxmlformats.org/drawingml/2006/main" w="8239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0F2B33-C757-47BD-8AB1-7E9BA8EE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BAA6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E752A2-53AC-42C8-8E7B-66D408C7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BAA6F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40C662-B3AD-4552-9CC7-FF65C4F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3113B0-D54C-43E4-A856-4A961FC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DADF9B-C969-4726-9B6C-ECA89DC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E74986-4773-4EA9-9A08-34E61D42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8E849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964CC8-4AE6-4244-924A-6608FC00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8E849C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5E06E0-62DE-4FF6-A740-1725251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57F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793B6F-1128-4F64-849E-9D92FB7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Agent主入口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568CCB-7538-4AA6-BE03-727E7613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S56  任务详情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48B6A4-5AF5-486E-8B03-0F852B7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EFE678-E82B-48EA-AD67-437821DE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0EA9F9-A162-4A65-82A1-0A6DD335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8A5040-5FB4-4414-985D-5BBB12C4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68922A-9F5B-436E-AF24-7C2F17F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B7BBBA-6A61-4D46-85BE-838988E3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AE8A65-ADCD-4667-9129-FAFAA813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8B0428-6B69-44E2-A60D-2EAB2BA1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6FF62B-3803-4338-9B7D-670903B6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CA8AAE-55B5-4696-8E93-1DDC546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7C0260-84A2-447A-82F2-B22A9A6E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68B45F4-3CA6-4125-A029-F997B71F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2AF95E-4B1B-4E6A-AF76-3AEEA0B9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任务详情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32AAB5-A561-4E7B-9321-6D714BC6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FC832F-84BC-4464-B217-9881A7F6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95AECA-7896-4D6E-BB7E-135ED995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401DE4-053A-4B07-9729-AAC06F27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5E243A-C45D-41EB-A3EA-ECB7131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F8F192-79F6-48A5-81CF-7204331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72D352-381A-40C9-8A30-3670125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AD5DB2-8A2B-43CF-944F-DF07BEA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核对场馆售票区域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FE62D5B-D8E2-4E52-96FF-34882F6E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任务 T-014 / 已指派，待接受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31B465-3CBF-4AF3-8FD5-572B3C77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负责人 / 截止时间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CE136B-C8EE-4747-BA4A-5DE1636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165D28-D877-43CD-90E2-11D75B9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李珊 / 9 月 23 日 18:00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87C36D-EA1D-48F4-BA47-C723E06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439510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D3ED24-027B-4AF9-9A9D-A571590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571336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需要确认什么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C781E2-FB0A-4989-9601-4DD74BBA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83334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核对可售座位数量，排除舞台遮挡、安保隔离和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59F864-A09B-47B8-B5A7-E48B1DA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99482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赠票保留区。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C208C35-C699-424D-85D3-694A037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238705"/>
            <a:ext cx="1324604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1C050F-9F7E-4910-BA83-2162E7B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5263423"/>
            <a:ext cx="1192778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影响保本票数与容量判断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473AAC-7CA7-49B8-A251-C03721C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650661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0867694-1BA7-412E-8BDC-80DE945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57770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期望提交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C89E474-23A8-4ED0-9915-99D3A30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963748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可售座位数、核对人、确认日期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6F2361-BBB3-40CF-984C-0D7C0B0B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831922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5D0064-C147-47D4-AAF3-E763673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6210922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45E974-0D9E-43D0-ADFB-300D26D3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31803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必需证据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7344C60-D8CC-4D13-8889-E6D6C3D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52400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场馆盖章确认或有效的座位分区图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F7BC43-7F28-4A52-B34F-015548B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639218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C3889E-DEEA-4480-99AA-414C41B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6771182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346050-3BED-4BBA-95C3-0574047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87829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完成标准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468D74-4801-45D1-810E-8CBB49C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08426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项目负责人核验通过后更新输入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9653452-5DCC-4A57-B1E4-56237349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695244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41D95FE-C2CD-42C8-8038-F994B119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836A32E-48FC-4445-B0A2-4B8E2EC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接受这项任务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2E104A-B4DF-47AD-A1AC-91C3615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31F7D70-72BB-418A-A06E-3547C9A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澄清或拒绝这项任务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B56AC2-FA21-4BFC-AB2C-E0AE456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303809A-9E09-4876-B598-881540B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5881231-60E2-4AE8-88EB-B23FC1B9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S57  提交任务结果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D8039E6-A396-4E53-81CE-E74D9E66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2FF8272-5CD3-49D2-9A33-CB24C3B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B070CA-F844-48B7-B96B-8C9896E6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377E7AB-1530-42F7-B9F1-A10C915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206AD64-035C-4BD4-AAA9-24C4AB3C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EF5002-4995-4B47-B12C-036BB8D6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420776-19FC-4E48-B717-0831F4A8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97C1BC2-23DC-44C9-962E-FFBF6EF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EBD4B38-409A-471A-B210-13AEECD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F354B39-6282-48A7-9729-2CE537AD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8A5BC6B-1E6D-4D99-8EEA-0A9421C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3C9F4ED-54CA-4D19-B18B-D9DD0EB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2810749-5492-4592-881D-1F41D62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提交任务结果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C86DBF-0004-420F-87EF-3C87007A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9B4A843-3F4B-455B-9688-5A2B6D93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A65E50-0625-4B7B-941D-4D8926E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5961F94-1D5A-4D4A-8616-52B8E35B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0781F1D-D4E8-451D-9E94-7E6B58AA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9E5CE43-0AE4-4BF9-A7F5-7F59E63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2A183A5-48A5-4C69-A566-22E56D3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CC6D194-0737-4916-B4DF-42A5EC2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提交结果与依据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D676382-ABA5-4614-84B4-F2D9FA90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T-014 / 仅当前项目可见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F803EA3-C321-441D-9CD4-34527AAF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核对结果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EC5E464-1045-4B30-9238-237AF3F4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A184E9B-0C77-4802-98E4-A6EE4AA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可售座位 12,000 席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B754024-B6FD-40F1-B05A-5AA79F8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核对说明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2613F92-5F92-4DC0-BE84-BF840F47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3CAA047-83B0-46A1-9BDD-89373AA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已扣除舞台遮挡与保留区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3232C52-5C0D-4339-9CAE-A10111F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0244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确认日期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182CCDE-F116-4668-A474-2D489A35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2222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A445E3D-B02A-44BB-9674-CC2FFDC9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53046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2026 年 9 月 23 日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848B567-D0EB-4033-8501-E264B111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708335"/>
            <a:ext cx="2817781" cy="560261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B25AC55-DBB7-4770-891A-253E63E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1544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座位分区确认.pdf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BFEC12C-5272-4549-8032-ECB9A10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2142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1.8 MB / 已完成上传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CA609F0-3884-44C2-9D8D-F1A3CBA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89783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已上传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0880B45-AB1B-447A-92E6-16926DC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367465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490DD35-E626-4DD5-AE94-1187D5EA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449857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8561CAA-9747-493E-88F7-F9A7959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48281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提交不等于核验通过。原始附件与修改记录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8944861-FF26-45E5-BB78-FDC8930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6443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会保留。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88F99C9-F3C5-4A73-9056-BE7F5E0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36DA0CE-8C99-47C7-A638-2E81DC3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提交给负责人核验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59F096C-827C-4F2B-849A-EBC34097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EC3D703-022B-4F6B-BB43-B137625D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5170468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C51CC7E-EE4E-44EB-889C-3BF64930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098D-F03A-4AA8-AD91-163D1613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51212-D62C-4CCC-8CC6-202E2DD5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阻塞处理与授权边界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70D5E-F5C4-494C-A2E3-5E6C976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Agent 通过证据和事件更新计划，人员始终可以提出异议。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DAFC7-4581-45EE-89C2-791ED2F6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91F9D-07DD-41D8-902E-9ACA3D6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11CD1-017E-4B78-BA3B-68E0625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38BF-4364-416F-B08E-0B5F982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S58  任务阻塞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2A0FD-D915-4769-BF87-96C31A2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61140-742C-4ED7-9EC7-CB246300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2AE6E-7B9D-4651-A8E7-575CB9C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93A41-8322-44DF-8C50-F378E77C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9FF92-093A-4218-9C94-FF023677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C7710-D23A-4F41-B3D6-87F7EDC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0D0C7-E51C-4029-B095-9E57D687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25FED-1FBB-4857-BB81-534A92F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E3C64-B2CB-462D-BCEE-5ABA1A8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F90C4-AB0B-4672-A572-FF6CE58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6BF9C-CD3B-4C51-A0BD-A527E15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77DA4-47A5-4B94-9281-C250B1A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73AF0-BCB2-4775-AA72-9E4DCB2F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任务阻塞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0D71D-8F9B-485F-B71A-5D5829F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88E9D-311B-409F-95A2-71475CBF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8B12D-7456-4B23-BE47-C2D78CD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77026-BE56-4F38-B370-7A1A3EBD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C388B-97F4-439B-BDBA-B5C6E69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E5299-E6B2-4FE8-A8A5-33493A8F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BBAF8-B78C-4E30-A894-9E5A872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076AE-2D13-4409-8C3A-F42D31A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这项任务遇到了阻塞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37D9F-8E99-4547-B85A-BD6FB43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T-014 / 场馆暂未确认座位图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380F5-6973-4261-8EBF-4E6767C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86FBD-20FD-4901-971A-6D713F63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57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97471-CAEB-41CA-97C6-5A37A2DC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被外部阻塞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E4520B-ED3F-45F1-BB30-607C0EE7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需要澄清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0C023-32ED-48BE-8999-3C9B313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5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拒绝任务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8DF6C-EC7C-4986-97CD-0AA46C4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2005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阻塞原因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7B23F-59FC-446C-BFCD-CB769F3D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3983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42957-EB49-4F84-BCDC-755A1F2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4807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场馆正在调整舞台落位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978F93-2FAE-4C1B-BD2B-E2B4F2A9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8349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需要谁协助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34C8FE-398D-4BCA-BFAC-12728BEA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0327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00C076-9C37-40D2-B344-88F9C865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51151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项目负责人 / 场馆商务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8E206C-DAB7-4E36-80EF-6BAA249B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469401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预计可恢复时间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F2F2DD-60CD-4A9C-B483-29AFA38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667140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9EA89A-D8A4-47C9-856D-08862573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5749531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 月 25 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88B403-7C37-4A03-B083-8C84434C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153248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0B82D0-7125-416B-855D-E5B33F7F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235639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54DDBC-70AD-435F-B58B-9B13240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26859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系统保留原截止时间，提示对后续判断的影响；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7E23A-CB6C-4EBC-8FB0-3069DEC5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3008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不会把超时当作任务已完成。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80BDE6-72C5-4C6C-B5B7-F3AE3AB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F854BA-8ACB-418A-B55A-45738C4C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提交阻塞并通知负责人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29A59F-419E-40CF-A263-0ECD9C6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C86849-97EA-4A74-9217-6BD80E9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481E40-97BE-410F-88B5-A8FD07DD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S59  项目变化提醒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3B4C38-B847-40D9-93B7-0D951D0E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37961C-A2AF-403A-8281-33F70B09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207771-A5F1-4AD8-BAB0-DB6EF9FB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53A632-0337-440A-B74C-236127FB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9F6E21-1BFC-4A89-B2A6-9432AEF9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786243-C8F2-4DE0-B44D-EB3A7A6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9FB594-6FAD-45AF-B1AF-41D4A082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B3161D-EDE2-4F51-930D-7059A94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C0D961-16DE-4734-8588-FBD2EDCD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88B25B-4A0C-4570-92A3-D0F5A6A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C0B0CB-2EE8-4492-A38B-D1E8100F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631D3B-E0E8-4FFD-BEA6-20374211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23DD45-4B82-4564-BFFA-FB77B9F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项目变化提醒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1100C5-542A-4D7B-87E1-E66FAEC8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864A83-8922-4298-AA1B-FF59497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3E282B-932C-4E61-888C-A1696D7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5DFA0F-6E79-496D-9770-0DFACEB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5FA370-6CB1-4789-B773-C57DF509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B918A6-38D3-495A-9BDE-3D31F4F8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311045-9195-4B37-852B-C8D1A1C7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D9D1FC-5195-4D56-88CA-91A70D1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场馆报价发生变化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97C38B-43B8-4F17-90F7-404272E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 / 今天 14:26 / 示例事件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AF6385-DEB5-4903-8AEE-33988083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DF7E2E-32E3-4FCF-9566-5384015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固定费用增加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60D1E0-9338-4024-A25B-A13C2CE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24 万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28B3C76-43A1-4136-BDC2-F726113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361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881617-A6D5-42EA-B3FF-8DE124F5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中性利润变为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E4A6808-9C83-4D91-88BA-5B0F5E8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94.19 万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D09D16-93E1-4546-9297-F11D2521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57133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D1920C-7C7F-4AAD-AE4A-B13F5473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7844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原始依据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EA9B32-0228-45C1-BEFD-6C28B04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88442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场馆补充报价 V2 / 待负责人核验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6D12B6-A90B-4E70-A77F-18DB1B9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475259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CB3F0F-2B12-4613-89B7-68EAAF6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8F5F46-7175-4BD1-A318-E53237F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23870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影响范围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9A03FBB-1041-4D38-AD6A-5CE7038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44468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利润、保本线、资金缺口、确认版本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9E23B3B-DDC8-4ADD-9FE3-E036197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31285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EB829D-2688-4118-B593-CF14B09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F640CD-1BA9-4F82-8B16-AD21E11E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9896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建议下一步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19FEB3-193C-4890-9F9D-6EA78F6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00494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核对涨价条款并比较备选场馆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7DB877-748B-4CA7-B2F1-05EA4DB5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87311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C95BCFE-26BC-457D-828B-A099A020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3509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89B9F2-332A-4F77-9813-4264D33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4333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3EF856-DD63-467E-8D40-0CE57F26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4663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原 V1 人工确认继续作为历史记录。新输入需要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DF7C0C-594D-4709-AE92-CBB970A4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6278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重新确认后才能正式采用。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57579DE-8529-48B1-ADE1-27AA53C6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4779B7-8563-4FEF-A2B3-20C2BDE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查看新版测算与计划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DB545C-9906-43C1-8668-59D5301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D7F81A-3469-4E91-B3BA-44D78A69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标为已读，稍后处理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8E9293-9A27-40B7-AA24-B0E64F0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9EE958-FD6F-4CFB-A1EB-22A23137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59B1C7-AB0F-4CE7-83E9-D25D36F2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S60  Agent 授权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14960FF-5997-4F69-9CF8-884586D6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8DE03C-52C9-42DA-9CAC-D6A10AD1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506E14C-20C0-4CD3-86BE-F163073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55EA20A-AE12-46D8-8F72-CFEC4596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CE52CA-26B5-4A99-AC4C-DC6B2902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6EAA3D-F370-43D7-80CB-9E18FD2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4ECB0F-6552-437D-95A0-9F741A6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BCBBE11-2060-4A30-A808-39E6A599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25B7D52-FDA0-4874-9EB0-C5D32C1B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7A96F01-E1DF-42D8-9766-21121BA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881C18-262C-47E8-AD89-4FC8C8F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0C2C303-7C53-4623-8613-5F1E7791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9180633-EAE9-41BE-849E-A5304230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Agent 授权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0CD5EAC-0CD9-4412-9AC6-F847E51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2EB7A6A-77D9-4F16-83F4-3A1797FD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067FB0-C925-476E-AB5D-B656D4F5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9F519CE-E046-4E55-8074-8FC9117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1461168-3C92-4998-845C-5ECBDDDB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4E1907-C6D9-4EDA-B173-F057A977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7124BC3-5C10-4367-B9BA-BCA40E44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82CFEC-8B86-4690-991D-56934EEE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你的 Agent 可以做什么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410781-E6B4-4B31-95F3-8075B6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由客户管理员设置，项目负责人可收紧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F726B7C-BE50-4E29-9E76-E95B074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804368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F6A5EC-2D12-491B-9C22-F097A27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3862771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主动分析项目变化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A93DE27-E65A-4A12-9CD0-3936658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076989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读取已授权资料并生成草案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C67F242-D086-4D90-8B3E-3DAE308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3945163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73B5A7-1BA1-40C7-B226-2398AE3E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149" y="3969880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B2C5403-F830-4CEB-8DB6-1494C1D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357119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9BDA710-51FB-4292-A148-6E51CAA7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464227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自动派发低风险内部任务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C4EE1A-5854-4786-9FF4-9D867AA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78445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限预授权项目与任务类型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6C0CD95-698D-4016-9243-D0ADB72E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4546619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E20A852-E311-496A-9362-6BE3C5E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149" y="4571336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4B96CE0-70EE-47F4-AF7C-2F2A4ABC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9585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6E64AF-E41E-450B-ABF4-1E23DA49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6568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对外发送沟通材料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7125A9F-D211-4E12-BCDF-D1E8568C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7990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逐次审批，默认关闭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7443D97-4E1B-4251-BEA4-81A77E63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514807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8BA8BD5-F46D-47E9-B275-B6C6271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323" y="5172792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28ED1A2-A04B-441F-BF96-6524157A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658901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A70E132-78EB-4D8B-901A-AC2D9D5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5790727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始终由负责人确认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D1111A8-1AC8-4679-98A2-347EB6D3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05273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政策审批、场地安全、艺人授权，以及资金拨付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9FA670C-85B4-432D-80C3-FA9A23A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214218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与合同责任。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03F2BB5-B5D4-4B0E-89A1-9802928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458096"/>
            <a:ext cx="718946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7C7B35C-9417-413D-833B-46F18252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6482813"/>
            <a:ext cx="5871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人工硬门禁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5F59EB-54D5-421C-9104-6928B337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870052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E00065C-3933-4980-9686-05A06986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52443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4CD71BD-13EC-4302-A200-0C2AF2C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9854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非预授权任务逐次确认；授权可随时撤回，变更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AC590FE-D57F-4217-B1CB-F43366A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146887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保留记录。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F3EFB9F-E4BB-410E-847A-3F3F0C7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CB84A4B-F400-4168-9CF1-4B61D329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保存授权范围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336EA49-0D50-4CE7-9BEB-B45579E2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B07AA6A-A173-4647-95C8-CA149F3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14268767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33D36C4-DBFE-4C1B-8119-5EACE6C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299B9-B7CA-4BE3-9EE3-E0D3943E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F6F65-7A51-4567-AFC8-88694420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全国巡演与城市协同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6DAE6-75E4-498C-AB62-B77540F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城市站点独立评估，巡演统一管理档期、制作与资源依赖。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EF4E0-81EB-4D49-94E7-08FFBB6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ED264-77E6-41E7-9A3B-CCC5FDBA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386CB-9D5F-432C-BFEA-289AAF8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CD3D4-FE2F-4797-8102-8011035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S61  巡演总览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82AB5-F728-4172-B3FA-C16AD49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A1934-2619-4DA2-A5EA-369D8ED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319DF-9E48-41C6-8E2D-F2529FA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2F2DB-872E-41DA-B675-AB4F2243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19D4B-CDB7-46AA-A200-E8B6449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91DC0-96C3-4B52-AD70-784A4DA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32979-B94C-4387-A4E5-8813ADE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69C1E-83B9-4D7F-BC95-EBCD506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88C57-4DA8-460F-8BB2-A9399EF2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982B0-6D31-4743-AD0B-B211983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309F6-48C9-4FEA-A2C7-EAC3E8F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C821E-51AF-4BBD-B523-8186135F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8FC60-9358-4715-B1F4-8F20E5E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43F58-935A-4858-8F90-54E343D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3B60B-F130-4B86-B8AA-19134F7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4F771-0A28-4E7C-B9DF-28A9C7F2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E57BF-30E7-43A2-ABC9-B476D72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CD915-8960-4E53-9F1F-1BD6F1E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8E1F2-5E0B-4C30-A41C-593A3F1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 2027 全国巡演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64412-5278-4CBD-AAAB-FDE327BF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6 个候选城市 / 产品规划示例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A866D-4537-48F4-834C-0144BC9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8D713-8063-4C1E-95B8-656DC637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已形成初评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0AF5E-12E7-49BB-9A93-DA2D61F8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3 / 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A2AED-DF13-43B6-AE33-D15673B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CAD87A-3085-4A96-B0C1-8463455D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待处理条件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D948C-63E7-4926-8E77-EC68203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12 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B2D1AD-3EBA-4B59-8374-5E7CF0F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7133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48C08F-6297-4B94-8E80-8CB14775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6784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89F048-4E74-4705-A91E-A975D646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8844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10 月 3 日 / 中性利润 +118.19 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24B26-83CB-475F-ACAD-E5B98F5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47608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A0677D-33F3-488B-9F1F-870A5FE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38764D-A39C-4E3D-B070-4D0BB614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杭州站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BFEA7E-9D8D-4841-BFD6-FF4E4621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10 月 10 日 / 场馆报价待补齐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B6BC4-E2A8-4C8D-8284-360A871F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待资料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5D4857-4921-42AD-81CA-9AB2130F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4BFC9C-10DF-41D5-B0C4-A4A6359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7989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成都站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D1314A-06F8-491B-9EDD-5A1B946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0049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10 月 24 日 / 档期待核实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65C186-610E-418A-B369-0D411527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58813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待核验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54FD33-DF51-44D6-985A-1B2FA9F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3509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25FEB-19D9-426C-86A4-9E392C0C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4333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14B4F1-5B51-411F-950F-F3A80F5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663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未完成站点不计入完整巡演利润。路线调整后需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82B9F-181C-46A9-B7E7-6FC8CC76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6278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同步复核物流、人员和资金安排。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307459-4F4E-4F43-ABF7-7DE0D2B9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095869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01EE34-FB89-4BA8-8504-26C32117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202978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比较巡演城市组合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A71A78-C6F6-4C2D-B3D9-4B44070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A6E5DB-21F2-4DC5-988F-67E5FD1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4EC05E-2109-4DFF-A45C-ACDA66E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7520B3-C7AE-4006-A718-07997881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71E59D-CEE0-490E-83B3-4861874C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CED46A-5A94-49E9-AF50-F3BF6C4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EAC87B-3291-461B-BFE3-9C849A3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D0F5DE-06B6-4117-9EDD-13640D25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E701CE-D98F-466E-A47A-F5C595D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73D1F2-C6CA-4F68-8325-A0F89788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3B8596-EBDA-44F1-956E-641D2CB8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6EFC65-9769-4CDD-AFBE-3AD9C924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563603-D7FB-4129-B1B9-BE341B0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67A876-08A1-4D77-8A9D-4A2084F3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B8B126-9F23-477F-BEEF-5FC7511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B6AB3B-5620-4842-9480-F9299D4C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FB31CA-4F64-4499-BBE6-7EBA16B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F94184-1E55-4398-958A-BBFA7FB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8E3AC1-1191-482B-9E7A-6FEF6D0E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A7D56D-A9F2-42B6-863D-972AACE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5F9D71-BD94-4730-8096-97B7ABF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E1EBA7-C0CA-4E7C-B021-2819EB28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S62  巡演路线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05EE73-96DC-44B0-9F2E-2CA900E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9D27E9-5DA6-4024-AECE-BD9B4BA4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1EE926-590E-4290-AA1C-05EBCC6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26E2D99-44A2-483C-829C-D563FDE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B1DA633-3C18-4DA4-95C8-4CE8684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CC0EF1-ADEB-45C6-A38F-B11D093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14C155-DE55-478C-BA5B-20B9570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F90D61-6012-4DD8-A014-5B11B07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3BA0B5-25F9-4C38-8A59-16F6C1FC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CF11F1-7B59-4A37-809F-1A8B289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2167B7-13E7-4697-857B-65F1A8B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1C4C5A-819C-40E3-B0B2-2DED630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DC93F0-D7D7-4B1A-8FC6-2C646D7A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巡演路线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6EC29D2-7176-4B66-A00B-E5FF1216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9BB2F7-308D-447B-8270-A0EA1EC8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5E9487-D855-4E56-8A7D-8702634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804BEC-4450-41DF-8F57-E50CC5E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AE949AD-E401-405C-9105-ACA129E9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8AF78D-5DD2-4CE2-BFDE-C52B432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BB36F0B-12A9-41AF-8342-DDCC917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2BCE168-0910-4ED0-BD80-179200D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路线与档期编排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97298C-CE8E-49E4-99AC-28886298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在城市收益之外考虑连续执行成本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6F252F-4537-407B-A804-828C28C2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F877A9-6F8C-4B65-A268-B8724BD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07698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C172C2-D144-4645-B0AF-88630C1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9572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DEC0FC-4641-40CD-A116-4D207DFC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90396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0CE279-097D-4374-9CF4-3CAE4EAD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3854532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 / 10 月 3 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E86F98-4112-40E0-A6A3-5E0BEB0B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060510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首站 / 场馆等待负责人确认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224B3D-8A06-454F-8C02-5DF4AD0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63724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B7F6F4-B422-4AB6-970B-72675F0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5598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61EB2A5-6A90-404F-83D0-68D50C4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46422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8B1F85-86AC-4FAF-867F-A8ABD061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41479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杭州 / 10 月 10 日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48150B-5B1E-47DC-A1C8-9419D60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62077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间隔 7 天 / 运输与搭建成本待报价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07BC616-2AF9-4778-99DC-D136B60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16249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666BCF-9DC6-436F-A8DF-2348640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024488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F4788D-0CFA-45F1-A090-BD980046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97505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成都 / 10 月 24 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2B39729-C43A-4CD8-844F-92ACF007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518103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间隔 14 天 / 场馆档期待核实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E33B5E-97B8-428A-A647-6344A8D4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535314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路线约束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7CABC29-1C00-4124-AB78-18140116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733053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EBA441C-A473-4376-BA0F-BD8EBB4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815444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最短转场 5 天 / 同一制作班底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909A2-73EE-4ED0-AAD6-69E0A15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219161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79FF24-9FC7-457B-9211-5B904D8C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301552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8391991-0B5C-4643-9797-CAAAE9BC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33450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路线是候选方案，不代表艺人档期或场馆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C0BA9DF-B644-4E88-A4BD-62C6EDCB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49599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已锁定。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D3E9052-7881-4289-B1E7-7FA87014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37C3D19-B439-473A-A3A9-445E87F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保存候选路线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0D9935A-7AD1-4310-A5BA-604D1DB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D6EEBE1-4480-437A-989D-0F690F2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4DDAF2A-8F94-474A-8E45-D67B95AD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S63  城市站点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907CC8-3186-41A0-87AF-EB577B5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C1891D-6771-4DAB-946A-8D1B7322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4EADBA-3355-4EE9-A5FD-7B358D5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7CCE1B9-666F-4A43-B730-874750D5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FC5ED6-3A35-45FA-91C6-D9BD089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A24C437-B7ED-40C3-B9AA-6812007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E65EB2C-ED52-4440-9719-6C5AC84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C5EBA1-1B64-464C-8CAF-87F4095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BDD15E-59A3-478D-91F1-C7F6B4EB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0AA29B-DB06-4197-993F-11B494D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B3FA6BB-1E9F-4A88-8443-07DA41BF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453F915-1F30-4728-ACDD-B091AE91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2AB10A6-6ECA-44E9-8A53-E1BAD46F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城市站点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CB08DA7-C3E6-40F2-B489-6648D97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8CDA915-04B6-49BE-A44C-5EEB5A9C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5C32CFD-421C-4E32-BC4E-8B0C550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EAC723-CA0D-4E6D-93BB-208AB02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8B55EB3-478A-4243-8604-482F2EC1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711F96B-CF0C-45F4-8E6D-F65665E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B3B8CC0-E2A0-4E8D-ADEE-F932623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8C4B1DA-0202-4DCD-B524-3581AE3E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杭州站推进情况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9CED05E-2C83-40BF-B2C9-86240B96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星河计划巡演 / 子项目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BA731B4-60BC-4947-A5AE-987E6D1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68EFC3C-B462-4223-B14A-39F090A4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可售规模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EF61CD9-A50F-42E9-99BF-B602F5E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待确认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72D6876-E5E8-4194-81D5-95ED3DD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E8EB49F-CCF6-4950-9615-800B188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利润测算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7772F7A-BCAB-49EE-82CD-DE5BF722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暂不可算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92DABD6-8F4A-44AB-9FCD-F28F41F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71336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4BF04EF-03DB-41BD-A581-91BBD7B3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7844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当地负责人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B7CF7A7-EE6A-44BC-8F76-38D8277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88442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陈越 / 华东执行团队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D3F9788-FF16-4174-9D09-7013690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475259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EB3A3DE-FCDB-4A52-956E-D09842AB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03CA14-90BB-47B1-A375-CB0BB43C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关键缺口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5D678CE-3C51-4D80-88CA-86701EF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正式场馆报价、可售规模、物流费用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16DFEE6-1CE6-4A62-9F68-DAE9D782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3 项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940B96B-8A4D-430A-82E6-2D97D75F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3902D06-828E-459E-A2A1-1A01F9A4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79896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巡演依赖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B07D37D-9CE7-49DF-B362-DDEC091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0494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与南京站共用制作和运输资源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AB7ED14-5413-4E67-AB99-462CCC3A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87311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34C4809-4ED0-4A29-8171-AA37CDB0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6252118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10760AC-0CC1-4E8D-97D1-A50DFE37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35922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下一里程碑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D8DA9E4-7CA9-42CD-B87F-45CA5AB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56520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9 月 28 日前完成场馆核验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BCB2C3F-F9C1-4680-9B64-55DCAFF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643337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32704C9-BA0C-40D0-B8A5-E7F37F1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11248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1E28AA1-566E-4E6B-8378-3558F80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993639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7F73E21-3B01-4E50-A314-75830C2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02659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子项目使用同一客户空间，按项目成员权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163304B-DE9B-48BE-BAE4-16642869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18808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限授权。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D7CB12D-CAEE-4FC4-99EC-C53CF20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34D49AA-A00C-40C1-AD5C-1822CF3F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进入杭州站项目判断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1256D9D-FDA1-4B70-ADE0-24153FC6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6361B63-F527-4F04-AD94-18330ABE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21128536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8E5DEB7-75AE-49A7-BA61-FB5E595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9DB5A-9020-45C3-902F-0B4E48D2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10A9A-6659-4867-B84B-80B25F0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经营数据与结果复盘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147A2-1B73-4A4D-A755-C7003E2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接入经营数据后对比预测和实际，校准结果经审核后发布。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F20F1-8274-4A26-8F2A-6CEE50E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3BB5-12A7-419B-B4FF-CD0DB7F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扩展规划，依赖经营数据接入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AF5A9-842C-4C6F-81DD-DB4B67B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8F96F-485A-494B-A436-CAD635F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S64  售票跟踪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B322B-1474-412C-A0C0-309129B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83F0E-CDDD-4ED4-9670-C9E21964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F6C4A-1A4F-4BDC-A551-0EEBB66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A2E8D-AEE2-4B93-823D-C6F3027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9464A-0C76-455E-B1AA-3EA2687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00560-E74D-422D-A496-798ABBEC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6A450-3DE7-493D-BF2B-84B4874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FAA7C-D2B7-4B5A-88BE-1C00DD6E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16187-C2AF-40D2-A31D-0BBD3B0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23BC7-8B81-4C24-9795-2A413E42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AC150-F53C-48BA-B753-80BA155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5B1D1-E490-4E68-BAE0-0FF5C49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D316B-4754-49E7-86F3-52E43F1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E8146-9C7C-4005-B69B-EB572E37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DF56B-A6D9-4759-AD79-77C916F7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2FB25-2A61-4216-A189-AB9E06D3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1A318-26C3-4A8D-BBE1-A18B99C9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3F617-1942-4B55-AB7F-B8080BA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C0E2D6-930D-4F17-8E9F-2714AE58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售票进度与下行风险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08BEF-02CD-487A-8621-3361A56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 / 授权数据接入后的界面示意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94B51-AC8B-4753-9284-BFA8E516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17A35-B9D7-43CE-80B8-5AE8709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累计售出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140FE-F426-412C-82E5-1CA63B9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7,200 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402BC-2EBF-4A63-84D0-5B6F7866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735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7DFB0-3AF8-4912-A0E6-3FC0FCC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距离保本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FF697-A2B2-4ACF-B7C0-514CD05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3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986900"/>
                </a:solidFill>
                <a:latin typeface="DIN Alternate"/>
                <a:ea typeface="DIN Alternate"/>
                <a:cs typeface="DIN Alternate"/>
              </a:rPr>
              <a:t>381 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FB6D89-5C18-44ED-8B3C-B2E2763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71336"/>
            <a:ext cx="2817781" cy="1738455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0D80B4-2936-4B73-834D-14322E1A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678445"/>
            <a:ext cx="2554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累计销售进度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5305C6-7315-4610-BB68-7FB92F1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5375" y="5980226"/>
            <a:ext cx="22410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3312A-108C-4E0A-8D54-CB5E8949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288" y="5906074"/>
            <a:ext cx="247174" cy="11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06943-3AE1-4CF8-B630-1AA964A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5375" y="5498238"/>
            <a:ext cx="22410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BC8C25-D60B-45F9-9AFE-3413236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288" y="5424086"/>
            <a:ext cx="247174" cy="11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0E7917-DA8E-45C2-AE99-B151E2C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5375" y="5016249"/>
            <a:ext cx="22410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4806C1-ABA1-4ADC-B810-DEED512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288" y="4942097"/>
            <a:ext cx="247174" cy="11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F4401C-1CFB-46B1-940D-CC897F2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5375" y="5739232"/>
            <a:ext cx="560260" cy="1253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98">
            <a:solidFill>
              <a:srgbClr val="7954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3FF9F2-2874-465F-A493-AD5CF69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95635" y="5565716"/>
            <a:ext cx="560260" cy="173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98">
            <a:solidFill>
              <a:srgbClr val="7954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1AE16F-A890-430A-8E3E-38EBC141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55896" y="5478958"/>
            <a:ext cx="560260" cy="86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98">
            <a:solidFill>
              <a:srgbClr val="7954C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A1C3E3-AE65-43FF-AB4E-0CFD02A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16156" y="5401840"/>
            <a:ext cx="560260" cy="77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98">
            <a:solidFill>
              <a:srgbClr val="7954C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13ABA0-F601-42B8-8A59-3454362F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657" y="5839832"/>
            <a:ext cx="49435" cy="49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8239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2E673F-9CC0-4241-AF5D-24B245F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6037900"/>
            <a:ext cx="379000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D-60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F13161-F086-4FBB-975F-0720DB0C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918" y="5714515"/>
            <a:ext cx="49435" cy="49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8239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CF068B-6177-4FDE-9B60-0F88B6B3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135" y="6037900"/>
            <a:ext cx="379000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D-45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6ADA77-FB7A-4AE8-BA00-1561D395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178" y="5540999"/>
            <a:ext cx="49435" cy="49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8239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D41804-58DD-41F4-93E0-87D869A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396" y="6037900"/>
            <a:ext cx="379000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D-30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11564E-4668-4F1F-B03D-6ED21263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439" y="5454241"/>
            <a:ext cx="49435" cy="49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8239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222B3F-920B-4868-9FAE-638EA32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656" y="6037900"/>
            <a:ext cx="379000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D-15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890208-8425-4421-83D9-7362D87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699" y="5377123"/>
            <a:ext cx="49435" cy="49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C6"/>
          </a:solidFill>
          <a:ln xmlns:a="http://schemas.openxmlformats.org/drawingml/2006/main" w="8239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1B2485-4A49-449F-891B-80C31FB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917" y="6037900"/>
            <a:ext cx="379000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今日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DE2E14-17AF-4883-B56D-2A38A5DC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853" y="4867945"/>
            <a:ext cx="1235869" cy="103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58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累计售出 / 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4D1535-0456-4CF2-A498-C924415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136770"/>
            <a:ext cx="2554129" cy="11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649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示例来源：授权票务汇总 / 9.20 14:00 / 已扣退票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F537DF-DD22-4723-ADC2-CBC0905B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408661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C88961-5F75-4D84-A33F-6D12767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540487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距离保本还差 381 张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E3CEC1-A0E1-4F9B-AC10-DC44FA9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80249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先核对统计延迟、退票与渠道口径，再讨论宣发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40F4EB-921F-496F-A42E-43E6BF6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963978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或调整策略。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E07914-4BFE-4FB2-9B50-BA017DF8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7207856"/>
            <a:ext cx="122367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1F3A8E-A08F-4053-B3AF-277D44E6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7232573"/>
            <a:ext cx="109184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系统建议，待人工判断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CE7173-656A-4A0A-805B-D12431F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095869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245A7C-7BF8-4022-AA15-FAE1727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202978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查看偏差与应对方案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8476CA-C332-4AA4-A934-17ECEFC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A7DFA4-7DEC-4E5B-9D0F-70B39DB4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83DD78-A5A3-4F39-A1DE-ECD7DB8D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4DB0E0-0A33-4DE3-82B9-F975DDDE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FA7F6E-17F7-459E-AD12-29E2BAB9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96B81E-7701-41B9-8428-7F7E3BD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B983EC-386C-42DC-A13D-38F6708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0C496D-E893-47A5-AB8A-7796A7E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1516CB-8910-4986-BE38-14C03955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146CDA-1D78-4A89-BC2E-B1F70DFF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CB62D4-3497-4006-A126-91815A0B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021243-7C72-45D8-BEC3-41DB6A25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1ED6871-2FE5-406F-98EF-7068F1BD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C00A6A-729A-49F3-B586-FC783F1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C2B828-82CC-42DB-BBAD-DB5ABB2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F9449D-36D8-4031-949E-53EC688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33F4C0-F542-420B-B97A-943D2CE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04CE0D-504E-49B2-88F2-9C83C9E6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AC56DE-19FC-4410-A98B-7CB1E86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EDB3CB-C5D7-495F-9615-3B398F8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3CBED1-5522-4ABB-9571-4757F281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057582-048F-4E9B-BD4A-1FD0ADEF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S65  项目结算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51C87A-8213-4351-85A8-29A34C5D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0685942-E3DC-4CD5-8EAF-A5313DE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011B48-7EE7-4EEF-9351-2449F06D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E0EA7A-4982-481A-B1FA-ED39EFDB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3E581D-0B38-4A5B-A3E1-8B4897F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6494A02-EFB0-4A85-BCD4-D130EA87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BE8CC3-5266-4B6F-9DF6-FD62E976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93E96E-A90E-4FE4-BB2A-CA61338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7B57A9-8562-4B79-B3A2-549AFD5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D0E4A39-864F-4B35-9BC3-5F9C0B36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B623075-D508-47A1-B13D-9D79FBF3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EE5795-B319-4B85-A64A-1C7C0F63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55B22C-3081-4504-8509-1D087EE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项目结算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4C560A-3D6A-4412-AC61-E4743E0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A51FDD-251D-4E5E-9991-2624DAF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4C1507E-F664-45A0-8CD3-400F7746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8685DE-D72D-4A7F-837D-3AB8ED51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18A75F-896E-435A-B6BF-0F26754A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6643FA-B185-495C-AB3A-CFD53B44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D82C84-010B-48A8-A6B3-C463CBD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D0E4F44-C2DE-4CB6-A1FD-13F1162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记录这场演出的实际结果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91CD8A-2E49-4E90-B8E9-151C7A9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 / 财务结算待确认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44C5481-243A-4530-8A53-5DF60C9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实际总收入 / 万元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9F6FE19-E29C-442D-8D65-2B9CEA39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1A8772F-2528-4F9B-A4C9-1557A778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705.00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6143E60-DCA0-4FEF-ACAB-2124B56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实际总成本 / 万元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EF49EF9-E635-4EB0-93CD-721CD50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AA8EA6C-2263-4960-A305-F1137A9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600.00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33BAF99-B7B5-4DDD-B166-6F8EE19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0244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实际售出 / 张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7895F52-5C49-4EEB-B750-3AF987F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2222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45AABD6-FCB7-43B0-9A2D-D2BBEA87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3046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7D85D1-D068-4CA8-AA38-D38193FD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708335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AFCF1F-CA87-46B9-915C-6A683B7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5823683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系统计算实际利润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D604F9C-F853-41B5-9BC2-2910F7F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6013183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105.00 万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4C81C59-D035-4E25-84BA-7EACA09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36104" y="5856640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BC6ABD-0509-4950-9840-4D53029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5823683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相对中性预测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E617C0E-06E8-4099-9971-E44B956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974" y="6013183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−13.19 万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B3ED43E-2D7A-408E-BF88-249E6CC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524009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76D409A-EDCF-412A-A34E-7421A506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606400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F3D9B18-CF18-4088-B252-05F604F5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63935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附结算单和费用明细后由财务核验。结果回流不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AEEB6F6-2E15-4E63-9CAC-C6B91AA4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800843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会覆盖原预测。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66A7D4-0479-42B3-999C-D2E667D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8B81AF2-3A81-40D5-A3DE-70B65C1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提交结果供财务确认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4943DF9-61B6-46E5-97C4-45BDB28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F8AB875-0D1F-49B7-BE6B-2737881B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D3750D1-59D3-4D65-AF57-EDB00EE8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S66  项目复盘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A7E2402-8B4A-4E9F-9F56-6EC1DE2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0518AFD-83A7-47E5-8D96-FF9D77F5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E3848EF-3478-4BFA-8141-4CA1DE7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68B9600-2F02-49FB-AC4F-60049480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13D67E8-5C02-45F6-8394-4741B70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87796B3-5E95-4D7E-BF98-95374D48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6FEDD72-699D-49ED-8091-897FA76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1516867-DB37-4F4B-AA10-137B2066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6C1A05A-B378-4718-91DF-7AA8136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5CAAF44-6C54-43EA-B099-FE791F8F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80C6D69-924E-4F20-8674-E262BBA5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FB07D03-915A-4CE1-9012-381BD88D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B6E0F8-C5F8-400E-B835-26BA9B3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项目复盘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D15032-09C0-4603-BB32-D4236FFC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1FD4D9F-3B80-4C39-961A-89F86E82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E4C3D41-C459-4E87-8C74-2044B51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F553DF2-9197-47E9-A96D-C681BEB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7C6254B-6274-46EE-BDDC-24379E10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86403F4-4AEA-4474-B556-7C9CDC9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6B49A8D-8734-4A76-A8C3-0C459CB8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071E297-B1A4-4F54-9038-6314BEF8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为什么与预测有差距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3C68C4D-A129-42BA-B864-96AED30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 / 已核验结算示例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67BDD8A-D3D3-4A86-AFB4-E52CBE2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754208E-328F-4B18-AE53-10FAAC5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预测利润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6C0113-E6A3-4EDE-8CA5-6D2CDD15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118.19 万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ED5A557-D78D-4B56-AE1E-4E2C1B41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3903967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B22C94D-5BE2-4677-B30D-9EF5617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3871010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实际利润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FA25966-BF85-49F6-9E50-9CAE7E5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4060510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128262"/>
                </a:solidFill>
                <a:latin typeface="DIN Alternate"/>
                <a:ea typeface="DIN Alternate"/>
                <a:cs typeface="DIN Alternate"/>
              </a:rPr>
              <a:t>105.00 万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1DA3EA5-DE9F-4F94-BCD4-E05ED308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7133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468FC73-6E0D-41C9-A6B2-538132F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784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收入差异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8947915-AB06-45C1-A68B-6371ED6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8844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712.80 万预测 / 705.00 万实际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E3D043D-E64B-4F53-9558-D6F6E35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47608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−7.80 万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8C5339A-ADF6-42D9-BA11-DAF9094E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13159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C5E920-E4A3-45BF-AFA4-DD581C4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387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成本差异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EB564FB-ED2A-4642-ACCF-F493249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4446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594.61 万预测 / 600.00 万实际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DC65FFB-F092-41C4-8FD8-BC087802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3210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+5.39 万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C254C80-369C-403A-AC26-E21E7687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6918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56BC80B-C1EA-42EB-8DED-29D85CF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7989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待核对的原因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EE99A5-098F-4D4B-94A0-49A96F2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049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折扣、结算口径与临时执行费用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7A52379-CB60-45D3-A1A6-080854D8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8813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3 项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158737D-644C-47B1-A9F1-80BFEC7B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350987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8CFC257-1637-419B-8B96-DC70F66A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482813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进入校准队列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AB372F1-626A-492C-831F-1D88030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74481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审核后更新案例参考与预测参数，保留旧版本用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5DF1FCA-8210-40B7-832B-B2E6DFD6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6906304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于回测。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422106A-506A-4764-81AD-9B76BE3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7150182"/>
            <a:ext cx="92080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FDAD6AA-F646-43F7-909A-E2611535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7174900"/>
            <a:ext cx="78897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人工复核后发布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8689DB-2500-4D80-818B-00B6CC0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DD1DB8C-C06D-427B-9E36-069AD90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保存复盘与改进项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9193C9A-CF9A-4EAC-80FD-BE9055D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D045B5E-648B-426A-B747-D00AD72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19117098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F732C53-93E6-4A4A-9EF5-27A6EAF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14E4-EBCC-4AEC-86BF-EC19239B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1AFAB-94A2-44C7-93A1-2AACE64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客户空间与团队协作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D8283-191E-4840-8222-2FE0BF7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成员的角色决定可见项目和可执行动作，私有资料留在所属空间。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AF148-71CC-48C6-94FE-7D26C7D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1813E-B0D1-4216-B025-003C04E0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4BA21-0539-43BC-B9B8-4792FF7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5941A-B473-40B3-8B44-1C1A8D18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S67  我的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60F97-883C-4C06-9572-7EDAF506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5AF14-1053-44B9-9AC3-A28C95C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7134B-DC29-4301-8630-A5381F3F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1D3B7-1265-4C20-A927-CA3A6FC5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72204-8640-45DB-B740-05847F0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5908A-89EF-44F8-A9BB-B93910D0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E4048-AE05-4A41-8A3C-C66B7E17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10629-85F1-4F25-90D9-AA473B2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1650E-5F3A-40DE-A107-2C17FB5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933B7-B21C-401F-A552-6440EE0C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18D21-D72C-46DF-AAE7-C288A10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D0B71-0936-4915-A710-090C704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150B9-CFC6-4F98-8D1B-6496B52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FEA25-03CF-45C4-89D1-A307390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47595-E8E2-477F-B717-8132548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BB5D3-FD8C-4684-AAF5-0F2AE88F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83B03-EBD1-4107-9F18-9E72FFD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4BBF0-BD8C-4829-9D05-0E60ACD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6B7FD-EAC5-4C28-8EF4-1947C517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星河演出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A2342-331B-4FAB-A571-E2237D9C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张敏 / 客户管理员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08128-8BD1-4ED3-B0CB-7299311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66564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0C7CF-D8BE-4004-9120-A795DDCF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3879250"/>
            <a:ext cx="2521172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YOUR WORKSPACE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90550C-198D-4266-B328-88546DA7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093467"/>
            <a:ext cx="2521172" cy="28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你的决策与项目空间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F208E2-A528-4E0B-B96E-0A1F23DD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43951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3 个项目正在评估，2 项决定待确认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2E89A-379B-4AB8-A8C6-A3C290C0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12918" y="4851466"/>
            <a:ext cx="2521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5745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D4A8B0-31DB-486C-9489-BF97090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950336"/>
            <a:ext cx="252117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当前客户：星河演出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33AE5C-D03C-4287-9CFE-96D2A87F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321096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8D7BF-D3B9-485E-BA3A-99F8760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28205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团队与项目权限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D7236B-7127-433A-8457-474F56B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管理成员、角色和项目范围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D3D6D0-4168-4AB0-AC50-228DAA3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502357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D10D61-A804-4903-8159-E717701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A777E3-268D-444D-9875-116D274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98846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Agent 授权设置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F394CB-17FF-44A6-A6E8-F6A5A06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19444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内部任务、提醒与对外行为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5DA3B-90C2-4ECF-B618-4A98F65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606261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67DB3-8057-4C2A-8505-F60F7857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644161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12EA15-D2A1-41C9-9B8B-5D284330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548726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数据授权与隐私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B876B-A924-4DD8-89AF-AF5D0E7A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754704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连接、文件、可见范围与撤回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F7AEAF-C7EA-4C96-8EBE-F337C9BD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6622878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780253-FA63-405A-A54A-BC82DA9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7001878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974E71-E43A-4EDA-A3A4-D6FB802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108987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通知与偏好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C1B55A-6597-461B-96B9-0C5A6809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314965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提醒时间、频率与关注项目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43A828-2199-4DD2-900E-8FB16AB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7183139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BC26A5-71BB-417F-A229-337B68E8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4AC77D-BA7B-472E-BC11-0968037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B7B460-BDCC-43E7-A13B-9FEEF89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E17F36-9849-4CD0-B3D1-6163CA8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537E74-F447-49A7-B06A-83C6D5D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43C77B-1FF5-4A71-9D42-7687DC6D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F2380E-78DB-4879-B998-C4BBE60F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319640-C6D0-4DF5-AF65-D7BD7EFF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FF824E-5E05-46B4-A7F5-AA885D28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226E3D-13D1-4122-950C-C0719C63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5965C2-53C5-45E8-BF48-85CBC0E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87B5A6-DA48-4649-84AD-C4FD9C22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073B70-44A0-410F-8E6E-27F736D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CFED78-E7A6-4FCF-B517-0F2BB13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0386A1-E6FA-4E11-BC66-C80AC54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64381A-F64D-482A-BDB3-559D7E2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F53B78-453C-4530-B0B3-CCFE147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D0632F-9EE9-432A-95D2-246505E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1F37C8-567C-4A64-8FB0-E3FC7630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8EE7B4-0CB9-418D-9EF6-BEC69ECC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E29F1D-95E1-4F5D-A205-D11C1683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我的主入口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EA48FD-742C-4F25-8BC6-B0321BB6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S68  团队成员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759049-6DD0-46BE-A108-0F9F9AA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3181B0-F1BB-485E-A4B9-EDA74FB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030D876-5A02-4377-9A53-A448BF56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49B24E-23C0-4630-82D6-9CFD0D5E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4910C5-C419-4F14-9195-31F70E4C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E0E4C5-FCD4-4E89-8813-A07F7629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1BEB95-93D5-40F5-A15D-F19AE5E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83A0D4-AD3B-4BC0-BC0B-216308F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B20E31-142D-4E1A-A6BA-7131158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331D88-CC4E-48F2-809D-021AC45D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E10675-4B02-45A1-A951-EC35E741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916D00-B019-43ED-9F5C-F65B3EE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62B46A-0991-449B-8060-B9A6B87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团队成员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8B0E67-D5B4-487C-A77F-6E32500D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F627385-C0B5-4C98-B176-D4204DF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8BCE8C-08E9-4AA9-85DD-0985590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5A5AC6-DEE8-4042-815E-071EC82F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392D45-C666-40F5-BE11-EFCFDC03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56816B-4CC2-4C4F-B736-B30FB58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D843E1-CC36-449E-AF6A-503800F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F9C907-B8DF-405E-83FC-71799A6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团队与权限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39C640-FE45-4F83-A14C-5CC46AE9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星河演出 / 8 位成员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DF202B-3F04-45FD-B13A-EB9A096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BDA0E7-E7A1-4915-8449-07E7410F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62771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张敏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A17EB1-0D68-48AE-8AEF-AEE526FA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068749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客户管理员 / 全部项目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436AB3-2B70-4EEC-B46F-6BB7E93B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3945163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5D19A50-9CAB-47BE-9DCC-46F2B06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315923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7B71C3-E958-4C83-A235-9B3A32A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23032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王宁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2774D1-6607-476F-9EC5-C01E913B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29010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财务负责人 / 南京站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456062-5730-4800-B50A-547C340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505423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财务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EA7534-2B80-4B13-B9B3-0C02C8C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87618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E8C367-82FB-40DE-9C62-DC4E33A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983292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李珊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AC570C-C5EF-4F79-B08C-4876759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189270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地方执行 / 南京站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483DB9-9A1C-419F-AF98-CEF3657B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065684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项目成员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F5EEDD-52EA-4071-855D-D0B06ED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43644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51BF88-F438-4767-88E1-83ACFCDF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543553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陈越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0B0737-B45B-4F1A-8D91-DB08C489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49531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地方执行 / 杭州站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592445-84CD-4C7C-B0E6-A3A1EDF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5625944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项目成员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321CFF-730F-40C8-8506-D41B95A4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095574"/>
            <a:ext cx="2817781" cy="865108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88CB1B-DA02-4838-9BD4-5E77A7B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227400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成员权限按职责授予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4294AE-838A-4B59-A69B-DAE3623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489404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提交资料、核验事实、确认决策是不同权限。外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5B7AF89-FDC7-49F0-96D3-EAB5B9F6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6650891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部协作者只访问指定项目。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6CA19DA-33EE-4825-992A-0377E8B6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B8F7911-78B4-4E48-A936-7197FE62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邀请新成员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95359B-D5BD-4800-9F14-5B40B74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655369D-E636-493D-8749-1FF899E3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4E6B303-7264-4A44-A50E-A97924D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S69  消息通知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B949592-3AFC-400C-B2E5-E2C82C22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09D3FCB-504B-484D-81D2-FABFC34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7F5D89B-92A5-4623-BC58-53DDFD6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736701F-A214-4C3A-A6BE-03A0EFB3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2202624-CF55-466C-A3F6-4EC0D68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0A269DD-7CB3-4DB0-95E1-A1BBA7CB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A817F1-85EB-4B4A-8B3E-0A911B0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0E86D12-A122-49E7-B160-683E2BEF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BAF2700-66C8-4494-B022-23A2F44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DF1D723-2AA8-40A2-B983-FDBC647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F94F0B5-755B-48DD-BAC8-ACFE4066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60E9A1-304E-4313-82CB-3DF261A5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10F9677-67D1-4D8F-989C-3CAA27CA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12DDED8-8FF9-49B6-BDC7-75547492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9537F56-327D-4838-8B07-313C33FC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1025305-62DA-4B6E-94EA-E48C0F59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78AF86C-ABC3-40AE-A428-765402A6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DFBCDEB-9AA3-4879-8A47-033F030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4D4DA51-095F-4434-8CC5-B1F8C62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项目消息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672B4A1-5A99-4C38-9545-9BF89D16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2 项需要处理 / 只显示你可访问的项目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4085E0-B4CE-4111-9010-FAD0207D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346043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260EF2D-3B61-456C-8846-1BB4CF0F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771" y="3788619"/>
            <a:ext cx="873347" cy="28013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9E68FC9-8CC9-4D16-B437-D1C8F2E6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24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6745B0"/>
                </a:solidFill>
                <a:latin typeface="PingFang SC"/>
                <a:ea typeface="PingFang SC"/>
                <a:cs typeface="PingFang SC"/>
              </a:rPr>
              <a:t>需要处理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9CFD720-18BC-4731-9A51-AE37E887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50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项目动态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7241AF5-7294-42F4-80CB-6363FF9D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769" y="3854532"/>
            <a:ext cx="84039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全部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7C84607-5AB6-48B6-9470-983F409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200575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39A5400-69CB-4F29-8067-18C2A66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307684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南京站有新的资金缺口待确认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5C70A04-6884-4A92-936B-5939BF0C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513662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Agent / 今天 14:26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1B84AA7-0ABE-4248-9A18-BD17FB7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4390075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待处理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0277AC4-B48F-4274-A0C7-C79B4130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76083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134DAB7-D246-4E52-9614-BB7D0C9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86794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场馆座位确认已提交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92A8542-7334-4A50-99D4-C72968E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7392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李珊 / 今天 13:12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6AB1E7B-B7E0-43EB-BD49-A93DF874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495033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待核验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6D6C59D-F4C2-469B-BBBF-1586590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321096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B6F2F50-69BD-4DA5-955C-12A72B8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428205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项目判断 V2 已生成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4B27DD1-26D9-4444-9F5A-660F4D32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634183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系统 / 今天 11:40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53186E5-4BDE-457A-8F74-D860DC6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5510596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未读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D472F16-1A3C-41C1-B870-6E488E7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881357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F636971-942B-44AD-9661-65E58166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988466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你已加入杭州站项目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2B40A50-6C92-452E-9262-9E29935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1944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陈越 / 昨天 18:30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B4281A1-F65B-4C3C-AC60-64E4B9E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161" y="6070857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已读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FBC4BF6-0B67-4BB8-A33E-66A5356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5404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F13E282-D8FA-4B0B-9405-D55DE042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622878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2E3824D-A073-4F1B-A0AE-1DCB9F2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6558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消息打开时重新检查权限，已撤回的资料无法继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8138EB1-F33D-4847-9D15-FB9B89AE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8173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续访问。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55F1EE3-4812-4D0F-85F1-B4E298B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726DC0E-2F5A-4A3A-8F33-3F994F2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920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C132AD9-CCDF-4ABA-A30D-7963A42E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8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12850BF-72BD-4F26-8047-8C519E80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1628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FB88798-09BD-4C34-A6E6-42716CD5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2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E02559-C12F-4AFC-80D0-ABF6296F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1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7DA43CA-3079-4820-9468-2A5C02C7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FDF1496-8184-41BD-BCB4-9EF33A1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661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E2051E3-A40A-4BF9-B430-E5D7EBE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5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B82F108-ACFA-4884-AB48-FC9EB506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82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31AFFDD-474A-44B4-93F7-03DBC77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8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844E136-A271-4D79-8907-BF81A8E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0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BD51D8D-C398-4E83-8E67-23AB306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94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476A518-42F7-4D78-8F92-4F03F7B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897760C-7F2C-4A2B-88F6-207D358A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5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9A3E2A3-5C30-4BCA-BFC6-ED20A8B4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5398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E3293BD-0B66-42CD-A279-AC841713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63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5005465-309B-4574-9A51-69D53A5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386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7949F3-9256-4F86-B849-5B32FC7B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2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1692E01-3302-44A1-84FD-1906A32C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211BF72-6FEA-4DD7-BCF7-58E3ED54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我的主入口</a:t>
            </a:r>
          </a:p>
        </p:txBody>
      </p:sp>
    </p:spTree>
    <p:extLst>
      <p:ext uri="{BB962C8B-B14F-4D97-AF65-F5344CB8AC3E}">
        <p14:creationId xmlns:p14="http://schemas.microsoft.com/office/powerpoint/2010/main" val="20682006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B3244A4-40FB-4211-99EF-E7F3FE27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872D3-2D39-4BFE-8461-227E470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97735-13C8-47B3-91E9-7FC69C4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设置、资料授权与邀请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A16AA-0843-464C-98E1-C360ECD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围绕客户的实际操作提供清晰的权限反馈和访问范围。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461F6-3EB1-40B9-9090-5F3B8C6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6F47-17CA-48E2-9B02-E5CEACF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223B6-65B0-446E-8AD4-8B5FE5D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9433E-16B1-4C88-9D34-636AD86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S70  应用设置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6B568-D07C-416F-95BA-82327B83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8E920-9A74-4950-94CA-2F8A3502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DFEFD-B1C1-4798-86CC-92B2380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E11EE-0C71-4503-8DAF-1110498A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D9832-42DA-410F-9BD8-F674C10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93960-3987-4D76-AEAF-AA9C9DE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B6FF3-C340-47DF-A9FC-64DCC66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A86C7-F158-4365-842A-BA4934D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CCAC8-8089-4BFF-923C-D138B03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57770-6D99-4F23-8911-602D154E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0C0BD-3F42-4F21-9D9B-4029206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123C5-E265-4CF8-9A33-3C6BD4DA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9B8F2-7C7C-4037-982A-72B8C49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应用设置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AD328-2461-4547-950B-47285FD8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A8DED-638C-4B2C-AB7C-C6A3EFB5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38232-62FE-4B28-9C45-92C0280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A2910-7567-4C21-9543-9D11D6F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06E68-2DFC-4347-AB92-3433618C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C5B9E-B3B0-475B-B19A-553A6F7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B60B56-4FFA-4079-8230-1354203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CA3B6-856F-40EC-AA88-D5B0AFD3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设置与帮助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1D6BBA-F32B-495D-AC6F-E8D7722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星河演出 / 张敏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46138-233E-415C-AEDD-FCE7E04C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F5AA2-8AB0-48D6-810C-F8A41C06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386277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通知偏好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F2A3E5-73BC-4FE3-B605-1069065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06874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每日摘要、项目异常、任务到期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E4E69-6A55-480B-9D4B-B068CB8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393692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799384-F021-4CDE-9163-CE69E03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4315923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854CC7-1CA1-4860-86D1-95962192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423032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个人信息与隐私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AFBBF-FFC9-4FD8-AC03-B1CE803D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629010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资料访问、授权与账户操作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6DE0D-AF75-47EE-AC10-2FBBF48D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4497184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805AFF-5268-4EB3-A523-E8E08617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487618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8C488B-9FED-4EE7-AC06-25F3CFB1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4983292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帮助与联系支持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DC5DE0-7D9C-44D7-A49B-D0672A8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189270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常见问题、反馈与服务状态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98B20D-83CD-4F53-9031-22FE8DC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057444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1A8500-F9BF-4939-8387-A43B264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43644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038965-9544-4FB9-A9B5-DB40345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54355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开发者联调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273B3-76DC-408F-86FD-53061A58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74953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仅开发版本可见 / 受权限限制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E12470-9FB3-4308-AF51-2C1B8BBF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61770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CFC01D-B8AF-445B-8A6F-4CB86B71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095574"/>
            <a:ext cx="2817781" cy="601456"/>
          </a:xfrm>
          <a:prstGeom xmlns:a="http://schemas.openxmlformats.org/drawingml/2006/main" prst="roundRect">
            <a:avLst>
              <a:gd name="adj" fmla="val 246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A4BCA0-9641-4B16-9A0F-D4B967DD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202683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自动保存输入草稿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E35C35-2579-45F7-9300-DE4392A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416900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按客户与项目隔离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397767-6750-4450-BD07-FFA14C0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286" y="6285074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9E56FF-BF58-4E0E-86B1-ED77BD6E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949" y="6309791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D34A80-17CC-464D-B06C-B1689283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425788-658D-4D61-8374-F5889A06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保存设置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4792A-0444-41AF-8629-DB026BB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D2309C-377D-4007-AC00-6ECBF30E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C8B3CE-C7C2-4B68-9582-ADC04CD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S71  数据授权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530338-4DE9-4D45-B97E-4DBDFC31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ABA74C-11A3-4DB3-9BF0-9D4E3F08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13C6C8-C455-44FF-9091-1E46FB0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5BF7F1-7929-4DE3-81B3-13AC251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5498CB-2887-490C-AFB7-87EA2B0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923933-DE67-4166-B235-564EAB5A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412A43-07DF-4DF0-AD99-17BAFEC7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4073CE-86BB-4E94-A981-E369ECDD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D9CAF6-FD34-4B02-A877-256A5E36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07025C-17B6-4D0D-A2C1-4B465584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9E641A-E8F1-41D6-9736-7BF136C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7AA7B2-D164-449A-9BD3-ECF6BA33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86132A-AFA9-49C6-8254-23187399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数据授权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F1986F-4047-4E01-AEAD-5F254972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7DC5FD-4C0F-4D90-A315-B640E7EB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DF8EB2-E677-472B-A32B-0B78CAD1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4C27E8-8ED7-45C0-A3E6-5E94491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CCB24A-8561-4F25-BD88-00537D30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9F4929-9D70-409A-ACD6-3F74884B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97030B-9471-47B8-82A3-32FBBE82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C77D40-D717-4F52-8E0A-B387D64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项目资料如何使用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F9DA1D-39AA-4C09-9B2F-F2BAD9A5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南京站 / 客户与项目权限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33866B-0236-40C1-A5C4-1B4548E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资料默认范围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FD11CB0-8712-4999-B2C1-684B028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1DD942-FEB2-42DB-A7AF-7980C67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仅南京站项目成员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74FD1D-265A-416A-932D-0406B7A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分析用途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26731E-D800-4EA7-9B58-20A3EC3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A140CF-335A-4137-AD87-C26F42A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可行性判断与项目跟进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46FEAE-304D-465C-BECC-D6319123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073923"/>
            <a:ext cx="2817781" cy="1804368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D5C91CD-F23E-4BF9-9E04-23A2611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181031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用于本项目的 AI 辅助解释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D22946-AE98-450C-842D-784F68C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395249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仅向模型发送必要且已授权内容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2EA56A-779F-46D9-A595-1BB1A5D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5263423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182930-0E38-4CCB-9985-13319E2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549" y="5288140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AA83B3-8094-43EC-B39E-2A3D3E0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675379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322F08-EA8F-46DF-99BE-17A226CF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82487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纳入客户内部案例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791E7D-E3D5-48CF-9597-BF54E490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996705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项目结束后需要负责人确认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49616B-729F-45F1-AD7E-8FDB909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5864879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BA099C-9CD4-451D-8166-01C840F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723" y="5889596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9135D4-E32F-46D5-BE28-976D05C3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627683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E3CB64-8B34-4E2B-B997-046A189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38394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对其他客户公开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D853B3-1435-4208-9508-6C1F648F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59816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需要独立的授权流程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DD89CA-EF1E-4623-89CB-975989D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646633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9FC68E2-4991-444A-86E0-3297634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723" y="6491052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9A8BC0-FBE5-4BAE-A49A-3EE3FC7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977161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549BA9C-BE89-4763-9597-5938DA0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7059552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2FD623F-19CA-435A-9BCF-C3A29B9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092508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撤回授权后停止后续使用，历史必要审计记录按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BA5697-8A6F-4D2D-90C7-AFBA759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725399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约定保留。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B2210F-B480-4805-9127-39C86D9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F82ECFB-6389-470A-8A8F-6F68D069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保存可见范围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AA0A51D-1CB6-4E8F-918A-F2C670D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436D96-DA0E-4840-99A7-F91DBB98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204027B-0306-47BB-B120-018FD8B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S72  邀请成员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5E5CC67-137A-47EC-86B2-B856418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BF1D761-1D37-45FC-B82E-6D1EB56A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5F1ED93-29BC-4C03-AADD-985BF66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D5AB3A-8B5C-4A81-A0B6-CD77360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61A0D7-4D0F-46E4-99F5-5FA7A33F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0205510-970E-46E3-B1DD-C92728D5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60895F-44D8-4CA0-BA42-E46F3012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55DD258-F1CC-457D-BE8E-5C357208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6E1D77A-D42C-4B94-A00E-AB29A305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C81EA9-2D62-4CAE-8D26-BDFA791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EC00D34-6C37-4370-B943-0CF89137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8505AF-7C1D-49BB-92E9-9A66DF9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CEA55C9-2FC3-41E2-BBA8-8327416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邀请成员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A30231-82DC-4C3A-9536-04484C8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E32778-9792-441A-B5D0-AF025CC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E433B78-78CE-4EE7-A20D-14DD6310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ED7D95C-736D-460E-8B4C-762F9D3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DAC2A3-5A59-47D6-BB06-471D006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A62CD99-8B0D-44BA-A86E-D4B86375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D77A257-83E1-44E8-868B-1AD7891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104FDE6-705D-4F6C-973A-BF172429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邀请同事参与南京站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387B3E-9943-4F2D-896D-B9BCEFC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邀请只能授予你有权分配的角色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5A21E81-79DD-4583-862C-755D9C2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邀请角色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5ECCA79-8EF5-4276-8E73-2D42390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99146B3-7622-4B84-9FFD-EF027FC2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项目成员 / 可提交资料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2F1548F-3925-4161-86A4-387DC66D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390075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可参与的项目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FE94E9D-F855-4BEF-B121-46B62C7A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587814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B2D1D9-62DD-45DA-8061-7524E723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4670206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星河计划·南京站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E640E7C-AC04-4BEF-8C73-92477DF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024488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邀请有效期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881EF1A-929D-4C17-8F9D-E6501E23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222227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16B67C4-98E4-4405-8C06-A2406710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923" y="5304618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48 小时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A8E4D9-C6AA-4C62-8ACD-725C409A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708335"/>
            <a:ext cx="2817781" cy="601456"/>
          </a:xfrm>
          <a:prstGeom xmlns:a="http://schemas.openxmlformats.org/drawingml/2006/main" prst="roundRect">
            <a:avLst>
              <a:gd name="adj" fmla="val 246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E8EDECB-5B33-47BD-A5FC-0F33148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1544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允许查看完整成本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4CA15C9-0B76-4F93-BA93-76A9E214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2966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默认关闭，按实际职责开启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02E334-6905-4E03-B4F3-E2DFC9F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1486" y="589783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DBE8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BFDF1E2-4852-45E7-8C44-1CC814A2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0323" y="5922553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5C6D183-7DA4-42AC-84DA-454925AA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408661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0EF67AB-DC7E-4249-9AC5-C5A89B4E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491052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8254058-23A7-46B7-B06B-EFB7FF65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52400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接收人登录并接受邀请后加入项目；邀请可随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9979517-703C-42B6-9359-9B2AF13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68549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时撤销。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1EE40BE-EEA7-41F1-A91C-43E27665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7993AAC-580E-410B-B2D3-90686CB2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生成邀请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4272611-957E-473C-9813-8DDEA6BE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00F532A-D660-418A-84F2-FB5A4930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8462252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DE36D88-FB97-47BD-8D2B-FD1BC618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55C82-9444-4871-AAB7-492D547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7D93F-388B-4B8E-8236-5E854318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首次进入、处理中与连接失败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F47E7-10EC-4460-8740-16D9B91D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等待和失败都保留操作上下文，并提供明确的下一步。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6A4B3-18F8-4741-851D-7603E70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E354F-53F8-4A30-84FA-5294BD6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通用状态设计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29876-C7AF-4C9A-B8E3-07D911B8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5CE5-F4C5-45DD-BF99-9282B8B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S73  项目空状态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2F743-5402-4559-9162-1C1AE8C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DBCCF-49B9-482A-90CD-6C497F7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2050-6069-41DB-96F2-D2DD3C9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702E0-7539-406E-8CE1-7C82C47A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0985-F793-4872-8E6A-7A9A8903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5793B-5DBE-423F-B24E-80683CDB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BF6A3-782C-40F3-81DA-B8BFFC6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03A1B-62FE-4C31-98D3-1E844EF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A8043-0A9B-4C3D-A143-DFAD236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D0D49-AA36-4DE0-9BF1-CED6CF6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3DDFB-7299-4C8F-BBB3-CF43399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锐音场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3FC07-26AD-4649-95C7-94B4191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6E68D-AAC1-46FC-A114-89E8439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A1853-7B44-4FCB-82D2-73E6B13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51477-691C-4B5C-9AC9-92AE842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3AAE8-F6A9-4497-9C00-55594AD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E29C5-FCAC-4201-A20F-AD9F1DDB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6D509-63DB-447D-BADD-319D02A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A2E32-5892-4564-87D7-1D4625BB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从你的第一个项目开始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507B1-ECCF-4EB0-AB5E-B66F29A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把一场想做的演出，变成可讨论的方案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9043C-9E0B-4B81-A1D0-775B996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66564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292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14C23-EC1A-4951-843E-F7244CC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3879250"/>
            <a:ext cx="2521172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FIRST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1DEC06-8470-485B-805C-B6B9C25D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093467"/>
            <a:ext cx="2521172" cy="28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22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先看清赚钱空间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D0C07-118E-4A3C-A264-7A88A29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43951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2C9DE"/>
                </a:solidFill>
                <a:latin typeface="PingFang SC"/>
                <a:ea typeface="PingFang SC"/>
                <a:cs typeface="PingFang SC"/>
              </a:rPr>
              <a:t>输入艺人、城市、档期与可用资金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CED7E-40F7-4083-9B0A-FDDEFE76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12918" y="4851466"/>
            <a:ext cx="2521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5745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A56797-5350-4CBF-A0EA-5288D54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950336"/>
            <a:ext cx="252117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C0ADF7"/>
                </a:solidFill>
                <a:latin typeface="PingFang SC"/>
                <a:ea typeface="PingFang SC"/>
                <a:cs typeface="PingFang SC"/>
              </a:rPr>
              <a:t>不确定的字段可以标记为待确认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61FC8D-5148-4184-9F35-08FA10DC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321096"/>
            <a:ext cx="2817781" cy="168078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7E828-4855-4F87-9494-96F57AD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87070" y="5642422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1D12D5-DCDC-49FE-8D03-16703CB9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461162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5A95AB-868B-4E80-82FB-824D1342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5469401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ED7F6D-49E8-4113-AB63-8F626C23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5419966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说清项目与资源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C9BC7-A79E-42B0-9F78-7F60A0F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5625944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保留最少必要信息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909CD3-F5B4-4B95-9564-5189E12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87070" y="6202683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6D9C61-0916-4B3B-A269-64F5EB5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021422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96C148-366A-4A70-9281-4907BEC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029661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01C178-74BC-45C1-A605-7A3FB043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5980226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比较盈亏和风险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16749-F2E9-4285-A66B-89E4F86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6186205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三种情景，查看每项假设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8417E1-3EE3-4BA3-8EBB-C3751982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581683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CE70F7-EB0C-4F63-99BF-10185CE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6589922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D4E173-294D-42A8-9A8F-4BED4DB0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6540487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决定下一步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EF15AE-AD15-4387-885C-1F2588D3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331" y="6746465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补资料、调整方案或人工确认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29BDAC-A44C-40FC-9664-B8F4D97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095869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480DE7-E414-43C1-AA70-C768C534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202978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创建第一个项目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46A4A4-D93D-402E-AF1F-A926E72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606695"/>
            <a:ext cx="3213259" cy="642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D28728-F399-4C80-AEF4-2C700413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8606695"/>
            <a:ext cx="32132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74E9F1-936C-4327-BA79-BF556003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679" y="8713803"/>
            <a:ext cx="115348" cy="115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A3B65E-7B93-4895-AB73-CCE9B7D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37636" y="8746760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A5F5A1-DE31-4339-84E2-9A941A26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71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4F4B3A-E130-4334-9389-B9A926CC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994" y="8722043"/>
            <a:ext cx="123587" cy="107109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14007">
            <a:solidFill>
              <a:srgbClr val="7954C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A03488-EC8D-437A-BA36-98EFD438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63238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5814CF-DFB9-472A-A6A9-97A14D03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40950" y="8787956"/>
            <a:ext cx="411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7954C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55817F-552A-4340-B8A4-F0B273B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8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14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9FD8D6-0F5C-4722-9CB7-21A0663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69" y="8705564"/>
            <a:ext cx="131826" cy="13182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6B009A-8D4B-49F5-BAFD-9C57F37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17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B682EE-F144-4832-8E6E-1198407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3" y="8753351"/>
            <a:ext cx="19774" cy="1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58D9F"/>
          </a:solidFill>
          <a:ln xmlns:a="http://schemas.openxmlformats.org/drawingml/2006/main" w="8239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7D5655-9C17-4FE5-8DDF-07C9527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4265" y="8796195"/>
            <a:ext cx="576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5">
            <a:solidFill>
              <a:srgbClr val="958D9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C64CB9-7D39-43EA-98B5-4186B1C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132E15-05AB-4DE5-8C6A-1A37430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341" y="8713803"/>
            <a:ext cx="65913" cy="659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4A9D68-59D8-4DD6-8D50-A742038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462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999A3E-AF06-4338-9082-3F1E51B7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1101" y="8796195"/>
            <a:ext cx="82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D58D7F-23B7-4094-B2D6-045F9D7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3493" y="8796195"/>
            <a:ext cx="16478" cy="41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7">
            <a:solidFill>
              <a:srgbClr val="958D9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F27277-1219-4A98-B3D3-0629F90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015" y="8895064"/>
            <a:ext cx="720923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我的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04C61A-749E-4089-9F27-9A5DE72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494B6A-AEF2-4C41-86B9-A8B1E75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项目主入口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E6ADBD-0505-4B71-A4E8-5657C0D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S74  生成处理中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E2B4BD-83D9-49FF-9EF6-A059E721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D0967C-63EA-4E33-96FB-91B60598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1A5697-4834-4A10-B6F2-1A9B7EE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5161B6-D90B-4F5D-96FE-DC8370EE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D05EDC-E6A3-4E8F-BB93-45E8E34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EEC01B-0AFE-45B8-8B7F-12DFE32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7662C4-83D3-4D89-84A9-B893B5EF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D1AF318-8D94-4667-BE62-B8F79D33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CC0FEE-53B0-4BA6-8FD2-F32CF55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CFF551-2D01-42DA-AE85-EB9B925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68F468-39AB-410F-9482-032C250B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ABC15C-EBA4-4C73-A8DB-6C771DB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73F176-83F3-4863-AA3E-DB42D57E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生成处理中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5693A1-5EFE-4356-91D3-BF02552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CEBDCD-CB86-4102-A78A-64220C3E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2EB015B-2FCA-4FC0-8B92-B12FA38B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644889-9034-472C-970A-225E245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F87B5A-7A38-44B2-8FB5-B1665B6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A605E3-C76D-4974-B4FC-69EBFB5E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930AE1-19C5-454E-8472-42C81E96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2ABC81-8003-42FD-8A7A-1054178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正在形成项目判断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3D9BC4-0680-41D6-B654-C4CD8D5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星河计划·南京站 / 已保存本次输入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55C0A4-A217-4260-8D44-FF1769B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2241042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227C06-F270-46FB-9A21-1335B51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07698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90FED1-16BD-44BB-B181-8051624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9572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128262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62A506-A68E-4361-9DE4-DBD6F67D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90396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847CE5-9EC0-4A90-816E-4083051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3854532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检查项目输入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A0A701C-B917-4060-AD06-A5E7D12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060510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12FEA3-E66A-4AFA-AC78-76B3069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4637249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4A3EE8-8931-49E3-8DFB-830B56F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55988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128262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07BD529-FDE0-42E7-B626-5E27C3E8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464227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9BDE2F-D071-4432-B2A2-0FE6A945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41479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查询已授权资料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7207A8-8446-4118-A75E-ABFE6052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62077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已取得上下文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CB0F1D-ED26-4C0D-AD2D-D6ADBA25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49670" y="5197510"/>
            <a:ext cx="0" cy="370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478">
            <a:solidFill>
              <a:srgbClr val="E1DB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4A66C9-12D5-48B1-99E2-3B9E1C84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16249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D047CE2-2081-4CE5-9008-4F4BDBD9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024488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6CDC97-219D-4953-90BB-4E718A6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4975053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计算财务情景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240D65E-2F28-43D1-A940-BE5B8FD4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5181031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确定性计算中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0C0E6F-4D15-4B67-B995-B3F827F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576509"/>
            <a:ext cx="181261" cy="181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B"/>
          </a:solidFill>
          <a:ln xmlns:a="http://schemas.openxmlformats.org/drawingml/2006/main" w="8239">
            <a:solidFill>
              <a:srgbClr val="7954C6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01C07F8-9E2E-4941-92B9-70FC003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5584748"/>
            <a:ext cx="14830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A0E6C1-CFEC-40E3-B77D-9A20493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5535314"/>
            <a:ext cx="2257520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整理风险与建议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4EC75D-7A01-4964-8D6B-86F5DE06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0931" y="5741292"/>
            <a:ext cx="22575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等待计算完成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768C02-C5B7-462F-9CF4-8972346C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095574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1A68EE-8110-42EE-8625-48D9B29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177965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7822C8A-73B5-435F-9557-DE043760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2109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完成后会出现在判断历史中，可随时返回查看。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D58FC1A-1766-499F-A3AF-D35A70DF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69F02C1-11D1-4AAF-999D-2E717B1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返回项目，稍后查看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A8A8B6-B441-48C6-9F8C-65C3AE0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4227E3-93D7-42E5-A4C1-0E397844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A883AEC-1720-4814-84C2-E16DB55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S75  网络失败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8B86FF4-1AFC-4249-8137-FBB66C6C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AA2747D-12F2-4D72-9D53-5F13656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E45381C-999F-4358-8540-2676C691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F9FA92F-06E4-4FE4-B1F6-CD86A30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F3ED6D-ADAA-4829-923C-AB71FA85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E2FF97-A862-4072-A146-918ADFD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010598A-4102-4155-9133-3FBFA98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9D483D3-594F-4916-89B8-195F38F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2C13DDE-B2EF-4108-85D2-FEF4569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77F0F1-0EA7-48DD-A451-0E715409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3993352-9528-402C-AB70-8EB07662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EE162C4-F886-45E5-BB08-85A9388F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E7EA179-C124-47D5-9556-1D7C7ADD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网络失败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C8D3C66-972B-4978-9E69-61996B42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968F4DB-A948-47CE-8066-37BFA5BA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A972535-FE1B-4BCD-9AD0-E05100B7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4C5659D-36E4-4D97-BA73-F853B7B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79A854B-6194-47B2-A53F-46E6D782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A57C5F3-6BF8-4422-9266-4D01A86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1A2F32C-854A-4989-940C-9104E413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4AB733C-6153-48A4-ADB3-4AC109E1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暂时无法连接服务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36CA00-E547-49E8-8448-EBC478C2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本次操作尚未确认完成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89A25F-AB38-480B-82A3-CA61044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8A849D0-3BAE-4AC8-8286-E0752C18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你的输入草稿已保留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1B0BCA9-297B-47B8-B74A-E6BE079B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连接恢复后先检查提交结果，避免重复创建项目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E97AF37-E4E1-4BAC-92B5-9105796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或确认记录。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4698E7F-5A5C-461E-8FB5-077C0E8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554858"/>
            <a:ext cx="618017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4DD2A8F-795B-4060-84E5-C71E191C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4579575"/>
            <a:ext cx="48619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草稿保留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C9545CB-0AB2-483D-AEBC-5ED90202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966814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396E8B3-B323-4EB8-9B1D-FBB89092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7392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检查网络连接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CDD755D-B297-4D81-9B55-354BB77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27990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切换网络后可以重试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37E4341-75C9-4365-9246-40403907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14807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F0E3BC2-9169-4C7F-B6D2-4B9055A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5270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D80328A-494C-4991-8011-A221A260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63418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查看服务状态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FF874C8-0EF4-47CD-8BE7-23C3E5EC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4016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如持续不可用，可联系服务支持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DD45246-5EE4-4544-8A34-B0131C4F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70833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01F261F-55A9-47CB-A225-E293D2D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186205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ECE9DCB-641D-4975-9BBA-36B8E42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268596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86900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E62340F-6DEC-479E-A938-B153E65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30155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失败信息不会被解释为“没有风险”或“结果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C9253F-9260-45FA-969C-D7D9813F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46303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为零”。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F164E99-C70C-41E8-AF02-99E9870F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525C0B5-EC87-46FB-8D84-17530E2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重新连接并检查结果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6C35C87-6884-4006-BE44-CE30CDA2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E0B72D9-BA74-48F5-8A0D-B3EDBEF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返回项目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447621D-EF16-4824-8847-183E282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95BDEC5-FB12-4BC1-A5C2-1BABD384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2624400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3BB7010-66E4-44E4-AF19-E69BD204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7E171-0D2A-46ED-A833-9F81B747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6B35B-AAAB-46B6-98B7-01B6FBC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依据缺失、无权限与旧版本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6AD58-4913-4BAC-8FB1-2C4357C7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正式判断始终绑定可访问的数据和指定输入版本。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354AB-D999-4EB4-9A24-0B9C12E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3995D-98FF-469B-A8C9-ECCD9BE3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通用状态设计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E7E7E-14DA-4773-BA9C-22533C6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C2A0B-CD1A-426A-A8CE-8C663CC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S76  数据上下文不可用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6B720-C275-432B-9C27-49D0B78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4FAEF-AE96-412C-A11C-3244F00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869FD-B7D5-43BA-8FEF-2A8E1301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B688D-1CB3-4678-A8DB-B9B9ACE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6AE4E-6C90-4ED4-A78D-F9931E4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0E567-394D-4C32-8953-9986260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0E5A1-9478-443F-9659-B5CDA77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8A9CD-06C3-4FE5-8690-7DB3BA7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4707F-6652-4523-9C6F-3AF2421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F6DCE-8E75-4505-A0A0-E26683A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701CD-4B6D-413D-AA88-8599989B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EB695-FEEF-4E3A-B90E-8349EF0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154D1-65A3-4AD6-B79E-745318DB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数据上下文不可用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5586C-F128-4AD8-B568-13F20CCF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CB927-B641-4CA9-A47F-F3E328E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C4919-598B-4E98-B35B-3D1DD7DA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EBA4D-FADE-4252-AA2E-1E777233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E3DB3-EC79-442C-A4D4-1AA35DD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CB92B-5396-4D3A-8F5E-E64F320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4A87B-EE5D-4D53-8DEA-72A5B8B4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B5A2B-7A79-46E1-AC77-C0D8DD2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判断依据暂不可用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790A4-E585-416D-92F7-EC214966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数据查询失败 / 本次未生成正式判断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9C8213-E144-45EB-AB27-83FCE37E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3F0110-B2A5-4D57-B762-9F17998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暂时无法完成带依据的建议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01233-04C9-4E50-8623-ADCEC78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数据资产服务没有返回有效上下文。已有输入和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F4CC45-B409-48E4-88F8-D864188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历史判断仍可查看。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41766-1DB7-4D34-8EFC-A9FB748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554858"/>
            <a:ext cx="92080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8C66B-D2F0-464F-B135-C61CAF0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4579575"/>
            <a:ext cx="78897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本次判断未完成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93AEE-E5A1-4395-AC40-27CD402F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966814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428E8C-7497-43D5-B14A-8F894A14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07392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可以继续做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6B1990-F3EF-458E-AB10-C9B4D1F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27990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检查项目资料、修改假设、查看历史快照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F8CB34-1316-488E-86F7-C139B55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14807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06AA1A-3249-4409-B366-54B409E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55270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999197-EF99-410F-99B4-B4454C52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63418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本次不会生成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ACCD8-89F9-42D4-B2FC-1ECAB78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84016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无来源事实、无条件推进或虚构案例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793FEA-A53E-42CF-9564-131825C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70833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850744-3B1D-495D-A359-578A8EA8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186205"/>
            <a:ext cx="2817781" cy="39218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F319CA-28F3-4659-AF4B-E81E8EF5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268596"/>
            <a:ext cx="24717" cy="227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EE6D93-E323-4E54-B377-B2646C1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30155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系统不会用模型记忆填补查询失败的事实。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E84B48-901A-45AC-BFA9-C39EEEE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5277B9-4BC7-4CAF-97A9-A907293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重新查询依据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901517-9534-4C4D-B214-2B8AAE61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106F98-2BA2-42BB-99FF-D90ED02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先保存输入，稍后继续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7D802E-985B-443A-A606-5E4BBC5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343038-95E9-4123-92BB-53432FE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CA4D53-4288-4390-9920-282C339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S77  权限不足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EE9F96-4B9A-46D5-8755-2A47B9C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2D29DB-FCEB-4394-B9BB-3399F158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665F6C-7FC8-420C-BC66-8D8596B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4C7E76-89FB-404F-9D99-0100CD62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C31086-1C18-4157-92A8-A9CAA9E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D04ACA-90EC-46A1-A3C2-869BD32F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289D3B-FE9E-4F21-837F-32DFA79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51C2D9-5524-49D8-8690-EE8416BE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778B21-AB8A-4A15-896B-4A2FA0F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73E447-578E-43CA-8FC0-787670DF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766ABE-DE3A-4765-A269-26788BE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781906-F9B8-4B57-BA8F-A945AA9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BD0B6E-D01F-4831-9174-58A9E9B5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权限不足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902695-80C7-41CA-9F13-C378E97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9DB489-B1A7-4C60-9CEC-C635CDCE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907554-9879-4028-B490-1FFAF9B9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6ECAEF-560F-4B22-A78B-D710BC1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6B72FD-4855-4167-805C-ED4E3E1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D074A9-8659-4B0F-B2D1-AC7A2044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4E032D-585C-4083-B4A9-32281C39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211DE0-ACD6-4BC1-BB47-95FF8C6E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你暂时无权查看此内容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EE1CDB-9B81-4F42-840C-12994F5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资料所属客户或项目与你的权限不匹配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84E329-AAB4-4304-A37C-5AF79A51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F9F289-F8D3-4DFD-8708-B831EDFA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请确认当前客户空间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A04BB7-208D-49B0-957A-E5081E8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如果你已获邀请，可切换到对应客户空间后重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A13AAE-FD16-4749-92F6-5583B4F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新访问。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21A722-776F-4D07-8EBE-0B87E72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554858"/>
            <a:ext cx="92080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264E8E-0512-40E4-A9CA-BE6A0F9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4579575"/>
            <a:ext cx="78897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当前：星河演出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9310C16-B25C-48B4-B17B-EF897492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966814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169748-E57A-42CD-A0AF-939F3836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7392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申请项目访问权限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F240AA-247D-41E0-AC4B-6F6692C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27990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由项目管理员审核并分配角色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D80FB0-A441-4281-A324-F677B2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14807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3A8CDD-0082-4814-A089-B87CE73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5270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99B5F5-9583-468F-866A-ED410A1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63418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不展示资料摘要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C42768-BB59-4E50-8312-478C7C36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84016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未授权内容不会透露名称、成本或附件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581B12-78BD-41E7-A19E-1EFE9AF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70833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333059-1EFD-42F9-8FC6-2384263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186205"/>
            <a:ext cx="2817781" cy="39218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664520D-5B51-4DA4-884B-577FBF6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268596"/>
            <a:ext cx="24717" cy="227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3E0F1A7-E803-4F4B-9BBF-ABD83A4B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30155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不同客户空间的项目与资料各自独立。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E1D2225-20F7-4764-B5C8-2AE0883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2FAB01-C79A-4993-87A0-32EB0EEA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返回当前客户空间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CAAA49-8CD4-429F-9631-BCB2C63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3A60AB-4D8A-4C5F-8D9D-C367F01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联系项目管理员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2AD3A7-D6B8-420C-99C6-5514030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FFFC30-4EF0-43AC-8082-2F8F2D5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7433BE-5725-4EE5-B2D9-2FEBD95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S78  版本已变化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87F578-D2A3-4A2C-9D90-00C358F3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65B8B5-6A4F-4D37-B871-65683D2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335734-9EB8-4F03-9C7C-6B2E61DB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29C43FB-DD24-46A5-9283-74B1D33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7559C1-6BD2-4618-B33F-3A35091F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357EEB6-6FCD-409F-BA45-9622864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1B807D-F1A5-4487-8684-5E1FFCF2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D6F17D-E831-4A1D-BD4D-0D97179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CA146A-BEA6-4BF3-9E44-F733E54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F7803D3-3DBB-4F6E-8D99-F7E151B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DB46F13-25A3-4CA1-BA9B-41499781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4DBDF66-D404-4C10-8417-F43B904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91BB0D2-7D2F-49D7-B297-90DAF687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版本已变化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8E40DD-D259-4B2F-A154-56CF92C0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490A22D-6F77-4D74-8FD0-6D972F50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A0B9B1-08E7-4784-8E98-869E391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7D38B6-BAA2-401E-BD00-E6BB9A9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5864B8F-038A-46C5-9A95-88E2DD1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17E29CC-CC99-4348-90B4-6D28F2F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5E38B6-8CCD-4ABD-8C03-D9F799E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D2B28EF-22DC-4E9F-9D16-4917E34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项目资料已更新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057DBF-D4FD-408C-ACB8-B77062C2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你正在查看 V1，当前最新为 V2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AB711AF-1661-45BF-ACF4-87925208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E0A9466-993E-4123-89CB-E2BAA6C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本次确认需要重新检查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F09535-422F-4D4C-8B92-1AB4674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场馆报价已变更，原输入对应的利润与保本线发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5F5B35E-0140-415E-A9EA-DE6B5D4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生变化。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1CC815-A69E-46BF-A7B0-501CC0E3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554858"/>
            <a:ext cx="718946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4657F5-2023-4178-BFE5-5895516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031" y="4579575"/>
            <a:ext cx="587120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旧版本只读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15871EB-EEF9-4A52-B62B-6F3B1442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966814"/>
            <a:ext cx="2817781" cy="716804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D99B3F1-F760-440D-9093-3B075B41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5082162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V1 中性利润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71BD097-5608-4A2A-AEAB-11DB3B4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5271662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7954C6"/>
                </a:solidFill>
                <a:latin typeface="DIN Alternate"/>
                <a:ea typeface="DIN Alternate"/>
                <a:cs typeface="DIN Alternate"/>
              </a:rPr>
              <a:t>118.19 万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696492A-9C1D-4DFC-AE58-8061A065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98704" y="5115118"/>
            <a:ext cx="0" cy="420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1E2F2AB-1DC6-46C9-9611-730FE97E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5082162"/>
            <a:ext cx="1211151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V2 中性利润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C605F18-1625-4C72-9D5A-1C471CC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574" y="5271662"/>
            <a:ext cx="1211151" cy="26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defRPr>
            </a:pPr>
            <a:r>
              <a:rPr sz="1492" b="1">
                <a:solidFill>
                  <a:srgbClr val="D84F40"/>
                </a:solidFill>
                <a:latin typeface="DIN Alternate"/>
                <a:ea typeface="DIN Alternate"/>
                <a:cs typeface="DIN Alternate"/>
              </a:rPr>
              <a:t>94.19 万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6B487A9-D50E-4042-8D0A-B4D6C20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782487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D0B11E9-95E8-4F6D-9845-0865BB6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864879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7CBBBF-5FF2-43A2-AA93-4A6D6573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897835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请查看新旧差异后重新确认，原确认记录仍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B391FA2-C591-4807-8483-8C0ACEA7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5932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可查看。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BE3898E-7EBC-45F0-B421-8A3E9EF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0A44A09-34A2-4C07-9DC0-46656984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查看差异并重新确认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AE2B69A-FAA5-4737-8B23-386B937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81A75D3-6C71-4A4B-BC19-EEDB2674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保留 V1 作为历史查看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6A4BDAD-5ABF-4B6F-9252-F7E006C0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2717562-819C-4D82-A70C-C541EAC6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7625495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670DAC6-CFE1-4C38-9916-2D395A1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F9BCE-E69B-49DD-84A0-B98A66CA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BD420-AACF-4221-A327-1B4E89A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表单校验与退出确认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017F-BA0B-4C28-A288-123D60A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高影响动作呈现对象和后果，普通输入错误定位到字段。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38404-664D-4102-8D0C-4289F749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28397-9142-42F8-9A88-BBDD0BB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通用状态设计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87AE1-F157-4D5E-A7E7-DE6626D8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2056B-27B3-4F5A-BB61-E1C85C30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S79  表单校验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465CD-73DB-4E90-A9AC-B2927C5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65FA3-8C86-49C4-BA43-23E118A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4E1E9-E010-4F2F-A269-5EDF3E04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6C24E-9DA0-4DF1-8800-AF6FF840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E19F-ECAC-4C05-89F4-D395C69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5CEB3-68C2-4DA2-9B99-9EDC7D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9D984-AE4D-4DB7-A3C3-52615774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99840-CF31-434B-93C2-CA4BD5C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94E35-81F0-4B5D-8FE2-FFEC804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1CDA5-2289-475B-BA14-9CA0D0D8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0DA1C-62B3-43F0-BF6A-7C217C8C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A4002-B2EB-4A4C-A9DD-E17B091A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4DA3C-A407-4BF4-B37D-F10A3D81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表单校验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03F2A-0B42-41F6-8145-523435E8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8C389-0264-40AC-9367-284D5B3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04969-9269-4543-A645-55F39C7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23C34-B470-44E2-A930-53C6A123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D8FF5-A248-4A54-B2A8-E253B97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D6EFE-2D88-4A44-8BA5-C32C734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4791D-C4FD-47CB-AD10-CE2A7D3E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2F901-DEC8-46FF-A10A-7AFAE88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还有 2 项需要补充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79E8F7-FA70-4A86-83DE-18EFB29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中性情景 / 已保存其他字段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E96FB-CA9B-4698-88FD-8DBB8021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预计上座率 /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2CD5A5-D322-42BC-8C61-C423E583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D84F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148DF-E116-4806-B4FD-2B249C63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D151CC-6CF4-403F-AA41-3AB31C2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92" y="4315923"/>
            <a:ext cx="2784824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请输入 0 至 100 之间的数值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88294B-2A4B-4D73-A588-942C946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521901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固定成本 / 万元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8D67F-2E2F-4CAC-AC8D-9ACCA74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719640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D84F4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A6DBB-54D8-47CB-8500-E48891F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802032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待填写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C3A5FA-5AA0-43AA-9320-B89F3320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92" y="5082162"/>
            <a:ext cx="2784824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未填写时无法计算，不按 0 处理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0758E-34BB-4FC7-A112-B297E1E7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288140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非票房收入 / 万元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D3C1CC-AEA7-4EB2-A4FB-E3BF079D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485879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766495-FE85-4381-A9D4-2E8BFE1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5568270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60.00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600134-5A55-4211-B272-A89F2DD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092" y="5848400"/>
            <a:ext cx="2784824" cy="12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714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填写 0 表示已确认没有此类收入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D9DC2E-3EC0-4E84-A498-1BDB249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103813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F688BC-3646-496E-BB06-96B149B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186205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4F4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F1E5C5-12FC-40B5-9412-9A86394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219161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补齐后可重新计算。页面会滚动定位到第一个错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A463AD-55EC-41ED-A43E-4245C7BA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380648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D84F40"/>
                </a:solidFill>
                <a:latin typeface="PingFang SC"/>
                <a:ea typeface="PingFang SC"/>
                <a:cs typeface="PingFang SC"/>
              </a:rPr>
              <a:t>误字段。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886F4A-C99F-4435-978F-012262DD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ECFA34-39D2-42F2-89DC-EE73469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保存草稿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82F106-9EE4-4DC7-9119-47F1114C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288611-707F-4D51-A328-CDBD3C2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356057-D016-4F52-B544-D3A0C373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S80  归档确认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88AEA8-09C8-47AA-8C01-1F92B70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17471F-D250-48AC-B7EC-6A58CAEB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DDA86F-A00B-4238-9115-C29240F1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E9EAEC-5FE7-4502-8A95-C7EE04E6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CAB470-B3EF-4DAF-8790-221752D9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A369BB-DC7A-45BE-81A3-805C7E4C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8961D-EED3-4741-BEAC-88E35D3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C462CE-C7ED-41F4-8D90-E53041B9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5B8CF9-D1AA-4E52-8007-6B8C2967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091F3F-859A-4B1C-9D54-9DF78BB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D740E7-59DB-48C6-BA35-C5EA2EA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43C05E-7680-4700-8DCC-BF2336BF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C6ACBF-CC3C-4E79-ADA4-DFC9950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归档确认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8D12D6-8EE4-45A4-A567-5DC2CB3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5CFF55-157E-455C-9E9A-93533E83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5E4438-5B24-4A05-9E8B-D3242977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E0F6B0E-5A1A-45C7-931E-57914DC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0D29D8-BEB0-4441-AA61-AD9897F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19488E-5BE6-4CEF-81EC-3BEF64C6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EA603E-CAE0-45B5-815D-F1A0E29D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E7A384-7AC9-462B-8FD7-8E95CA78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将南京站移入归档？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C5237A-1C4F-4126-BD24-39BDBF9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项目：星河计划·南京站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85847E-DDF1-4385-9702-A62F82F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865108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195E7F-AD5F-49C0-BE30-A7BC6FF5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归档后保留完整记录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0514A1-C54F-4D62-A1C6-E5145DE0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项目从进行中列表移除，评估版本、人工决定和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8ECA35-8C27-42F9-9A6A-710A55D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证据仍可查阅。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3D33AD-70A2-4471-945D-5FFA1662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4719640"/>
            <a:ext cx="2817781" cy="1249051"/>
          </a:xfrm>
          <a:prstGeom xmlns:a="http://schemas.openxmlformats.org/drawingml/2006/main" prst="roundRect">
            <a:avLst>
              <a:gd name="adj" fmla="val 11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EEA0F9-3CE7-465C-A5DD-A463EAD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826749"/>
            <a:ext cx="1796129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待办任务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C3D8D1-9AC1-4CE3-8B1F-940FEC3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32727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先处理未关闭任务，或明确记录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0611AA-96AC-4D0F-AFC3-574B7A4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171144"/>
            <a:ext cx="179612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暂停原因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97B06B-8698-4920-AC9A-75B7F5ED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561" y="4909140"/>
            <a:ext cx="659130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986900"/>
                </a:solidFill>
                <a:latin typeface="PingFang SC"/>
                <a:ea typeface="PingFang SC"/>
                <a:cs typeface="PingFang SC"/>
              </a:rPr>
              <a:t>2 项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365B12-2B32-4958-9D0F-9ED58538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5408431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E9C473-49FD-44F2-BA51-89BA636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515540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Agent 跟进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3CDC2A-9B63-48C3-8391-C38E613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721518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归档后暂停常规跟进，历史记录保留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6C07B65-92A6-4E0C-B06F-BEC80CF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5589692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2BADA97-67C6-4748-8FA5-4CCAD99F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067561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未完成任务处置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189C49-45BB-4631-908A-E638C3C9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265300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3840C2-DE36-4D35-A3F3-3F95E51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6347691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暂停跟进，保留负责人及原因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B285E4-1D76-4973-AFA9-4F8C823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751409"/>
            <a:ext cx="2817781" cy="392182"/>
          </a:xfrm>
          <a:prstGeom xmlns:a="http://schemas.openxmlformats.org/drawingml/2006/main" prst="roundRect">
            <a:avLst>
              <a:gd name="adj" fmla="val 27311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3BEB52-57B3-42B6-AF42-35DC0F0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833800"/>
            <a:ext cx="24717" cy="227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6EE32D-43EF-4113-84D9-2B09DD12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6866756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有权限的负责人可恢复归档项目。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C7141D6-9A23-47E4-86ED-A418F0E7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36656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B767BA-F5E2-466E-95E5-93142002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确认归档项目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5DCA5F-2B34-4058-B30E-3445478C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CF00C0-F235-4B6C-9D35-58D7B601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取消，继续保留在进行中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A2E9F4-A4C3-4E96-A588-604A6E0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44BD09-2EC5-48F9-9416-4DD0E82A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493D2B-1D44-4DFF-99E9-1528723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S81  登录已过期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5BEBAC-395A-46B6-B5CF-EC50DDB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2A06FF-6C34-46F1-90AB-B9C4DC5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05195D-FEB9-479D-9183-6535EB14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04E2DE-D915-49A6-8155-DC30492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F555AC9-13B8-459C-845D-4602E880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0539B40-1170-4733-856F-6163D9E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B683C4-1406-4F7F-98C8-AC163A34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1CC6927-982D-4847-B00A-D2E4565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39A8271-9957-41D0-A9D3-D89EF2B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FC28B99-16A9-4E1E-817D-EBAC0AD0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ED6EC1B-1B42-470C-8688-9890B9A1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EB8B825-8F7C-4B8E-B7B5-5974FF50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D1EB4DE-7F52-4552-B057-A1BD7147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登录已过期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2553932-18BE-4B7C-8026-706C238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AAB910-D093-470C-96D0-5D4B81A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C0BC39F-CBF8-4524-A841-DC684A2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C57DFBA-B8D6-46C6-8E2F-0C82CEE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DC0E-7798-4735-A42A-6E85B84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38FA5E5-D84E-4A2A-972B-50BCE4F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5C8B48-DD06-4C39-A45F-E8512939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D39227D-12AC-445F-B6C9-528DC87C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请重新登录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393D889-D960-4CF4-9407-A7E7DAF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登录状态已过期，私有内容已隐藏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F212C7F-4203-4844-BD31-104E536B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865108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8A67EBA-005E-483D-B7CE-2CD374D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3887489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上次操作尚未提交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B05295-791D-421B-B33A-FD12E14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149493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重新登录后先恢复所属客户空间，再继续当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1C9DD43-5203-4CED-B3B6-C9B3E7CB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18" y="431098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前项目。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669AD00-6334-4D9A-A67D-ED42B3D2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4719640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6D933BB-793A-4804-83ED-C72C0ED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826749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资料与确认记录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5A0639-33E0-4086-9DCF-D1C9A6B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032727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已成功保存的内容仍在服务器保留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F54CDAF-A8A1-44EE-97FA-7A28F45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4900901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C3389BC-5D40-4D6B-A98D-4A4E779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279901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4E1F875-341E-4996-9674-7B56D11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387009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本地输入草稿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5B8A45C-06FA-4044-8CFC-FCE348E1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592988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恢复时检查客户、项目和数据版本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2305B2-70F7-4D44-ADDC-16BA689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461162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000E91C-31D7-4FD3-AA44-24AD160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5939031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010DF9-2F9A-4224-A4D3-AE56C8B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021422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2BFC44C-6FFE-40D6-9D3D-5E96ED5C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05437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重新登录不会自动重复付款、确认或其他操作。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46A676F-4707-468A-874D-0F1550C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268891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657DAC3-A7A0-483D-B807-08B9AE7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375999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重新登录并继续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EEF0D08-531A-4D33-A90B-1A6C73B8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680847"/>
            <a:ext cx="2817781" cy="36252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818ED83-D3A0-49CE-ACB4-6511FB83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771477"/>
            <a:ext cx="2620042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返回发现页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D2CBDA-1006-4EBE-92D0-1515726B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C2525E0-A0F2-48CA-A1AE-3DE0D9D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14854520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8936D6B-C324-4643-BF01-26111615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3AE6D-D26D-4E99-A1A2-1C34A2E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EBCE-6FE5-459A-AE7B-088142F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联调、通知与个人隐私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0BF99-D281-442B-94A1-C9E1D84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开发者连接配置与正式用户的业务操作分开呈现。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A5182-EC94-45BE-8B62-B08F85E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F477E-6E21-4DFE-BB90-84DC083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现有联调设置 + 扩展规划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70FCB-06E0-465E-B38E-A8500A6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4A23-428C-4431-AAD2-0677051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S82  开发者联调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7BF0D-4808-40C2-9B5C-F4680074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5038-3B08-49BC-932A-AC57165A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E39B5-B6E7-4C9C-A3AF-DB1813B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3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5802D-E91A-46C3-B7A4-B38B41AB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F8507-AE62-4FC7-B07E-789DA114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5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5B8E9-66DA-4BE2-A107-52DE93F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5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23ED5-87AE-4269-B14F-E6613568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E2F2B-5744-4A8B-B479-E2F448B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39570-7DE7-4880-91C4-9764CE9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4B7D2-87AD-45F6-9C67-CF91855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BEA6C-5065-4626-BB08-50E3093B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563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39736-F993-4555-9CAF-19F45634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563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D925D-0BDB-42DA-A856-D69F6D8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8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开发者联调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CFAA0-412E-4EAE-8537-43B7AB9A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7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AC6F6-EC7D-4E41-91F5-B744009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9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85222-07C0-4CCD-9FB4-A24745A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8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13B64-F2D9-4EE0-8990-99527F3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A2AC9-A5AD-402C-AFD8-3D5BFF30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69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B40A3-4A37-4792-B38F-0DBF9E1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1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CB8981-E204-4738-A478-E60FDF2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B8075-D670-464D-AAC0-C6CE86C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连接决策服务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8DA74-8C67-4101-9D5D-C0D65387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开发版本专用 / 当前使用测试环境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D20AB-C427-4E43-854C-312A07B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75566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决策服务地址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4D7C4-83C1-4B0F-ABF3-E804FC8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395340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26D19-9846-44B4-B693-F136533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23" y="403579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http://36.137.145.45:8020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29B80-0646-4C37-8A06-EB28553D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4439510"/>
            <a:ext cx="2817781" cy="111228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EDBA5A-39E6-4F72-BD82-09378459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571336"/>
            <a:ext cx="2521172" cy="196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10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连接正常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29E33-65DE-4935-A0D2-6196433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833340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决策后端可用，上下文来自已配置的数据资产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876ADB-D249-4785-8405-5E1B149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4994827"/>
            <a:ext cx="252117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API。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D73C0-B78E-4D10-8316-DECB18B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18" y="5238705"/>
            <a:ext cx="819875" cy="214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59B284-0EB6-46A1-9195-500B9B6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831" y="5263423"/>
            <a:ext cx="688049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defRPr>
            </a:pPr>
            <a:r>
              <a:rPr sz="778" b="1">
                <a:solidFill>
                  <a:srgbClr val="128262"/>
                </a:solidFill>
                <a:latin typeface="PingFang SC"/>
                <a:ea typeface="PingFang SC"/>
                <a:cs typeface="PingFang SC"/>
              </a:rPr>
              <a:t>连接状态示例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CF1FA-6DEF-4F4A-B968-91B8C76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5650661"/>
            <a:ext cx="2817781" cy="1120521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10D41F-ADD1-4905-8E16-B004F03B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757770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生产环境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C6D1ED-CA1A-4DCE-A3FB-6A057826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5963748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使用已配置的 HTTPS 合法域名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AF7494-942B-4FC5-ABFD-C56BB75C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5831922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AAB92E-796A-40B0-A046-CBF7A61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96440" y="6210922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BBA689-6B11-4524-BE48-5A6B6F00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31803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密钥与身份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1E3AAE-B1F7-4BED-B712-EF05DF81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52400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由服务端管理，小程序不提供输入项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0A4497-0511-43D0-9EDB-B822B35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60" y="639218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FE1A3E-658B-4D15-A5FB-F9A6F998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870052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3A55F2-3DEA-492E-BEA9-BDCA845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6952443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F9860E-7304-493B-A173-097FD2F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6985400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8000 端口为数据资产管理台；此处连接决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1582C9-1DFA-4AF0-A243-502537E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7146887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策后端。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A73A55-EAC3-4A5E-B3B8-A32CE3F6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9CFB1A-4809-4F9D-BF80-20F241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83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测试连接并保存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621B27-0078-4BDB-BBC3-7D3175B3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8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2BBCB4-0419-4039-B5D9-C4BC107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0478A9-CBD4-4F11-8E70-2D6609EB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S83  通知偏好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B77DD7-7C58-4463-A5D5-D7E8B62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433FA9-A674-483A-9425-43B51CD5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5898EE-19E5-48AF-8D1F-B8546752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9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DEC195-AD06-41D1-A743-C2D6426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7F585F-D44D-4AAC-A7AF-6061DA62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1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D5FEAD-65CE-4E33-8B81-B9FF4B3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1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5E4BDC-4907-4DC4-A9AA-DCA7ADC9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20B013-39B8-43F7-8A72-888B0CA2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02DAEE-8A4B-43D1-B580-1EE8F72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7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C260A2-1D24-42E8-87B3-6286E964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2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FC27D0-D0BE-478A-84C4-58B9C0DF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189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A1D5A-0937-4868-82CC-7E29C9D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89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923651-1DDC-47A4-A232-4AC67288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4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通知偏好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C1308C-C570-45C0-91BF-C0B1021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3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DC7FA7-75A2-44D5-9D45-0CFA23D9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5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EB9884-1BB7-4F79-AC23-3A6E20F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4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823371-3704-4435-9DD8-3D731E2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C7AADD-1A19-4AE3-8A5F-541FA60C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95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98148F-E464-4C99-88D0-1D86AC2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7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B98018-1455-4A50-9643-2185081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6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AB54EA-4D11-41FE-99A9-080E4890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让提醒只在需要时出现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3AE35A-877C-4D1E-BAD4-0B469DF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只接收与你有关的项目提醒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895FA0-190D-4CE6-A7BC-51E468C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3755663"/>
            <a:ext cx="2817781" cy="1804368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25B3F9-4B6A-4FF4-ADD2-6205183E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862771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关键风险或参数变化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5C0890-2C07-4E63-95C5-65C59018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076989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利润、资金、门禁等实质变化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1117CD-A357-465C-8B2A-1C2B979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3945163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89A367-F589-4FCD-B039-DBAE6919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549" y="3969880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B03087-5EDB-4213-A399-F8AF2940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357119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1E0165-A843-4360-8B81-FBFB654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464227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任务到期与阻塞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C1FD87-2CE2-4422-8F6F-8D1388B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678445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仅与你相关的任务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7535B26-EEEB-473B-ADBE-C601075D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4546619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1B01A17-39BB-4BEF-8686-417613A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549" y="4571336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CD917CC-9F6D-4F51-86FA-E908C37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9040" y="495857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124893F-B351-4BD1-93F2-B1DA7A0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065684"/>
            <a:ext cx="1936194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每日项目摘要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28DE0F-C334-4CA4-BD28-815A012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5279901"/>
            <a:ext cx="1936194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有变化时合并发送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9BE3370-77F6-4E3C-A312-5D0C043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6" y="5148075"/>
            <a:ext cx="354282" cy="2059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6CDD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8522149-D727-40DA-A2FD-88C72A7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549" y="5172792"/>
            <a:ext cx="156543" cy="156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0EC43F9-80AE-40B1-B82D-C631FFA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658901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摘要时间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D697DD-43A8-416E-9A10-C00DAE1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5856640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29D8C8-3598-4929-BCDD-7E2E8844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5939031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工作日 09:00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C1AAEC-2DA5-4C87-9910-8CCEDBD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293313"/>
            <a:ext cx="2817781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免打扰时间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5DC3B2-A944-4EA4-989B-67E6F11A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6491052"/>
            <a:ext cx="2817781" cy="337804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38A7E38-A992-4E35-9855-7E5B7D7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323" y="6573443"/>
            <a:ext cx="2595324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22:00 至次日 08:00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82DD529-9777-4F62-8470-E7036304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2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D70C3C-B7EE-430E-855A-3544DB3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保存通知偏好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DF069F-5AA3-4C5C-A372-ADC5C570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41C417-6C5B-45D6-ACDA-B2819059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51559F8-9863-4FA7-BC79-A3144E0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1847850"/>
            <a:ext cx="401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S84  个人隐私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2CAAE9E-26C5-4531-AC3F-9E3B2174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209800"/>
            <a:ext cx="3384709" cy="7125271"/>
          </a:xfrm>
          <a:prstGeom xmlns:a="http://schemas.openxmlformats.org/drawingml/2006/main" prst="roundRect">
            <a:avLst>
              <a:gd name="adj" fmla="val 8161"/>
            </a:avLst>
          </a:prstGeom>
          <a:solidFill xmlns:a="http://schemas.openxmlformats.org/drawingml/2006/main">
            <a:srgbClr val="292331"/>
          </a:solidFill>
          <a:ln xmlns:a="http://schemas.openxmlformats.org/drawingml/2006/main" w="9525">
            <a:solidFill>
              <a:srgbClr val="50435D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8AD4E6C-C0ED-46E1-9F29-3E2ED4D3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295525"/>
            <a:ext cx="3213259" cy="6953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79CB03-FB3F-425F-8A9D-0A67376F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1575" y="2394395"/>
            <a:ext cx="576739" cy="14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84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9:41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EAC61F-031B-4367-B402-BF3C72AA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3" y="2485025"/>
            <a:ext cx="19774" cy="32957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71E3AD-8BFF-40F0-8775-BE0889F2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6769" y="2460308"/>
            <a:ext cx="19774" cy="57674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D0780B-4C5A-406E-9D14-A093BA7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9726" y="2435590"/>
            <a:ext cx="19774" cy="82391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2D5ACC-296A-4388-8495-AE1124B3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682" y="2410873"/>
            <a:ext cx="19774" cy="107109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81A6E40-B597-49B7-8366-D57A00B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2427351"/>
            <a:ext cx="205978" cy="98869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0E7F810-3BB4-45F0-A31E-10496D39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3378" y="2452068"/>
            <a:ext cx="148304" cy="4943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70321F5-A3E1-4F6F-9D77-CE29A74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877" y="2460308"/>
            <a:ext cx="16478" cy="32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B4CB5F6-AA38-4BE0-8FD7-24D314E1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981575" y="2781633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51A7DE-292D-4030-B6D8-E1D86C4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1575" y="2831068"/>
            <a:ext cx="49435" cy="49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30">
            <a:solidFill>
              <a:srgbClr val="20192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C986D11-BB2C-4753-BF53-AC43DD1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75" y="2740438"/>
            <a:ext cx="1771412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08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个人隐私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13C725-ED3B-471E-AE29-C49CE51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900" y="2699242"/>
            <a:ext cx="626174" cy="24717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1D2DB5-0B6B-4F03-85F4-09C784A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8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8AF2C0-9916-487A-94DF-24A26836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091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0168E56-4E2D-4A85-B07E-97D541F5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004" y="2807999"/>
            <a:ext cx="29661" cy="29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DD34AB1-BB97-4007-84CA-026C9565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552182" y="2756916"/>
            <a:ext cx="0" cy="131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2F92B4-5BCA-499D-A2AF-2581C02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334" y="2773394"/>
            <a:ext cx="98869" cy="98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887">
            <a:solidFill>
              <a:srgbClr val="20192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44F102-92D0-4A4D-88AA-A4F866FE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291" y="2806351"/>
            <a:ext cx="32957" cy="3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192C"/>
          </a:solidFill>
          <a:ln xmlns:a="http://schemas.openxmlformats.org/drawingml/2006/main" w="8239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6EABE88-252F-4515-A801-7BC3ABA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111198"/>
            <a:ext cx="2817781" cy="28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1817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个人信息与授权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203881C-B4D2-4638-AB0B-B324A3D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454935"/>
            <a:ext cx="2817781" cy="160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843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张敏 / 已加入星河演出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82EEBE4-FAC6-4EB8-964C-AFB5403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3755663"/>
            <a:ext cx="2817781" cy="2801303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239">
            <a:solidFill>
              <a:srgbClr val="E1DBE8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8FC9CB4-A9D9-4E92-9C0B-B8C2205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3862771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个人资料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35CDA94-D2FD-4845-943E-A4898DEA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068749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姓名、联系方式与所属团队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081A9E5-5C8B-4F0A-B40B-0EFC3C5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3936923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E5FD450-1D88-429F-A0C2-B40B94C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315923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7EA37CA-0CE7-4E90-875D-83CCD2D0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423032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微信授权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F8D824-DCF1-4CF6-8B13-8CB8071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629010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查看登录和订阅消息授权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833C578-C3E4-4D09-A8BA-930FB099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4497184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7EA3E22-2F51-4EF7-9712-E3C4FAC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487618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960BAD9-979D-49E7-8F9F-DEF17AB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4983292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导出个人信息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10BE794-3515-4B39-A649-B5BC386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189270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按可访问范围发起申请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975E2AA-BF37-4114-8AFB-0EAA74C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057444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F3FDA96-D084-4608-AEAB-5EA7D5E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436444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A8DF8D6-E9D6-4609-9407-CF1C02F1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54355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退出当前客户空间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A12188E-CDFD-469D-A072-9ACE73B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574953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退出后失去空间访问权限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919C29B-4893-457E-91F7-3E42D49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561770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88B26D8-CFB8-4646-8B1F-1E1C395A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1640" y="5996705"/>
            <a:ext cx="25541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39">
            <a:solidFill>
              <a:srgbClr val="E1DB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C8A5DAC-3AE3-4AF7-A8C5-7ED3E75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103813"/>
            <a:ext cx="2339912" cy="173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defRPr>
            </a:pPr>
            <a:r>
              <a:rPr sz="973" b="1">
                <a:solidFill>
                  <a:srgbClr val="20192C"/>
                </a:solidFill>
                <a:latin typeface="PingFang SC"/>
                <a:ea typeface="PingFang SC"/>
                <a:cs typeface="PingFang SC"/>
              </a:rPr>
              <a:t>账户注销申请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BFD175C-E41D-4083-88F0-2B693BED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309791"/>
            <a:ext cx="2339912" cy="13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defRPr>
            </a:pPr>
            <a:r>
              <a:rPr sz="778" b="0">
                <a:solidFill>
                  <a:srgbClr val="70687B"/>
                </a:solidFill>
                <a:latin typeface="PingFang SC"/>
                <a:ea typeface="PingFang SC"/>
                <a:cs typeface="PingFang SC"/>
              </a:rPr>
              <a:t>查看影响范围、处理方式与进度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667EFB4-0117-49C5-BE90-7271A25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660" y="6177965"/>
            <a:ext cx="115348" cy="253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defRPr>
            </a:pPr>
            <a:r>
              <a:rPr sz="1427" b="0">
                <a:solidFill>
                  <a:srgbClr val="958D9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77385BC-CCD7-4303-9D21-A3F2DDE2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655835"/>
            <a:ext cx="2817781" cy="553669"/>
          </a:xfrm>
          <a:prstGeom xmlns:a="http://schemas.openxmlformats.org/drawingml/2006/main" prst="roundRect">
            <a:avLst>
              <a:gd name="adj" fmla="val 19345"/>
            </a:avLst>
          </a:prstGeom>
          <a:solidFill xmlns:a="http://schemas.openxmlformats.org/drawingml/2006/main">
            <a:srgbClr val="EEE8FB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8096F84-E736-4223-832E-4501D95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6738226"/>
            <a:ext cx="24717" cy="38888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954C6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F5E7506-162B-4CCA-A59F-FF8F2E52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771182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企业项目记录和法定保留记录按相应规则处理，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3498F30-B6DC-4278-B655-61E944A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6932669"/>
            <a:ext cx="2537651" cy="161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908" b="0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个人信息申请有明确处理反馈。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5546677-7EBF-448D-999D-27DCA03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14" y="8532543"/>
            <a:ext cx="2817781" cy="39547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35BD0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A598030-ECDC-47A8-9A6D-8949B92E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684" y="8639651"/>
            <a:ext cx="2620042" cy="184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查看我的授权记录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C05D875-CBB8-4C58-8F37-75344180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74" y="9142238"/>
            <a:ext cx="939260" cy="3295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B0C5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30A2594-EF08-42E0-BF71-835375F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467850"/>
            <a:ext cx="3409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B8194"/>
                </a:solidFill>
                <a:latin typeface="PingFang SC"/>
                <a:ea typeface="PingFang SC"/>
                <a:cs typeface="PingFang SC"/>
              </a:rPr>
              <a:t>产品示意 / 二级页面或状态</a:t>
            </a:r>
          </a:p>
        </p:txBody>
      </p:sp>
    </p:spTree>
    <p:extLst>
      <p:ext uri="{BB962C8B-B14F-4D97-AF65-F5344CB8AC3E}">
        <p14:creationId xmlns:p14="http://schemas.microsoft.com/office/powerpoint/2010/main" val="5383185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1FFDA9-FDEF-419F-BAE3-CC1160E6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D7786-C462-44D7-A290-0A04C215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6667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锐音场 / RUIYINCHANG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53A7E-D813-491A-9F93-47FA5DAC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3811250" cy="57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完整界面背后的系统架构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B663-E17E-408C-9CDE-099973F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160020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77180"/>
                </a:solidFill>
                <a:latin typeface="PingFang SC"/>
                <a:ea typeface="PingFang SC"/>
                <a:cs typeface="PingFang SC"/>
              </a:rPr>
              <a:t>微信小程序访问决策后端；授权数据、财务计算与人工任务各有明确边界。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A62FF-5565-4E18-BCBB-F75ED4A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1657350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2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B67D0-43F5-401E-BDA2-9516859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52425"/>
            <a:ext cx="3619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84798E"/>
                </a:solidFill>
                <a:latin typeface="PingFang SC"/>
                <a:ea typeface="PingFang SC"/>
                <a:cs typeface="PingFang SC"/>
              </a:rPr>
              <a:t>目标架构 / 分阶段实现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3188-7A19-4D58-AFB0-272E290E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839325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defRPr>
            </a:pPr>
            <a:r>
              <a:rPr sz="1275" b="0">
                <a:solidFill>
                  <a:srgbClr val="84798E"/>
                </a:solidFill>
                <a:latin typeface="DIN Alternate"/>
                <a:ea typeface="DIN Alternate"/>
                <a:cs typeface="DIN Alternate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7BE5-C181-48C1-9F2E-18EEF65D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838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用户界面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0BD60-522F-4588-82BB-320EF81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C5ED8-648A-4DA3-8715-919BEB06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发现与项目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38A90-EA68-460A-8196-95533591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52725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案例、组合、测算、证据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68BC1-4A65-4D8B-B9FF-42894B3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190750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7ED0C-2085-413F-B8D6-6EA1A529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362200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Agent 与人工任务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0A03D-1657-452B-B3DD-D0C51D9C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52725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计划、证据回传、确认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F4DE8-15D6-4199-872F-A0036B54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450" y="2190750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290D6-6E1B-4C28-8EC6-FFD09E16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900" y="2362200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客户与团队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40DCB-56DB-4A9A-96EC-BE16970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900" y="2752725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登录、权限、订阅通知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5A381-6603-422E-904E-90664C25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14611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A1D3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3BBC9-3533-42C2-92E6-852D5120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43325"/>
            <a:ext cx="1409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CBF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CBF0"/>
                </a:solidFill>
                <a:latin typeface="PingFang SC"/>
                <a:ea typeface="PingFang SC"/>
                <a:cs typeface="PingFang SC"/>
              </a:rPr>
              <a:t>认证网关 / 可信租户上下文 / 项目权限 / 请求审计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39F55-C704-43E3-97E8-3E46F7BC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838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决策服务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FB233-C0E1-436F-A4F4-369D3A4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3524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F4BF1-73D1-4449-B921-CC477D4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19650"/>
            <a:ext cx="3181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项目与快照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B1CE3-914B-41DE-AC95-EE89BCF3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10175"/>
            <a:ext cx="3181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版本、人工决定、归档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ED4E5-9528-4672-82F6-3E1DD4E0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3524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0E33F-2E5A-4F71-A561-5F5667C3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9650"/>
            <a:ext cx="3181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财务与规则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507F3-6A5F-45E2-87C1-0EBE9F1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0175"/>
            <a:ext cx="3181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确定性计算、风险门禁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C1B9C-78C2-49B8-893E-1AAF7B6E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48200"/>
            <a:ext cx="3524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2803F-41D5-4162-9B32-2FCDCD14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819650"/>
            <a:ext cx="3181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Agent 与工作流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73A35-0159-4EE0-A1C7-732C938F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0175"/>
            <a:ext cx="3181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计划校验、等待、恢复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2FE3D-3416-4D2A-B695-CC9B7ACF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4648200"/>
            <a:ext cx="3524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F7ED4-37BD-4F11-AF23-36F053EE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819650"/>
            <a:ext cx="3181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报告与通知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4F058-172E-43E1-B5A5-674E59D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210175"/>
            <a:ext cx="3181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受限共享、变化提醒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FC56AF-5F27-4C1E-AA87-185D7BA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838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7954C6"/>
                </a:solidFill>
                <a:latin typeface="PingFang SC"/>
                <a:ea typeface="PingFang SC"/>
                <a:cs typeface="PingFang SC"/>
              </a:rPr>
              <a:t>数据与工具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DA41E8-7026-4E97-A841-59AB6E9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257925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F007E-5D0E-4098-A369-FBD5A7F2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429375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数据资产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554E46-FECB-4544-B23B-B4913F0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819900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公共、内部、租户与项目资料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644EB-F3F1-4874-9AAA-EDFCCA60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6257925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7369C-37F8-4E4C-A510-2929277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6429375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业务与审计存储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ED6BB5-0F7A-495E-8B14-C0D8C922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6819900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输入、证据、任务、结果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5CF191-B98D-4382-97BC-05106B57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450" y="6257925"/>
            <a:ext cx="47561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2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66F164-8C96-47BA-80BE-693E34BA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900" y="6429375"/>
            <a:ext cx="4413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D0B14"/>
                </a:solidFill>
                <a:latin typeface="PingFang SC"/>
                <a:ea typeface="PingFang SC"/>
                <a:cs typeface="PingFang SC"/>
              </a:rPr>
              <a:t>大模型推理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DA5EC-B256-478B-BF28-156478D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900" y="6819900"/>
            <a:ext cx="4413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76B83"/>
                </a:solidFill>
                <a:latin typeface="PingFang SC"/>
                <a:ea typeface="PingFang SC"/>
                <a:cs typeface="PingFang SC"/>
              </a:rPr>
              <a:t>解释、提出假设、计划草案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CB553A-145F-4BF6-8802-19FF10F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31813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83F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29A082-60A6-4D61-AE9C-B649249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42195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83F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E507E-55DA-44B4-A2F4-1F9F6F9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56388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83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2AF954-C0A3-4400-9DC3-D51678F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848600"/>
            <a:ext cx="14611350" cy="1257300"/>
          </a:xfrm>
          <a:prstGeom xmlns:a="http://schemas.openxmlformats.org/drawingml/2006/main" prst="roundRect">
            <a:avLst>
              <a:gd name="adj" fmla="val 12879"/>
            </a:avLst>
          </a:prstGeom>
          <a:solidFill xmlns:a="http://schemas.openxmlformats.org/drawingml/2006/main">
            <a:srgbClr val="EBE5F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B0351B-696D-4894-9EAB-F08381A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039100"/>
            <a:ext cx="3810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45A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45A0"/>
                </a:solidFill>
                <a:latin typeface="PingFang SC"/>
                <a:ea typeface="PingFang SC"/>
                <a:cs typeface="PingFang SC"/>
              </a:rPr>
              <a:t>数据闭环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7D8FEE-FE56-49F6-8315-FC372C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477250"/>
            <a:ext cx="139446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564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483"/>
                </a:solidFill>
                <a:latin typeface="PingFang SC"/>
                <a:ea typeface="PingFang SC"/>
                <a:cs typeface="PingFang SC"/>
              </a:rPr>
              <a:t>授权接入与核验 → 带来源的事实 → 预测与人工决定 → 真实结算 → 离线回测与审核发布</a:t>
            </a:r>
          </a:p>
        </p:txBody>
      </p:sp>
    </p:spTree>
    <p:extLst>
      <p:ext uri="{BB962C8B-B14F-4D97-AF65-F5344CB8AC3E}">
        <p14:creationId xmlns:p14="http://schemas.microsoft.com/office/powerpoint/2010/main" val="170169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2026-09-20T00:02:52.4970000Z</dcterms:created>
  <dcterms:modified xsi:type="dcterms:W3CDTF">2026-09-20T00:02:52.4970000Z</dcterms:modified>
</coreProperties>
</file>